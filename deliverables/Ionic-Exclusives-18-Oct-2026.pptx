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29150c36644114" /><Relationship Type="http://schemas.openxmlformats.org/officeDocument/2006/relationships/extended-properties" Target="/docProps/app.xml" Id="R15ab2c35dc9a4d5c" /><Relationship Type="http://schemas.openxmlformats.org/officeDocument/2006/relationships/officeDocument" Target="/ppt/presentation.xml" Id="Rd0c969fcd2854b8d" /></Relationships>
</file>

<file path=ppt/presentation.xml><?xml version="1.0" encoding="utf-8"?>
<p:presentation xmlns:p="http://schemas.openxmlformats.org/presentationml/2006/main">
  <p:sldMasterIdLst>
    <p:sldMasterId xmlns:r="http://schemas.openxmlformats.org/officeDocument/2006/relationships" id="2147483648" r:id="Rc7fbd394042245fe"/>
  </p:sldMasterIdLst>
  <p:notesMasterIdLst>
    <p:notesMasterId xmlns:r="http://schemas.openxmlformats.org/officeDocument/2006/relationships" r:id="R6193da34fef64ac4"/>
  </p:notesMasterIdLst>
  <p:sldIdLst>
    <p:sldId xmlns:r="http://schemas.openxmlformats.org/officeDocument/2006/relationships" id="256" r:id="R25a4cc7e055e4b8c"/>
    <p:sldId xmlns:r="http://schemas.openxmlformats.org/officeDocument/2006/relationships" id="257" r:id="Rcc7d4ac1123b4335"/>
    <p:sldId xmlns:r="http://schemas.openxmlformats.org/officeDocument/2006/relationships" id="258" r:id="Rc75f9624b8144d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56dd08a8e54c03" /><Relationship Type="http://schemas.openxmlformats.org/officeDocument/2006/relationships/slideMaster" Target="/ppt/slideMasters/slideMaster1.xml" Id="Rc7fbd394042245fe" /><Relationship Type="http://schemas.openxmlformats.org/officeDocument/2006/relationships/notesMaster" Target="/ppt/notesMasters/notesMaster1.xml" Id="R6193da34fef64ac4" /><Relationship Type="http://schemas.openxmlformats.org/officeDocument/2006/relationships/presProps" Target="/ppt/presProps.xml" Id="Rf7deedd340f94632" /><Relationship Type="http://schemas.openxmlformats.org/officeDocument/2006/relationships/tableStyles" Target="/ppt/tableStyles.xml" Id="R78caf2b2e0d44f19" /><Relationship Type="http://schemas.openxmlformats.org/officeDocument/2006/relationships/slide" Target="/ppt/slides/slide1.xml" Id="R25a4cc7e055e4b8c" /><Relationship Type="http://schemas.openxmlformats.org/officeDocument/2006/relationships/slide" Target="/ppt/slides/slide2.xml" Id="Rcc7d4ac1123b4335" /><Relationship Type="http://schemas.openxmlformats.org/officeDocument/2006/relationships/slide" Target="/ppt/slides/slide3.xml" Id="Rc75f9624b8144d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f5911b5dbd4b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b335fcee5b4595" /><Relationship Type="http://schemas.openxmlformats.org/officeDocument/2006/relationships/notesMaster" Target="/ppt/notesMasters/notesMaster1.xml" Id="R99a10215721e4d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be735ee39846e5" /><Relationship Type="http://schemas.openxmlformats.org/officeDocument/2006/relationships/notesMaster" Target="/ppt/notesMasters/notesMaster1.xml" Id="R582951619b2946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1ccec477394638" /><Relationship Type="http://schemas.openxmlformats.org/officeDocument/2006/relationships/notesMaster" Target="/ppt/notesMasters/notesMaster1.xml" Id="Ra50d4b92896542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observation is supplied by the product lead and screenshots, not an audited conversion funnel. There is no measured Ionic NPS, scroll abandonment, or conversion baseline in the supplied material. Do not claim that wealthy users refuse to read. The mechanism is a hypothesis about discovery and decision effort.</a:t>
            </a:r>
          </a:p>
          <a:p xmlns:a="http://schemas.openxmlformats.org/drawingml/2006/main">
            <a:r>
              <a:t>NN/g: https://www.nngroup.com/articles/scrolling-and-attention/</a:t>
            </a:r>
          </a:p>
          <a:p xmlns:a="http://schemas.openxmlformats.org/drawingml/2006/main">
            <a:r>
              <a:t>120 participants, over 130,000 eye fixations on 1920x1080 desktop screens; 74% viewing time in the first two screenfuls. This is not the percentage of mobile users who scroll and not a wealth-specific sample.</a:t>
            </a:r>
          </a:p>
          <a:p xmlns:a="http://schemas.openxmlformats.org/drawingml/2006/main">
            <a:r>
              <a:t>CFA Institute: https://www.cfainstitute.org/about/press-room/2018/cfa-institute-calls-for-universal-disclosure-fee-performance-across-investment-industry</a:t>
            </a:r>
          </a:p>
          <a:p xmlns:a="http://schemas.openxmlformats.org/drawingml/2006/main">
            <a:r>
              <a:t>2018 global survey: 84% importance versus 48% satisfaction with full fee disclosure, 3,127 retail investors across 12 markets. Evidence of the importance of transparency, not causal proof of this UI proposal.</a:t>
            </a:r>
          </a:p>
          <a:p xmlns:a="http://schemas.openxmlformats.org/drawingml/2006/main">
            <a:r>
              <a:t>Prediction: among eligible imported-portfolio users with no prior transaction, seven-day first unassisted funded investment rate improves when the proposed discovery and details replace the current shelves. No uplift is claimed before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are from the interactive local prototype built from supplied Ionic captures. Figures are dated fixtures, not live quotes. Keep the brand hero and product access. Make known figures readable; do not fabricate performance charts or fee data. The price shown is a full share quote, while fractional order minimum is a separate amount. US setup and FX costs are separate. The motion shown here is an optional treatment, not a proven conversion lever. Both rows run at 9 pixels per second in opposite directions. Search/filter results remain stationary, pointer interaction pauses motion, hover/focus pauses the affected row, and prefers-reduced-motion is respected. Mouse dragging and touch scrolling are supported. Final order submission and partner KYC are not connected.</a:t>
            </a:r>
          </a:p>
          <a:p xmlns:a="http://schemas.openxmlformats.org/drawingml/2006/main">
            <a:r>
              <a:t>Choice-set rationale: Iyengar and Kamenica (2010), Choice Proliferation, Simplicity Seeking, and Asset Allocation, Journal of Public Economics 94, 530–539. https://business.columbia.edu/sites/default/files-efs/pubfiles/4519/simplicitySeeking.pdf</a:t>
            </a:r>
          </a:p>
          <a:p xmlns:a="http://schemas.openxmlformats.org/drawingml/2006/main">
            <a:r>
              <a:t>Their laboratory studies and 401(k) records support a mechanism of simplicity seeking in larger choice sets; they do not establish an Ionic conversion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plan, not observed results. Establish a baseline with production analytics before setting an uplift target or sample size. Unit of randomization: user; intent-to-treat denominator is all eligible imported-portfolio users without a previous funded transaction, assigned on first Exclusives exposure. Exclude internal/test accounts and apply regulatory/provider eligibility consistently. Define assistance using recorded RM calls/chats during the conversion window; report an assisted outcome separately. The primary outcome is first successfully funded/completed investment within seven days of assignment, not just order initiation. Report absolute and relative differences with uncertainty. Stratify by account readiness and product family because US funding introduces a different dependency than domestic funds.</a:t>
            </a:r>
          </a:p>
          <a:p xmlns:a="http://schemas.openxmlformats.org/drawingml/2006/main">
            <a:r>
              <a:t>Instrument exposure, product impressions by viewport depth, detail opens, comparison, account setup, funding and completed order. Check fee/risk comprehension with a brief usability task; monitor support, cancellations and complaints. Run baseline collection and choose sample size from an agreed minimum detectable effect; do not invent a conversion rate or target. Motion is a separate follow-up test so it does not confound the layout hypothesis.</a:t>
            </a:r>
          </a:p>
          <a:p xmlns:a="http://schemas.openxmlformats.org/drawingml/2006/main">
            <a:r>
              <a:t>Paper: https://business.columbia.edu/sites/default/files-efs/pubfiles/4519/simplicitySeeking.pdf</a:t>
            </a:r>
          </a:p>
          <a:p xmlns:a="http://schemas.openxmlformats.org/drawingml/2006/main">
            <a:r>
              <a:t>Iyengar &amp; Kamenica (2010), Journal of Public Economics 94, 530–539. Records of &gt;500,000 employees at 638 institutions plus laboratory experiments; larger choice sets increased preference for simpler options. This is not HNI mobile conversion research.</a:t>
            </a:r>
          </a:p>
          <a:p xmlns:a="http://schemas.openxmlformats.org/drawingml/2006/main">
            <a:r>
              <a:t>Additional references used on slide 1:</a:t>
            </a:r>
          </a:p>
          <a:p xmlns:a="http://schemas.openxmlformats.org/drawingml/2006/main">
            <a:r>
              <a:t>https://www.nngroup.com/articles/scrolling-and-attention/</a:t>
            </a:r>
          </a:p>
          <a:p xmlns:a="http://schemas.openxmlformats.org/drawingml/2006/main">
            <a:r>
              <a:t>https://www.cfainstitute.org/about/press-room/2018/cfa-institute-calls-for-universal-disclosure-fee-performance-across-investment-industry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7f2ade3d254f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d5187f530f49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821e11aaba4f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84952aad0a48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72595aac3b47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bedab2151745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C356AD-203A-4C45-8E3C-9D91C0B0A2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68D7A1-D3F5-46F8-8F89-ED08C2B7E2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EAEC62-5FDC-4ED9-8539-17E88785CD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E3D601-1B56-408B-90D3-550337C171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E028FF-248C-40AE-B0DA-6E9E69F0CC7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4F534D-2FE3-48D5-9014-CB1808BFE7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7BBA88-09AB-4A94-8D2C-2E7F6C045C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821D6C-D20A-4ECA-8AE4-824B8721EB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03D98F-0627-4E64-8B62-D880C6E3A7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D919A2-C7B9-4015-9880-407379EBC1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04d689dca74bf6" /><Relationship Type="http://schemas.openxmlformats.org/officeDocument/2006/relationships/slideLayout" Target="/ppt/slideLayouts/slideLayout1.xml" Id="Rdf88182cb2a14296" /><Relationship Type="http://schemas.openxmlformats.org/officeDocument/2006/relationships/slideLayout" Target="/ppt/slideLayouts/slideLayout2.xml" Id="R6e318500780e4fc3" /><Relationship Type="http://schemas.openxmlformats.org/officeDocument/2006/relationships/slideLayout" Target="/ppt/slideLayouts/slideLayout3.xml" Id="R99b75a0310e04322" /><Relationship Type="http://schemas.openxmlformats.org/officeDocument/2006/relationships/slideLayout" Target="/ppt/slideLayouts/slideLayout4.xml" Id="R7324fc5ce6cf4964" /><Relationship Type="http://schemas.openxmlformats.org/officeDocument/2006/relationships/slideLayout" Target="/ppt/slideLayouts/slideLayout5.xml" Id="Rd40cbff0049046d4" /><Relationship Type="http://schemas.openxmlformats.org/officeDocument/2006/relationships/slideLayout" Target="/ppt/slideLayouts/slideLayout6.xml" Id="R192d192d9f8b45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88182cb2a14296"/>
    <p:sldLayoutId xmlns:r="http://schemas.openxmlformats.org/officeDocument/2006/relationships" id="2147483650" r:id="R6e318500780e4fc3"/>
    <p:sldLayoutId xmlns:r="http://schemas.openxmlformats.org/officeDocument/2006/relationships" id="2147483651" r:id="R99b75a0310e04322"/>
    <p:sldLayoutId xmlns:r="http://schemas.openxmlformats.org/officeDocument/2006/relationships" id="2147483652" r:id="R7324fc5ce6cf4964"/>
    <p:sldLayoutId xmlns:r="http://schemas.openxmlformats.org/officeDocument/2006/relationships" id="2147483653" r:id="Rd40cbff0049046d4"/>
    <p:sldLayoutId xmlns:r="http://schemas.openxmlformats.org/officeDocument/2006/relationships" id="2147483654" r:id="R192d192d9f8b45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579cb43c244d4d" /><Relationship Type="http://schemas.openxmlformats.org/officeDocument/2006/relationships/hyperlink" Target="https://www.nngroup.com/articles/scrolling-and-attention/" TargetMode="External" Id="Rc491c6c1d86f4c59" /><Relationship Type="http://schemas.openxmlformats.org/officeDocument/2006/relationships/hyperlink" Target="https://www.cfainstitute.org/about/press-room/2018/cfa-institute-calls-for-universal-disclosure-fee-performance-across-investment-industry" TargetMode="External" Id="Ra2d65dc164174dbb" /><Relationship Type="http://schemas.openxmlformats.org/officeDocument/2006/relationships/notesSlide" Target="/ppt/notesSlides/notesSlide1.xml" Id="Rffa0e4b73ca242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5460d639af4990" /><Relationship Type="http://schemas.openxmlformats.org/officeDocument/2006/relationships/image" Target="/ppt/media/image.png" Id="R7a332b5da2114857" /><Relationship Type="http://schemas.openxmlformats.org/officeDocument/2006/relationships/image" Target="/ppt/media/image2.png" Id="R232c1a5fc86b4408" /><Relationship Type="http://schemas.openxmlformats.org/officeDocument/2006/relationships/notesSlide" Target="/ppt/notesSlides/notesSlide2.xml" Id="R3ca0756bd65b4e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3d96224fc64377" /><Relationship Type="http://schemas.openxmlformats.org/officeDocument/2006/relationships/hyperlink" Target="https://business.columbia.edu/sites/default/files-efs/pubfiles/4519/simplicitySeeking.pdf" TargetMode="External" Id="R2f2bfb6e70d5485b" /><Relationship Type="http://schemas.openxmlformats.org/officeDocument/2006/relationships/notesSlide" Target="/ppt/notesSlides/notesSlide3.xml" Id="R24d0b160f90e4ebd" /></Relationships>
</file>

<file path=ppt/slides/slide1.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82D397D-345B-486B-8E28-3900237566DC}"/>
              </a:ext>
            </a:extLst>
          </p:cNvPr>
          <p:cNvSpPr>
            <a:spLocks xmlns:a="http://schemas.openxmlformats.org/drawingml/2006/main" noGrp="1"/>
          </p:cNvSpPr>
          <p:nvPr/>
        </p:nvSpPr>
        <p:spPr>
          <a:xfrm xmlns:a="http://schemas.openxmlformats.org/drawingml/2006/main">
            <a:off x="590550" y="2857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28369F"/>
                </a:solidFill>
                <a:latin typeface="Arial"/>
                <a:ea typeface="Arial"/>
                <a:cs typeface="Arial"/>
              </a:defRPr>
            </a:defPPr>
            <a:lvl1pPr>
              <a:defRPr sz="1050" b="1">
                <a:solidFill>
                  <a:srgbClr val="28369F"/>
                </a:solidFill>
                <a:latin typeface="Arial"/>
                <a:ea typeface="Arial"/>
                <a:cs typeface="Arial"/>
              </a:defRPr>
            </a:lvl1pPr>
            <a:lvl2pPr>
              <a:defRPr sz="1050" b="1">
                <a:solidFill>
                  <a:srgbClr val="28369F"/>
                </a:solidFill>
                <a:latin typeface="Arial"/>
                <a:ea typeface="Arial"/>
                <a:cs typeface="Arial"/>
              </a:defRPr>
            </a:lvl2pPr>
            <a:lvl3pPr>
              <a:defRPr sz="1050" b="1">
                <a:solidFill>
                  <a:srgbClr val="28369F"/>
                </a:solidFill>
                <a:latin typeface="Arial"/>
                <a:ea typeface="Arial"/>
                <a:cs typeface="Arial"/>
              </a:defRPr>
            </a:lvl3pPr>
            <a:lvl4pPr>
              <a:defRPr sz="1050" b="1">
                <a:solidFill>
                  <a:srgbClr val="28369F"/>
                </a:solidFill>
                <a:latin typeface="Arial"/>
                <a:ea typeface="Arial"/>
                <a:cs typeface="Arial"/>
              </a:defRPr>
            </a:lvl4pPr>
            <a:lvl5pPr>
              <a:defRPr sz="1050" b="1">
                <a:solidFill>
                  <a:srgbClr val="28369F"/>
                </a:solidFill>
                <a:latin typeface="Arial"/>
                <a:ea typeface="Arial"/>
                <a:cs typeface="Arial"/>
              </a:defRPr>
            </a:lvl5pPr>
            <a:lvl6pPr>
              <a:defRPr sz="1050" b="1">
                <a:solidFill>
                  <a:srgbClr val="28369F"/>
                </a:solidFill>
                <a:latin typeface="Arial"/>
                <a:ea typeface="Arial"/>
                <a:cs typeface="Arial"/>
              </a:defRPr>
            </a:lvl6pPr>
            <a:lvl7pPr>
              <a:defRPr sz="1050" b="1">
                <a:solidFill>
                  <a:srgbClr val="28369F"/>
                </a:solidFill>
                <a:latin typeface="Arial"/>
                <a:ea typeface="Arial"/>
                <a:cs typeface="Arial"/>
              </a:defRPr>
            </a:lvl7pPr>
            <a:lvl8pPr>
              <a:defRPr sz="1050" b="1">
                <a:solidFill>
                  <a:srgbClr val="28369F"/>
                </a:solidFill>
                <a:latin typeface="Arial"/>
                <a:ea typeface="Arial"/>
                <a:cs typeface="Arial"/>
              </a:defRPr>
            </a:lvl8pPr>
            <a:lvl9pPr>
              <a:defRPr sz="1050" b="1">
                <a:solidFill>
                  <a:srgbClr val="28369F"/>
                </a:solidFill>
                <a:latin typeface="Arial"/>
                <a:ea typeface="Arial"/>
                <a:cs typeface="Arial"/>
              </a:defRPr>
            </a:lvl9pPr>
          </a:lstStyle>
          <a:p xmlns:a="http://schemas.openxmlformats.org/drawingml/2006/main">
            <a:pPr>
              <a:defRPr sz="1050" b="1">
                <a:solidFill>
                  <a:srgbClr val="28369F"/>
                </a:solidFill>
                <a:latin typeface="Arial"/>
                <a:ea typeface="Arial"/>
                <a:cs typeface="Arial"/>
              </a:defRPr>
            </a:pPr>
            <a:r>
              <a:rPr sz="1050" b="1">
                <a:solidFill>
                  <a:srgbClr val="28369F"/>
                </a:solidFill>
                <a:latin typeface="Arial"/>
                <a:ea typeface="Arial"/>
                <a:cs typeface="Arial"/>
              </a:rPr>
              <a:t>IONIC EXCLUSIVES  /  FIRST INVESTMENT</a:t>
            </a:r>
          </a:p>
        </p:txBody>
      </p:sp>
      <p:sp>
        <p:nvSpPr>
          <p:cNvPr id="2" name="">
            <a:extLst xmlns:a="http://schemas.openxmlformats.org/drawingml/2006/main">
              <a:ext uri="{FF2B5EF4-FFF2-40B4-BE49-F238E27FC236}">
                <a16:creationId xmlns:a16="http://schemas.microsoft.com/office/drawing/2014/main" id="{0A5AD743-F492-43E1-AD43-D3CE49695C46}"/>
              </a:ext>
            </a:extLst>
          </p:cNvPr>
          <p:cNvSpPr>
            <a:spLocks xmlns:a="http://schemas.openxmlformats.org/drawingml/2006/main" noGrp="1"/>
          </p:cNvSpPr>
          <p:nvPr/>
        </p:nvSpPr>
        <p:spPr>
          <a:xfrm xmlns:a="http://schemas.openxmlformats.org/drawingml/2006/main">
            <a:off x="590550" y="790575"/>
            <a:ext cx="685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263E"/>
                </a:solidFill>
                <a:latin typeface="Arial"/>
                <a:ea typeface="Arial"/>
                <a:cs typeface="Arial"/>
              </a:defRPr>
            </a:defPPr>
            <a:lvl1pPr>
              <a:defRPr sz="3600" b="1">
                <a:solidFill>
                  <a:srgbClr val="17263E"/>
                </a:solidFill>
                <a:latin typeface="Arial"/>
                <a:ea typeface="Arial"/>
                <a:cs typeface="Arial"/>
              </a:defRPr>
            </a:lvl1pPr>
            <a:lvl2pPr>
              <a:defRPr sz="3600" b="1">
                <a:solidFill>
                  <a:srgbClr val="17263E"/>
                </a:solidFill>
                <a:latin typeface="Arial"/>
                <a:ea typeface="Arial"/>
                <a:cs typeface="Arial"/>
              </a:defRPr>
            </a:lvl2pPr>
            <a:lvl3pPr>
              <a:defRPr sz="3600" b="1">
                <a:solidFill>
                  <a:srgbClr val="17263E"/>
                </a:solidFill>
                <a:latin typeface="Arial"/>
                <a:ea typeface="Arial"/>
                <a:cs typeface="Arial"/>
              </a:defRPr>
            </a:lvl3pPr>
            <a:lvl4pPr>
              <a:defRPr sz="3600" b="1">
                <a:solidFill>
                  <a:srgbClr val="17263E"/>
                </a:solidFill>
                <a:latin typeface="Arial"/>
                <a:ea typeface="Arial"/>
                <a:cs typeface="Arial"/>
              </a:defRPr>
            </a:lvl4pPr>
            <a:lvl5pPr>
              <a:defRPr sz="3600" b="1">
                <a:solidFill>
                  <a:srgbClr val="17263E"/>
                </a:solidFill>
                <a:latin typeface="Arial"/>
                <a:ea typeface="Arial"/>
                <a:cs typeface="Arial"/>
              </a:defRPr>
            </a:lvl5pPr>
            <a:lvl6pPr>
              <a:defRPr sz="3600" b="1">
                <a:solidFill>
                  <a:srgbClr val="17263E"/>
                </a:solidFill>
                <a:latin typeface="Arial"/>
                <a:ea typeface="Arial"/>
                <a:cs typeface="Arial"/>
              </a:defRPr>
            </a:lvl6pPr>
            <a:lvl7pPr>
              <a:defRPr sz="3600" b="1">
                <a:solidFill>
                  <a:srgbClr val="17263E"/>
                </a:solidFill>
                <a:latin typeface="Arial"/>
                <a:ea typeface="Arial"/>
                <a:cs typeface="Arial"/>
              </a:defRPr>
            </a:lvl7pPr>
            <a:lvl8pPr>
              <a:defRPr sz="3600" b="1">
                <a:solidFill>
                  <a:srgbClr val="17263E"/>
                </a:solidFill>
                <a:latin typeface="Arial"/>
                <a:ea typeface="Arial"/>
                <a:cs typeface="Arial"/>
              </a:defRPr>
            </a:lvl8pPr>
            <a:lvl9pPr>
              <a:defRPr sz="3600" b="1">
                <a:solidFill>
                  <a:srgbClr val="17263E"/>
                </a:solidFill>
                <a:latin typeface="Arial"/>
                <a:ea typeface="Arial"/>
                <a:cs typeface="Arial"/>
              </a:defRPr>
            </a:lvl9pPr>
          </a:lstStyle>
          <a:p xmlns:a="http://schemas.openxmlformats.org/drawingml/2006/main">
            <a:pPr>
              <a:defRPr sz="3600" b="1">
                <a:solidFill>
                  <a:srgbClr val="17263E"/>
                </a:solidFill>
                <a:latin typeface="Arial"/>
                <a:ea typeface="Arial"/>
                <a:cs typeface="Arial"/>
              </a:defRPr>
            </a:pPr>
            <a:r>
              <a:rPr sz="3600" b="1">
                <a:solidFill>
                  <a:srgbClr val="17263E"/>
                </a:solidFill>
                <a:latin typeface="Arial"/>
                <a:ea typeface="Arial"/>
                <a:cs typeface="Arial"/>
              </a:rPr>
              <a:t>A hypothesis about</a:t>
            </a:r>
          </a:p>
          <a:p xmlns:a="http://schemas.openxmlformats.org/drawingml/2006/main">
            <a:pPr>
              <a:defRPr sz="3600" b="1">
                <a:solidFill>
                  <a:srgbClr val="17263E"/>
                </a:solidFill>
                <a:latin typeface="Arial"/>
                <a:ea typeface="Arial"/>
                <a:cs typeface="Arial"/>
              </a:defRPr>
            </a:pPr>
            <a:r>
              <a:rPr sz="3600" b="1">
                <a:solidFill>
                  <a:srgbClr val="17263E"/>
                </a:solidFill>
                <a:latin typeface="Arial"/>
                <a:ea typeface="Arial"/>
                <a:cs typeface="Arial"/>
              </a:rPr>
              <a:t>the first purchase</a:t>
            </a:r>
          </a:p>
        </p:txBody>
      </p:sp>
      <p:sp>
        <p:nvSpPr>
          <p:cNvPr id="3" name="">
            <a:extLst xmlns:a="http://schemas.openxmlformats.org/drawingml/2006/main">
              <a:ext uri="{FF2B5EF4-FFF2-40B4-BE49-F238E27FC236}">
                <a16:creationId xmlns:a16="http://schemas.microsoft.com/office/drawing/2014/main" id="{2F3798CF-08D8-46C7-82D9-85520345388F}"/>
              </a:ext>
            </a:extLst>
          </p:cNvPr>
          <p:cNvSpPr>
            <a:spLocks xmlns:a="http://schemas.openxmlformats.org/drawingml/2006/main" noGrp="1"/>
          </p:cNvSpPr>
          <p:nvPr/>
        </p:nvSpPr>
        <p:spPr>
          <a:xfrm xmlns:a="http://schemas.openxmlformats.org/drawingml/2006/main">
            <a:off x="590550" y="2257425"/>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28369F"/>
                </a:solidFill>
                <a:latin typeface="Arial"/>
                <a:ea typeface="Arial"/>
                <a:cs typeface="Arial"/>
              </a:defRPr>
            </a:defPPr>
            <a:lvl1pPr>
              <a:defRPr sz="1575" b="1">
                <a:solidFill>
                  <a:srgbClr val="28369F"/>
                </a:solidFill>
                <a:latin typeface="Arial"/>
                <a:ea typeface="Arial"/>
                <a:cs typeface="Arial"/>
              </a:defRPr>
            </a:lvl1pPr>
            <a:lvl2pPr>
              <a:defRPr sz="1575" b="1">
                <a:solidFill>
                  <a:srgbClr val="28369F"/>
                </a:solidFill>
                <a:latin typeface="Arial"/>
                <a:ea typeface="Arial"/>
                <a:cs typeface="Arial"/>
              </a:defRPr>
            </a:lvl2pPr>
            <a:lvl3pPr>
              <a:defRPr sz="1575" b="1">
                <a:solidFill>
                  <a:srgbClr val="28369F"/>
                </a:solidFill>
                <a:latin typeface="Arial"/>
                <a:ea typeface="Arial"/>
                <a:cs typeface="Arial"/>
              </a:defRPr>
            </a:lvl3pPr>
            <a:lvl4pPr>
              <a:defRPr sz="1575" b="1">
                <a:solidFill>
                  <a:srgbClr val="28369F"/>
                </a:solidFill>
                <a:latin typeface="Arial"/>
                <a:ea typeface="Arial"/>
                <a:cs typeface="Arial"/>
              </a:defRPr>
            </a:lvl4pPr>
            <a:lvl5pPr>
              <a:defRPr sz="1575" b="1">
                <a:solidFill>
                  <a:srgbClr val="28369F"/>
                </a:solidFill>
                <a:latin typeface="Arial"/>
                <a:ea typeface="Arial"/>
                <a:cs typeface="Arial"/>
              </a:defRPr>
            </a:lvl5pPr>
            <a:lvl6pPr>
              <a:defRPr sz="1575" b="1">
                <a:solidFill>
                  <a:srgbClr val="28369F"/>
                </a:solidFill>
                <a:latin typeface="Arial"/>
                <a:ea typeface="Arial"/>
                <a:cs typeface="Arial"/>
              </a:defRPr>
            </a:lvl6pPr>
            <a:lvl7pPr>
              <a:defRPr sz="1575" b="1">
                <a:solidFill>
                  <a:srgbClr val="28369F"/>
                </a:solidFill>
                <a:latin typeface="Arial"/>
                <a:ea typeface="Arial"/>
                <a:cs typeface="Arial"/>
              </a:defRPr>
            </a:lvl7pPr>
            <a:lvl8pPr>
              <a:defRPr sz="1575" b="1">
                <a:solidFill>
                  <a:srgbClr val="28369F"/>
                </a:solidFill>
                <a:latin typeface="Arial"/>
                <a:ea typeface="Arial"/>
                <a:cs typeface="Arial"/>
              </a:defRPr>
            </a:lvl8pPr>
            <a:lvl9pPr>
              <a:defRPr sz="1575" b="1">
                <a:solidFill>
                  <a:srgbClr val="28369F"/>
                </a:solidFill>
                <a:latin typeface="Arial"/>
                <a:ea typeface="Arial"/>
                <a:cs typeface="Arial"/>
              </a:defRPr>
            </a:lvl9pPr>
          </a:lstStyle>
          <a:p xmlns:a="http://schemas.openxmlformats.org/drawingml/2006/main">
            <a:pPr>
              <a:defRPr sz="1575" b="1">
                <a:solidFill>
                  <a:srgbClr val="28369F"/>
                </a:solidFill>
                <a:latin typeface="Arial"/>
                <a:ea typeface="Arial"/>
                <a:cs typeface="Arial"/>
              </a:defRPr>
            </a:pPr>
            <a:r>
              <a:rPr sz="1575" b="1">
                <a:solidFill>
                  <a:srgbClr val="28369F"/>
                </a:solidFill>
                <a:latin typeface="Arial"/>
                <a:ea typeface="Arial"/>
                <a:cs typeface="Arial"/>
              </a:rPr>
              <a:t>What we know</a:t>
            </a:r>
          </a:p>
        </p:txBody>
      </p:sp>
      <p:sp>
        <p:nvSpPr>
          <p:cNvPr id="4" name="">
            <a:extLst xmlns:a="http://schemas.openxmlformats.org/drawingml/2006/main">
              <a:ext uri="{FF2B5EF4-FFF2-40B4-BE49-F238E27FC236}">
                <a16:creationId xmlns:a16="http://schemas.microsoft.com/office/drawing/2014/main" id="{15E9D521-84A1-4D5F-857F-F0568723AE92}"/>
              </a:ext>
            </a:extLst>
          </p:cNvPr>
          <p:cNvSpPr>
            <a:spLocks xmlns:a="http://schemas.openxmlformats.org/drawingml/2006/main" noGrp="1"/>
          </p:cNvSpPr>
          <p:nvPr/>
        </p:nvSpPr>
        <p:spPr>
          <a:xfrm xmlns:a="http://schemas.openxmlformats.org/drawingml/2006/main">
            <a:off x="590550" y="2657475"/>
            <a:ext cx="6000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63E"/>
                </a:solidFill>
                <a:latin typeface="Arial"/>
                <a:ea typeface="Arial"/>
                <a:cs typeface="Arial"/>
              </a:defRPr>
            </a:defPPr>
            <a:lvl1pPr>
              <a:defRPr sz="1800" b="0">
                <a:solidFill>
                  <a:srgbClr val="17263E"/>
                </a:solidFill>
                <a:latin typeface="Arial"/>
                <a:ea typeface="Arial"/>
                <a:cs typeface="Arial"/>
              </a:defRPr>
            </a:lvl1pPr>
            <a:lvl2pPr>
              <a:defRPr sz="1800" b="0">
                <a:solidFill>
                  <a:srgbClr val="17263E"/>
                </a:solidFill>
                <a:latin typeface="Arial"/>
                <a:ea typeface="Arial"/>
                <a:cs typeface="Arial"/>
              </a:defRPr>
            </a:lvl2pPr>
            <a:lvl3pPr>
              <a:defRPr sz="1800" b="0">
                <a:solidFill>
                  <a:srgbClr val="17263E"/>
                </a:solidFill>
                <a:latin typeface="Arial"/>
                <a:ea typeface="Arial"/>
                <a:cs typeface="Arial"/>
              </a:defRPr>
            </a:lvl3pPr>
            <a:lvl4pPr>
              <a:defRPr sz="1800" b="0">
                <a:solidFill>
                  <a:srgbClr val="17263E"/>
                </a:solidFill>
                <a:latin typeface="Arial"/>
                <a:ea typeface="Arial"/>
                <a:cs typeface="Arial"/>
              </a:defRPr>
            </a:lvl4pPr>
            <a:lvl5pPr>
              <a:defRPr sz="1800" b="0">
                <a:solidFill>
                  <a:srgbClr val="17263E"/>
                </a:solidFill>
                <a:latin typeface="Arial"/>
                <a:ea typeface="Arial"/>
                <a:cs typeface="Arial"/>
              </a:defRPr>
            </a:lvl5pPr>
            <a:lvl6pPr>
              <a:defRPr sz="1800" b="0">
                <a:solidFill>
                  <a:srgbClr val="17263E"/>
                </a:solidFill>
                <a:latin typeface="Arial"/>
                <a:ea typeface="Arial"/>
                <a:cs typeface="Arial"/>
              </a:defRPr>
            </a:lvl6pPr>
            <a:lvl7pPr>
              <a:defRPr sz="1800" b="0">
                <a:solidFill>
                  <a:srgbClr val="17263E"/>
                </a:solidFill>
                <a:latin typeface="Arial"/>
                <a:ea typeface="Arial"/>
                <a:cs typeface="Arial"/>
              </a:defRPr>
            </a:lvl7pPr>
            <a:lvl8pPr>
              <a:defRPr sz="1800" b="0">
                <a:solidFill>
                  <a:srgbClr val="17263E"/>
                </a:solidFill>
                <a:latin typeface="Arial"/>
                <a:ea typeface="Arial"/>
                <a:cs typeface="Arial"/>
              </a:defRPr>
            </a:lvl8pPr>
            <a:lvl9pPr>
              <a:defRPr sz="1800" b="0">
                <a:solidFill>
                  <a:srgbClr val="17263E"/>
                </a:solidFill>
                <a:latin typeface="Arial"/>
                <a:ea typeface="Arial"/>
                <a:cs typeface="Arial"/>
              </a:defRPr>
            </a:lvl9pPr>
          </a:lstStyle>
          <a:p xmlns:a="http://schemas.openxmlformats.org/drawingml/2006/main">
            <a:pPr>
              <a:defRPr sz="1800" b="0">
                <a:solidFill>
                  <a:srgbClr val="17263E"/>
                </a:solidFill>
                <a:latin typeface="Arial"/>
                <a:ea typeface="Arial"/>
                <a:cs typeface="Arial"/>
              </a:defRPr>
            </a:pPr>
            <a:r>
              <a:rPr sz="1800" b="0">
                <a:solidFill>
                  <a:srgbClr val="17263E"/>
                </a:solidFill>
                <a:latin typeface="Arial"/>
                <a:ea typeface="Arial"/>
                <a:cs typeface="Arial"/>
              </a:rPr>
              <a:t>The product team reports portfolio imports without unassisted purchases. The captured Exclusives page has long product shelves; smaller entry routes sit further down.</a:t>
            </a:r>
          </a:p>
        </p:txBody>
      </p:sp>
      <p:sp>
        <p:nvSpPr>
          <p:cNvPr id="5" name="">
            <a:extLst xmlns:a="http://schemas.openxmlformats.org/drawingml/2006/main">
              <a:ext uri="{FF2B5EF4-FFF2-40B4-BE49-F238E27FC236}">
                <a16:creationId xmlns:a16="http://schemas.microsoft.com/office/drawing/2014/main" id="{03851EE0-2A8F-4F0E-9BDC-5190C73714D1}"/>
              </a:ext>
            </a:extLst>
          </p:cNvPr>
          <p:cNvSpPr>
            <a:spLocks xmlns:a="http://schemas.openxmlformats.org/drawingml/2006/main" noGrp="1"/>
          </p:cNvSpPr>
          <p:nvPr/>
        </p:nvSpPr>
        <p:spPr>
          <a:xfrm xmlns:a="http://schemas.openxmlformats.org/drawingml/2006/main">
            <a:off x="590550" y="40386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28369F"/>
                </a:solidFill>
                <a:latin typeface="Arial"/>
                <a:ea typeface="Arial"/>
                <a:cs typeface="Arial"/>
              </a:defRPr>
            </a:defPPr>
            <a:lvl1pPr>
              <a:defRPr sz="1575" b="1">
                <a:solidFill>
                  <a:srgbClr val="28369F"/>
                </a:solidFill>
                <a:latin typeface="Arial"/>
                <a:ea typeface="Arial"/>
                <a:cs typeface="Arial"/>
              </a:defRPr>
            </a:lvl1pPr>
            <a:lvl2pPr>
              <a:defRPr sz="1575" b="1">
                <a:solidFill>
                  <a:srgbClr val="28369F"/>
                </a:solidFill>
                <a:latin typeface="Arial"/>
                <a:ea typeface="Arial"/>
                <a:cs typeface="Arial"/>
              </a:defRPr>
            </a:lvl2pPr>
            <a:lvl3pPr>
              <a:defRPr sz="1575" b="1">
                <a:solidFill>
                  <a:srgbClr val="28369F"/>
                </a:solidFill>
                <a:latin typeface="Arial"/>
                <a:ea typeface="Arial"/>
                <a:cs typeface="Arial"/>
              </a:defRPr>
            </a:lvl3pPr>
            <a:lvl4pPr>
              <a:defRPr sz="1575" b="1">
                <a:solidFill>
                  <a:srgbClr val="28369F"/>
                </a:solidFill>
                <a:latin typeface="Arial"/>
                <a:ea typeface="Arial"/>
                <a:cs typeface="Arial"/>
              </a:defRPr>
            </a:lvl4pPr>
            <a:lvl5pPr>
              <a:defRPr sz="1575" b="1">
                <a:solidFill>
                  <a:srgbClr val="28369F"/>
                </a:solidFill>
                <a:latin typeface="Arial"/>
                <a:ea typeface="Arial"/>
                <a:cs typeface="Arial"/>
              </a:defRPr>
            </a:lvl5pPr>
            <a:lvl6pPr>
              <a:defRPr sz="1575" b="1">
                <a:solidFill>
                  <a:srgbClr val="28369F"/>
                </a:solidFill>
                <a:latin typeface="Arial"/>
                <a:ea typeface="Arial"/>
                <a:cs typeface="Arial"/>
              </a:defRPr>
            </a:lvl6pPr>
            <a:lvl7pPr>
              <a:defRPr sz="1575" b="1">
                <a:solidFill>
                  <a:srgbClr val="28369F"/>
                </a:solidFill>
                <a:latin typeface="Arial"/>
                <a:ea typeface="Arial"/>
                <a:cs typeface="Arial"/>
              </a:defRPr>
            </a:lvl7pPr>
            <a:lvl8pPr>
              <a:defRPr sz="1575" b="1">
                <a:solidFill>
                  <a:srgbClr val="28369F"/>
                </a:solidFill>
                <a:latin typeface="Arial"/>
                <a:ea typeface="Arial"/>
                <a:cs typeface="Arial"/>
              </a:defRPr>
            </a:lvl8pPr>
            <a:lvl9pPr>
              <a:defRPr sz="1575" b="1">
                <a:solidFill>
                  <a:srgbClr val="28369F"/>
                </a:solidFill>
                <a:latin typeface="Arial"/>
                <a:ea typeface="Arial"/>
                <a:cs typeface="Arial"/>
              </a:defRPr>
            </a:lvl9pPr>
          </a:lstStyle>
          <a:p xmlns:a="http://schemas.openxmlformats.org/drawingml/2006/main">
            <a:pPr>
              <a:defRPr sz="1575" b="1">
                <a:solidFill>
                  <a:srgbClr val="28369F"/>
                </a:solidFill>
                <a:latin typeface="Arial"/>
                <a:ea typeface="Arial"/>
                <a:cs typeface="Arial"/>
              </a:defRPr>
            </a:pPr>
            <a:r>
              <a:rPr sz="1575" b="1">
                <a:solidFill>
                  <a:srgbClr val="28369F"/>
                </a:solidFill>
                <a:latin typeface="Arial"/>
                <a:ea typeface="Arial"/>
                <a:cs typeface="Arial"/>
              </a:rPr>
              <a:t>What I would test</a:t>
            </a:r>
          </a:p>
        </p:txBody>
      </p:sp>
      <p:sp>
        <p:nvSpPr>
          <p:cNvPr id="6" name="">
            <a:extLst xmlns:a="http://schemas.openxmlformats.org/drawingml/2006/main">
              <a:ext uri="{FF2B5EF4-FFF2-40B4-BE49-F238E27FC236}">
                <a16:creationId xmlns:a16="http://schemas.microsoft.com/office/drawing/2014/main" id="{9AE1883F-7D47-4699-9C2E-CF381CBB3F3E}"/>
              </a:ext>
            </a:extLst>
          </p:cNvPr>
          <p:cNvSpPr>
            <a:spLocks xmlns:a="http://schemas.openxmlformats.org/drawingml/2006/main" noGrp="1"/>
          </p:cNvSpPr>
          <p:nvPr/>
        </p:nvSpPr>
        <p:spPr>
          <a:xfrm xmlns:a="http://schemas.openxmlformats.org/drawingml/2006/main">
            <a:off x="590550" y="4448175"/>
            <a:ext cx="619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263E"/>
                </a:solidFill>
                <a:latin typeface="Arial"/>
                <a:ea typeface="Arial"/>
                <a:cs typeface="Arial"/>
              </a:defRPr>
            </a:defPPr>
            <a:lvl1pPr>
              <a:defRPr sz="1950" b="1">
                <a:solidFill>
                  <a:srgbClr val="17263E"/>
                </a:solidFill>
                <a:latin typeface="Arial"/>
                <a:ea typeface="Arial"/>
                <a:cs typeface="Arial"/>
              </a:defRPr>
            </a:lvl1pPr>
            <a:lvl2pPr>
              <a:defRPr sz="1950" b="1">
                <a:solidFill>
                  <a:srgbClr val="17263E"/>
                </a:solidFill>
                <a:latin typeface="Arial"/>
                <a:ea typeface="Arial"/>
                <a:cs typeface="Arial"/>
              </a:defRPr>
            </a:lvl2pPr>
            <a:lvl3pPr>
              <a:defRPr sz="1950" b="1">
                <a:solidFill>
                  <a:srgbClr val="17263E"/>
                </a:solidFill>
                <a:latin typeface="Arial"/>
                <a:ea typeface="Arial"/>
                <a:cs typeface="Arial"/>
              </a:defRPr>
            </a:lvl3pPr>
            <a:lvl4pPr>
              <a:defRPr sz="1950" b="1">
                <a:solidFill>
                  <a:srgbClr val="17263E"/>
                </a:solidFill>
                <a:latin typeface="Arial"/>
                <a:ea typeface="Arial"/>
                <a:cs typeface="Arial"/>
              </a:defRPr>
            </a:lvl4pPr>
            <a:lvl5pPr>
              <a:defRPr sz="1950" b="1">
                <a:solidFill>
                  <a:srgbClr val="17263E"/>
                </a:solidFill>
                <a:latin typeface="Arial"/>
                <a:ea typeface="Arial"/>
                <a:cs typeface="Arial"/>
              </a:defRPr>
            </a:lvl5pPr>
            <a:lvl6pPr>
              <a:defRPr sz="1950" b="1">
                <a:solidFill>
                  <a:srgbClr val="17263E"/>
                </a:solidFill>
                <a:latin typeface="Arial"/>
                <a:ea typeface="Arial"/>
                <a:cs typeface="Arial"/>
              </a:defRPr>
            </a:lvl6pPr>
            <a:lvl7pPr>
              <a:defRPr sz="1950" b="1">
                <a:solidFill>
                  <a:srgbClr val="17263E"/>
                </a:solidFill>
                <a:latin typeface="Arial"/>
                <a:ea typeface="Arial"/>
                <a:cs typeface="Arial"/>
              </a:defRPr>
            </a:lvl7pPr>
            <a:lvl8pPr>
              <a:defRPr sz="1950" b="1">
                <a:solidFill>
                  <a:srgbClr val="17263E"/>
                </a:solidFill>
                <a:latin typeface="Arial"/>
                <a:ea typeface="Arial"/>
                <a:cs typeface="Arial"/>
              </a:defRPr>
            </a:lvl8pPr>
            <a:lvl9pPr>
              <a:defRPr sz="1950" b="1">
                <a:solidFill>
                  <a:srgbClr val="17263E"/>
                </a:solidFill>
                <a:latin typeface="Arial"/>
                <a:ea typeface="Arial"/>
                <a:cs typeface="Arial"/>
              </a:defRPr>
            </a:lvl9pPr>
          </a:lstStyle>
          <a:p xmlns:a="http://schemas.openxmlformats.org/drawingml/2006/main">
            <a:pPr>
              <a:defRPr sz="1950" b="1">
                <a:solidFill>
                  <a:srgbClr val="17263E"/>
                </a:solidFill>
                <a:latin typeface="Arial"/>
                <a:ea typeface="Arial"/>
                <a:cs typeface="Arial"/>
              </a:defRPr>
            </a:pPr>
            <a:r>
              <a:rPr sz="1950" b="1">
                <a:solidFill>
                  <a:srgbClr val="17263E"/>
                </a:solidFill>
                <a:latin typeface="Arial"/>
                <a:ea typeface="Arial"/>
                <a:cs typeface="Arial"/>
              </a:rPr>
              <a:t>Put comparable products, costs and risks within the first two screens. Eligible importers should then be more likely to complete a first investment without a call.</a:t>
            </a:r>
          </a:p>
        </p:txBody>
      </p:sp>
      <p:sp>
        <p:nvSpPr>
          <p:cNvPr id="7" name="">
            <a:extLst xmlns:a="http://schemas.openxmlformats.org/drawingml/2006/main">
              <a:ext uri="{FF2B5EF4-FFF2-40B4-BE49-F238E27FC236}">
                <a16:creationId xmlns:a16="http://schemas.microsoft.com/office/drawing/2014/main" id="{E6BAD871-75F9-4E80-A8BD-29263F2CE764}"/>
              </a:ext>
            </a:extLst>
          </p:cNvPr>
          <p:cNvSpPr>
            <a:spLocks xmlns:a="http://schemas.openxmlformats.org/drawingml/2006/main" noGrp="1"/>
          </p:cNvSpPr>
          <p:nvPr/>
        </p:nvSpPr>
        <p:spPr>
          <a:xfrm xmlns:a="http://schemas.openxmlformats.org/drawingml/2006/main">
            <a:off x="7962900" y="99060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28369F"/>
                </a:solidFill>
                <a:latin typeface="Arial"/>
                <a:ea typeface="Arial"/>
                <a:cs typeface="Arial"/>
              </a:defRPr>
            </a:defPPr>
            <a:lvl1pPr>
              <a:defRPr sz="5250" b="1">
                <a:solidFill>
                  <a:srgbClr val="28369F"/>
                </a:solidFill>
                <a:latin typeface="Arial"/>
                <a:ea typeface="Arial"/>
                <a:cs typeface="Arial"/>
              </a:defRPr>
            </a:lvl1pPr>
            <a:lvl2pPr>
              <a:defRPr sz="5250" b="1">
                <a:solidFill>
                  <a:srgbClr val="28369F"/>
                </a:solidFill>
                <a:latin typeface="Arial"/>
                <a:ea typeface="Arial"/>
                <a:cs typeface="Arial"/>
              </a:defRPr>
            </a:lvl2pPr>
            <a:lvl3pPr>
              <a:defRPr sz="5250" b="1">
                <a:solidFill>
                  <a:srgbClr val="28369F"/>
                </a:solidFill>
                <a:latin typeface="Arial"/>
                <a:ea typeface="Arial"/>
                <a:cs typeface="Arial"/>
              </a:defRPr>
            </a:lvl3pPr>
            <a:lvl4pPr>
              <a:defRPr sz="5250" b="1">
                <a:solidFill>
                  <a:srgbClr val="28369F"/>
                </a:solidFill>
                <a:latin typeface="Arial"/>
                <a:ea typeface="Arial"/>
                <a:cs typeface="Arial"/>
              </a:defRPr>
            </a:lvl4pPr>
            <a:lvl5pPr>
              <a:defRPr sz="5250" b="1">
                <a:solidFill>
                  <a:srgbClr val="28369F"/>
                </a:solidFill>
                <a:latin typeface="Arial"/>
                <a:ea typeface="Arial"/>
                <a:cs typeface="Arial"/>
              </a:defRPr>
            </a:lvl5pPr>
            <a:lvl6pPr>
              <a:defRPr sz="5250" b="1">
                <a:solidFill>
                  <a:srgbClr val="28369F"/>
                </a:solidFill>
                <a:latin typeface="Arial"/>
                <a:ea typeface="Arial"/>
                <a:cs typeface="Arial"/>
              </a:defRPr>
            </a:lvl6pPr>
            <a:lvl7pPr>
              <a:defRPr sz="5250" b="1">
                <a:solidFill>
                  <a:srgbClr val="28369F"/>
                </a:solidFill>
                <a:latin typeface="Arial"/>
                <a:ea typeface="Arial"/>
                <a:cs typeface="Arial"/>
              </a:defRPr>
            </a:lvl7pPr>
            <a:lvl8pPr>
              <a:defRPr sz="5250" b="1">
                <a:solidFill>
                  <a:srgbClr val="28369F"/>
                </a:solidFill>
                <a:latin typeface="Arial"/>
                <a:ea typeface="Arial"/>
                <a:cs typeface="Arial"/>
              </a:defRPr>
            </a:lvl8pPr>
            <a:lvl9pPr>
              <a:defRPr sz="5250" b="1">
                <a:solidFill>
                  <a:srgbClr val="28369F"/>
                </a:solidFill>
                <a:latin typeface="Arial"/>
                <a:ea typeface="Arial"/>
                <a:cs typeface="Arial"/>
              </a:defRPr>
            </a:lvl9pPr>
          </a:lstStyle>
          <a:p xmlns:a="http://schemas.openxmlformats.org/drawingml/2006/main">
            <a:pPr>
              <a:defRPr sz="5250" b="1">
                <a:solidFill>
                  <a:srgbClr val="28369F"/>
                </a:solidFill>
                <a:latin typeface="Arial"/>
                <a:ea typeface="Arial"/>
                <a:cs typeface="Arial"/>
              </a:defRPr>
            </a:pPr>
            <a:r>
              <a:rPr sz="5250" b="1">
                <a:solidFill>
                  <a:srgbClr val="28369F"/>
                </a:solidFill>
                <a:latin typeface="Arial"/>
                <a:ea typeface="Arial"/>
                <a:cs typeface="Arial"/>
              </a:rPr>
              <a:t>74%</a:t>
            </a:r>
          </a:p>
        </p:txBody>
      </p:sp>
      <p:sp>
        <p:nvSpPr>
          <p:cNvPr id="8" name="">
            <a:extLst xmlns:a="http://schemas.openxmlformats.org/drawingml/2006/main">
              <a:ext uri="{FF2B5EF4-FFF2-40B4-BE49-F238E27FC236}">
                <a16:creationId xmlns:a16="http://schemas.microsoft.com/office/drawing/2014/main" id="{E8B67752-D0CA-4DB1-A9DB-DBCAC7B8AE4C}"/>
              </a:ext>
            </a:extLst>
          </p:cNvPr>
          <p:cNvSpPr>
            <a:spLocks xmlns:a="http://schemas.openxmlformats.org/drawingml/2006/main" noGrp="1"/>
          </p:cNvSpPr>
          <p:nvPr/>
        </p:nvSpPr>
        <p:spPr>
          <a:xfrm xmlns:a="http://schemas.openxmlformats.org/drawingml/2006/main">
            <a:off x="7981950" y="18954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63E"/>
                </a:solidFill>
                <a:latin typeface="Arial"/>
                <a:ea typeface="Arial"/>
                <a:cs typeface="Arial"/>
              </a:defRPr>
            </a:defPPr>
            <a:lvl1pPr>
              <a:defRPr sz="1725" b="0">
                <a:solidFill>
                  <a:srgbClr val="17263E"/>
                </a:solidFill>
                <a:latin typeface="Arial"/>
                <a:ea typeface="Arial"/>
                <a:cs typeface="Arial"/>
              </a:defRPr>
            </a:lvl1pPr>
            <a:lvl2pPr>
              <a:defRPr sz="1725" b="0">
                <a:solidFill>
                  <a:srgbClr val="17263E"/>
                </a:solidFill>
                <a:latin typeface="Arial"/>
                <a:ea typeface="Arial"/>
                <a:cs typeface="Arial"/>
              </a:defRPr>
            </a:lvl2pPr>
            <a:lvl3pPr>
              <a:defRPr sz="1725" b="0">
                <a:solidFill>
                  <a:srgbClr val="17263E"/>
                </a:solidFill>
                <a:latin typeface="Arial"/>
                <a:ea typeface="Arial"/>
                <a:cs typeface="Arial"/>
              </a:defRPr>
            </a:lvl3pPr>
            <a:lvl4pPr>
              <a:defRPr sz="1725" b="0">
                <a:solidFill>
                  <a:srgbClr val="17263E"/>
                </a:solidFill>
                <a:latin typeface="Arial"/>
                <a:ea typeface="Arial"/>
                <a:cs typeface="Arial"/>
              </a:defRPr>
            </a:lvl4pPr>
            <a:lvl5pPr>
              <a:defRPr sz="1725" b="0">
                <a:solidFill>
                  <a:srgbClr val="17263E"/>
                </a:solidFill>
                <a:latin typeface="Arial"/>
                <a:ea typeface="Arial"/>
                <a:cs typeface="Arial"/>
              </a:defRPr>
            </a:lvl5pPr>
            <a:lvl6pPr>
              <a:defRPr sz="1725" b="0">
                <a:solidFill>
                  <a:srgbClr val="17263E"/>
                </a:solidFill>
                <a:latin typeface="Arial"/>
                <a:ea typeface="Arial"/>
                <a:cs typeface="Arial"/>
              </a:defRPr>
            </a:lvl6pPr>
            <a:lvl7pPr>
              <a:defRPr sz="1725" b="0">
                <a:solidFill>
                  <a:srgbClr val="17263E"/>
                </a:solidFill>
                <a:latin typeface="Arial"/>
                <a:ea typeface="Arial"/>
                <a:cs typeface="Arial"/>
              </a:defRPr>
            </a:lvl7pPr>
            <a:lvl8pPr>
              <a:defRPr sz="1725" b="0">
                <a:solidFill>
                  <a:srgbClr val="17263E"/>
                </a:solidFill>
                <a:latin typeface="Arial"/>
                <a:ea typeface="Arial"/>
                <a:cs typeface="Arial"/>
              </a:defRPr>
            </a:lvl8pPr>
            <a:lvl9pPr>
              <a:defRPr sz="1725" b="0">
                <a:solidFill>
                  <a:srgbClr val="17263E"/>
                </a:solidFill>
                <a:latin typeface="Arial"/>
                <a:ea typeface="Arial"/>
                <a:cs typeface="Arial"/>
              </a:defRPr>
            </a:lvl9pPr>
          </a:lstStyle>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of viewing time fell within the</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first two screenfuls in NN/g’s</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2018 desktop study.</a:t>
            </a:r>
          </a:p>
        </p:txBody>
      </p:sp>
      <p:sp>
        <p:nvSpPr>
          <p:cNvPr id="9" name="">
            <a:extLst xmlns:a="http://schemas.openxmlformats.org/drawingml/2006/main">
              <a:ext uri="{FF2B5EF4-FFF2-40B4-BE49-F238E27FC236}">
                <a16:creationId xmlns:a16="http://schemas.microsoft.com/office/drawing/2014/main" id="{C83587F9-F63D-4CB5-B011-3A090AFF3B52}"/>
              </a:ext>
            </a:extLst>
          </p:cNvPr>
          <p:cNvSpPr>
            <a:spLocks xmlns:a="http://schemas.openxmlformats.org/drawingml/2006/main" noGrp="1"/>
          </p:cNvSpPr>
          <p:nvPr/>
        </p:nvSpPr>
        <p:spPr>
          <a:xfrm xmlns:a="http://schemas.openxmlformats.org/drawingml/2006/main">
            <a:off x="7981950" y="28194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77E"/>
                </a:solidFill>
                <a:latin typeface="Arial"/>
                <a:ea typeface="Arial"/>
                <a:cs typeface="Arial"/>
              </a:defRPr>
            </a:defPPr>
            <a:lvl1pPr>
              <a:defRPr sz="1200" b="0">
                <a:solidFill>
                  <a:srgbClr val="58677E"/>
                </a:solidFill>
                <a:latin typeface="Arial"/>
                <a:ea typeface="Arial"/>
                <a:cs typeface="Arial"/>
              </a:defRPr>
            </a:lvl1pPr>
            <a:lvl2pPr>
              <a:defRPr sz="1200" b="0">
                <a:solidFill>
                  <a:srgbClr val="58677E"/>
                </a:solidFill>
                <a:latin typeface="Arial"/>
                <a:ea typeface="Arial"/>
                <a:cs typeface="Arial"/>
              </a:defRPr>
            </a:lvl2pPr>
            <a:lvl3pPr>
              <a:defRPr sz="1200" b="0">
                <a:solidFill>
                  <a:srgbClr val="58677E"/>
                </a:solidFill>
                <a:latin typeface="Arial"/>
                <a:ea typeface="Arial"/>
                <a:cs typeface="Arial"/>
              </a:defRPr>
            </a:lvl3pPr>
            <a:lvl4pPr>
              <a:defRPr sz="1200" b="0">
                <a:solidFill>
                  <a:srgbClr val="58677E"/>
                </a:solidFill>
                <a:latin typeface="Arial"/>
                <a:ea typeface="Arial"/>
                <a:cs typeface="Arial"/>
              </a:defRPr>
            </a:lvl4pPr>
            <a:lvl5pPr>
              <a:defRPr sz="1200" b="0">
                <a:solidFill>
                  <a:srgbClr val="58677E"/>
                </a:solidFill>
                <a:latin typeface="Arial"/>
                <a:ea typeface="Arial"/>
                <a:cs typeface="Arial"/>
              </a:defRPr>
            </a:lvl5pPr>
            <a:lvl6pPr>
              <a:defRPr sz="1200" b="0">
                <a:solidFill>
                  <a:srgbClr val="58677E"/>
                </a:solidFill>
                <a:latin typeface="Arial"/>
                <a:ea typeface="Arial"/>
                <a:cs typeface="Arial"/>
              </a:defRPr>
            </a:lvl6pPr>
            <a:lvl7pPr>
              <a:defRPr sz="1200" b="0">
                <a:solidFill>
                  <a:srgbClr val="58677E"/>
                </a:solidFill>
                <a:latin typeface="Arial"/>
                <a:ea typeface="Arial"/>
                <a:cs typeface="Arial"/>
              </a:defRPr>
            </a:lvl7pPr>
            <a:lvl8pPr>
              <a:defRPr sz="1200" b="0">
                <a:solidFill>
                  <a:srgbClr val="58677E"/>
                </a:solidFill>
                <a:latin typeface="Arial"/>
                <a:ea typeface="Arial"/>
                <a:cs typeface="Arial"/>
              </a:defRPr>
            </a:lvl8pPr>
            <a:lvl9pPr>
              <a:defRPr sz="1200" b="0">
                <a:solidFill>
                  <a:srgbClr val="58677E"/>
                </a:solidFill>
                <a:latin typeface="Arial"/>
                <a:ea typeface="Arial"/>
                <a:cs typeface="Arial"/>
              </a:defRPr>
            </a:lvl9pPr>
          </a:lstStyle>
          <a:p xmlns:a="http://schemas.openxmlformats.org/drawingml/2006/main">
            <a:pPr>
              <a:defRPr sz="1200" b="0">
                <a:solidFill>
                  <a:srgbClr val="58677E"/>
                </a:solidFill>
                <a:latin typeface="Arial"/>
                <a:ea typeface="Arial"/>
                <a:cs typeface="Arial"/>
              </a:defRPr>
            </a:pPr>
            <a:r>
              <a:rPr sz="1200" b="0">
                <a:solidFill>
                  <a:srgbClr val="58677E"/>
                </a:solidFill>
                <a:latin typeface="Arial"/>
                <a:ea typeface="Arial"/>
                <a:cs typeface="Arial"/>
              </a:rPr>
              <a:t>120 participants. This is an attention</a:t>
            </a:r>
          </a:p>
          <a:p xmlns:a="http://schemas.openxmlformats.org/drawingml/2006/main">
            <a:pPr>
              <a:defRPr sz="1200" b="0">
                <a:solidFill>
                  <a:srgbClr val="58677E"/>
                </a:solidFill>
                <a:latin typeface="Arial"/>
                <a:ea typeface="Arial"/>
                <a:cs typeface="Arial"/>
              </a:defRPr>
            </a:pPr>
            <a:r>
              <a:rPr sz="1200" b="0">
                <a:solidFill>
                  <a:srgbClr val="58677E"/>
                </a:solidFill>
                <a:latin typeface="Arial"/>
                <a:ea typeface="Arial"/>
                <a:cs typeface="Arial"/>
              </a:rPr>
              <a:t>finding, not an Ionic mobile drop-off rate.</a:t>
            </a:r>
          </a:p>
        </p:txBody>
      </p:sp>
      <p:sp>
        <p:nvSpPr>
          <p:cNvPr id="10" name="">
            <a:extLst xmlns:a="http://schemas.openxmlformats.org/drawingml/2006/main">
              <a:ext uri="{FF2B5EF4-FFF2-40B4-BE49-F238E27FC236}">
                <a16:creationId xmlns:a16="http://schemas.microsoft.com/office/drawing/2014/main" id="{C25EA544-1168-4977-AC81-66515FBB5EA4}"/>
              </a:ext>
            </a:extLst>
          </p:cNvPr>
          <p:cNvSpPr>
            <a:spLocks xmlns:a="http://schemas.openxmlformats.org/drawingml/2006/main" noGrp="1"/>
          </p:cNvSpPr>
          <p:nvPr/>
        </p:nvSpPr>
        <p:spPr>
          <a:xfrm xmlns:a="http://schemas.openxmlformats.org/drawingml/2006/main">
            <a:off x="7962900" y="369570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28369F"/>
                </a:solidFill>
                <a:latin typeface="Arial"/>
                <a:ea typeface="Arial"/>
                <a:cs typeface="Arial"/>
              </a:defRPr>
            </a:defPPr>
            <a:lvl1pPr>
              <a:defRPr sz="5250" b="1">
                <a:solidFill>
                  <a:srgbClr val="28369F"/>
                </a:solidFill>
                <a:latin typeface="Arial"/>
                <a:ea typeface="Arial"/>
                <a:cs typeface="Arial"/>
              </a:defRPr>
            </a:lvl1pPr>
            <a:lvl2pPr>
              <a:defRPr sz="5250" b="1">
                <a:solidFill>
                  <a:srgbClr val="28369F"/>
                </a:solidFill>
                <a:latin typeface="Arial"/>
                <a:ea typeface="Arial"/>
                <a:cs typeface="Arial"/>
              </a:defRPr>
            </a:lvl2pPr>
            <a:lvl3pPr>
              <a:defRPr sz="5250" b="1">
                <a:solidFill>
                  <a:srgbClr val="28369F"/>
                </a:solidFill>
                <a:latin typeface="Arial"/>
                <a:ea typeface="Arial"/>
                <a:cs typeface="Arial"/>
              </a:defRPr>
            </a:lvl3pPr>
            <a:lvl4pPr>
              <a:defRPr sz="5250" b="1">
                <a:solidFill>
                  <a:srgbClr val="28369F"/>
                </a:solidFill>
                <a:latin typeface="Arial"/>
                <a:ea typeface="Arial"/>
                <a:cs typeface="Arial"/>
              </a:defRPr>
            </a:lvl4pPr>
            <a:lvl5pPr>
              <a:defRPr sz="5250" b="1">
                <a:solidFill>
                  <a:srgbClr val="28369F"/>
                </a:solidFill>
                <a:latin typeface="Arial"/>
                <a:ea typeface="Arial"/>
                <a:cs typeface="Arial"/>
              </a:defRPr>
            </a:lvl5pPr>
            <a:lvl6pPr>
              <a:defRPr sz="5250" b="1">
                <a:solidFill>
                  <a:srgbClr val="28369F"/>
                </a:solidFill>
                <a:latin typeface="Arial"/>
                <a:ea typeface="Arial"/>
                <a:cs typeface="Arial"/>
              </a:defRPr>
            </a:lvl6pPr>
            <a:lvl7pPr>
              <a:defRPr sz="5250" b="1">
                <a:solidFill>
                  <a:srgbClr val="28369F"/>
                </a:solidFill>
                <a:latin typeface="Arial"/>
                <a:ea typeface="Arial"/>
                <a:cs typeface="Arial"/>
              </a:defRPr>
            </a:lvl7pPr>
            <a:lvl8pPr>
              <a:defRPr sz="5250" b="1">
                <a:solidFill>
                  <a:srgbClr val="28369F"/>
                </a:solidFill>
                <a:latin typeface="Arial"/>
                <a:ea typeface="Arial"/>
                <a:cs typeface="Arial"/>
              </a:defRPr>
            </a:lvl8pPr>
            <a:lvl9pPr>
              <a:defRPr sz="5250" b="1">
                <a:solidFill>
                  <a:srgbClr val="28369F"/>
                </a:solidFill>
                <a:latin typeface="Arial"/>
                <a:ea typeface="Arial"/>
                <a:cs typeface="Arial"/>
              </a:defRPr>
            </a:lvl9pPr>
          </a:lstStyle>
          <a:p xmlns:a="http://schemas.openxmlformats.org/drawingml/2006/main">
            <a:pPr>
              <a:defRPr sz="5250" b="1">
                <a:solidFill>
                  <a:srgbClr val="28369F"/>
                </a:solidFill>
                <a:latin typeface="Arial"/>
                <a:ea typeface="Arial"/>
                <a:cs typeface="Arial"/>
              </a:defRPr>
            </a:pPr>
            <a:r>
              <a:rPr sz="5250" b="1">
                <a:solidFill>
                  <a:srgbClr val="28369F"/>
                </a:solidFill>
                <a:latin typeface="Arial"/>
                <a:ea typeface="Arial"/>
                <a:cs typeface="Arial"/>
              </a:rPr>
              <a:t>84%</a:t>
            </a:r>
          </a:p>
        </p:txBody>
      </p:sp>
      <p:sp>
        <p:nvSpPr>
          <p:cNvPr id="11" name="">
            <a:extLst xmlns:a="http://schemas.openxmlformats.org/drawingml/2006/main">
              <a:ext uri="{FF2B5EF4-FFF2-40B4-BE49-F238E27FC236}">
                <a16:creationId xmlns:a16="http://schemas.microsoft.com/office/drawing/2014/main" id="{75709C00-D339-44A4-9D2F-7C6B79BC273E}"/>
              </a:ext>
            </a:extLst>
          </p:cNvPr>
          <p:cNvSpPr>
            <a:spLocks xmlns:a="http://schemas.openxmlformats.org/drawingml/2006/main" noGrp="1"/>
          </p:cNvSpPr>
          <p:nvPr/>
        </p:nvSpPr>
        <p:spPr>
          <a:xfrm xmlns:a="http://schemas.openxmlformats.org/drawingml/2006/main">
            <a:off x="7981950" y="45720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63E"/>
                </a:solidFill>
                <a:latin typeface="Arial"/>
                <a:ea typeface="Arial"/>
                <a:cs typeface="Arial"/>
              </a:defRPr>
            </a:defPPr>
            <a:lvl1pPr>
              <a:defRPr sz="1725" b="0">
                <a:solidFill>
                  <a:srgbClr val="17263E"/>
                </a:solidFill>
                <a:latin typeface="Arial"/>
                <a:ea typeface="Arial"/>
                <a:cs typeface="Arial"/>
              </a:defRPr>
            </a:lvl1pPr>
            <a:lvl2pPr>
              <a:defRPr sz="1725" b="0">
                <a:solidFill>
                  <a:srgbClr val="17263E"/>
                </a:solidFill>
                <a:latin typeface="Arial"/>
                <a:ea typeface="Arial"/>
                <a:cs typeface="Arial"/>
              </a:defRPr>
            </a:lvl2pPr>
            <a:lvl3pPr>
              <a:defRPr sz="1725" b="0">
                <a:solidFill>
                  <a:srgbClr val="17263E"/>
                </a:solidFill>
                <a:latin typeface="Arial"/>
                <a:ea typeface="Arial"/>
                <a:cs typeface="Arial"/>
              </a:defRPr>
            </a:lvl3pPr>
            <a:lvl4pPr>
              <a:defRPr sz="1725" b="0">
                <a:solidFill>
                  <a:srgbClr val="17263E"/>
                </a:solidFill>
                <a:latin typeface="Arial"/>
                <a:ea typeface="Arial"/>
                <a:cs typeface="Arial"/>
              </a:defRPr>
            </a:lvl4pPr>
            <a:lvl5pPr>
              <a:defRPr sz="1725" b="0">
                <a:solidFill>
                  <a:srgbClr val="17263E"/>
                </a:solidFill>
                <a:latin typeface="Arial"/>
                <a:ea typeface="Arial"/>
                <a:cs typeface="Arial"/>
              </a:defRPr>
            </a:lvl5pPr>
            <a:lvl6pPr>
              <a:defRPr sz="1725" b="0">
                <a:solidFill>
                  <a:srgbClr val="17263E"/>
                </a:solidFill>
                <a:latin typeface="Arial"/>
                <a:ea typeface="Arial"/>
                <a:cs typeface="Arial"/>
              </a:defRPr>
            </a:lvl6pPr>
            <a:lvl7pPr>
              <a:defRPr sz="1725" b="0">
                <a:solidFill>
                  <a:srgbClr val="17263E"/>
                </a:solidFill>
                <a:latin typeface="Arial"/>
                <a:ea typeface="Arial"/>
                <a:cs typeface="Arial"/>
              </a:defRPr>
            </a:lvl7pPr>
            <a:lvl8pPr>
              <a:defRPr sz="1725" b="0">
                <a:solidFill>
                  <a:srgbClr val="17263E"/>
                </a:solidFill>
                <a:latin typeface="Arial"/>
                <a:ea typeface="Arial"/>
                <a:cs typeface="Arial"/>
              </a:defRPr>
            </a:lvl8pPr>
            <a:lvl9pPr>
              <a:defRPr sz="1725" b="0">
                <a:solidFill>
                  <a:srgbClr val="17263E"/>
                </a:solidFill>
                <a:latin typeface="Arial"/>
                <a:ea typeface="Arial"/>
                <a:cs typeface="Arial"/>
              </a:defRPr>
            </a:lvl9pPr>
          </a:lstStyle>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say fee disclosure matters.</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48% were satisfied.</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CFA Institute, 2018.</a:t>
            </a:r>
          </a:p>
        </p:txBody>
      </p:sp>
      <p:sp>
        <p:nvSpPr>
          <p:cNvPr id="12" name="">
            <a:extLst xmlns:a="http://schemas.openxmlformats.org/drawingml/2006/main">
              <a:ext uri="{FF2B5EF4-FFF2-40B4-BE49-F238E27FC236}">
                <a16:creationId xmlns:a16="http://schemas.microsoft.com/office/drawing/2014/main" id="{6D35773F-8945-4A7E-9173-99BC3D7314FB}"/>
              </a:ext>
            </a:extLst>
          </p:cNvPr>
          <p:cNvSpPr>
            <a:spLocks xmlns:a="http://schemas.openxmlformats.org/drawingml/2006/main" noGrp="1"/>
          </p:cNvSpPr>
          <p:nvPr/>
        </p:nvSpPr>
        <p:spPr>
          <a:xfrm xmlns:a="http://schemas.openxmlformats.org/drawingml/2006/main">
            <a:off x="7981950" y="58102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77E"/>
                </a:solidFill>
                <a:latin typeface="Arial"/>
                <a:ea typeface="Arial"/>
                <a:cs typeface="Arial"/>
              </a:defRPr>
            </a:defPPr>
            <a:lvl1pPr>
              <a:defRPr sz="1200" b="0">
                <a:solidFill>
                  <a:srgbClr val="58677E"/>
                </a:solidFill>
                <a:latin typeface="Arial"/>
                <a:ea typeface="Arial"/>
                <a:cs typeface="Arial"/>
              </a:defRPr>
            </a:lvl1pPr>
            <a:lvl2pPr>
              <a:defRPr sz="1200" b="0">
                <a:solidFill>
                  <a:srgbClr val="58677E"/>
                </a:solidFill>
                <a:latin typeface="Arial"/>
                <a:ea typeface="Arial"/>
                <a:cs typeface="Arial"/>
              </a:defRPr>
            </a:lvl2pPr>
            <a:lvl3pPr>
              <a:defRPr sz="1200" b="0">
                <a:solidFill>
                  <a:srgbClr val="58677E"/>
                </a:solidFill>
                <a:latin typeface="Arial"/>
                <a:ea typeface="Arial"/>
                <a:cs typeface="Arial"/>
              </a:defRPr>
            </a:lvl3pPr>
            <a:lvl4pPr>
              <a:defRPr sz="1200" b="0">
                <a:solidFill>
                  <a:srgbClr val="58677E"/>
                </a:solidFill>
                <a:latin typeface="Arial"/>
                <a:ea typeface="Arial"/>
                <a:cs typeface="Arial"/>
              </a:defRPr>
            </a:lvl4pPr>
            <a:lvl5pPr>
              <a:defRPr sz="1200" b="0">
                <a:solidFill>
                  <a:srgbClr val="58677E"/>
                </a:solidFill>
                <a:latin typeface="Arial"/>
                <a:ea typeface="Arial"/>
                <a:cs typeface="Arial"/>
              </a:defRPr>
            </a:lvl5pPr>
            <a:lvl6pPr>
              <a:defRPr sz="1200" b="0">
                <a:solidFill>
                  <a:srgbClr val="58677E"/>
                </a:solidFill>
                <a:latin typeface="Arial"/>
                <a:ea typeface="Arial"/>
                <a:cs typeface="Arial"/>
              </a:defRPr>
            </a:lvl6pPr>
            <a:lvl7pPr>
              <a:defRPr sz="1200" b="0">
                <a:solidFill>
                  <a:srgbClr val="58677E"/>
                </a:solidFill>
                <a:latin typeface="Arial"/>
                <a:ea typeface="Arial"/>
                <a:cs typeface="Arial"/>
              </a:defRPr>
            </a:lvl7pPr>
            <a:lvl8pPr>
              <a:defRPr sz="1200" b="0">
                <a:solidFill>
                  <a:srgbClr val="58677E"/>
                </a:solidFill>
                <a:latin typeface="Arial"/>
                <a:ea typeface="Arial"/>
                <a:cs typeface="Arial"/>
              </a:defRPr>
            </a:lvl8pPr>
            <a:lvl9pPr>
              <a:defRPr sz="1200" b="0">
                <a:solidFill>
                  <a:srgbClr val="58677E"/>
                </a:solidFill>
                <a:latin typeface="Arial"/>
                <a:ea typeface="Arial"/>
                <a:cs typeface="Arial"/>
              </a:defRPr>
            </a:lvl9pPr>
          </a:lstStyle>
          <a:p xmlns:a="http://schemas.openxmlformats.org/drawingml/2006/main">
            <a:pPr>
              <a:defRPr sz="1200" b="0">
                <a:solidFill>
                  <a:srgbClr val="58677E"/>
                </a:solidFill>
                <a:latin typeface="Arial"/>
                <a:ea typeface="Arial"/>
                <a:cs typeface="Arial"/>
              </a:defRPr>
            </a:pPr>
            <a:r>
              <a:rPr sz="1200" b="0">
                <a:solidFill>
                  <a:srgbClr val="58677E"/>
                </a:solidFill>
                <a:latin typeface="Arial"/>
                <a:ea typeface="Arial"/>
                <a:cs typeface="Arial"/>
              </a:rPr>
              <a:t>3,127 retail investors across 12 markets.</a:t>
            </a:r>
          </a:p>
        </p:txBody>
      </p:sp>
      <p:sp>
        <p:nvSpPr>
          <p:cNvPr id="13" name="">
            <a:extLst xmlns:a="http://schemas.openxmlformats.org/drawingml/2006/main">
              <a:ext uri="{FF2B5EF4-FFF2-40B4-BE49-F238E27FC236}">
                <a16:creationId xmlns:a16="http://schemas.microsoft.com/office/drawing/2014/main" id="{1236D22D-BEE2-4D25-995F-A2F2FADD654B}"/>
              </a:ext>
            </a:extLst>
          </p:cNvPr>
          <p:cNvSpPr>
            <a:spLocks xmlns:a="http://schemas.openxmlformats.org/drawingml/2006/main" noGrp="1"/>
          </p:cNvSpPr>
          <p:nvPr/>
        </p:nvSpPr>
        <p:spPr>
          <a:xfrm xmlns:a="http://schemas.openxmlformats.org/drawingml/2006/main">
            <a:off x="590550" y="61912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677E"/>
                </a:solidFill>
                <a:latin typeface="Arial"/>
                <a:ea typeface="Arial"/>
                <a:cs typeface="Arial"/>
              </a:defRPr>
            </a:defPPr>
            <a:lvl1pPr>
              <a:defRPr sz="1050" b="0">
                <a:solidFill>
                  <a:srgbClr val="58677E"/>
                </a:solidFill>
                <a:latin typeface="Arial"/>
                <a:ea typeface="Arial"/>
                <a:cs typeface="Arial"/>
              </a:defRPr>
            </a:lvl1pPr>
            <a:lvl2pPr>
              <a:defRPr sz="1050" b="0">
                <a:solidFill>
                  <a:srgbClr val="58677E"/>
                </a:solidFill>
                <a:latin typeface="Arial"/>
                <a:ea typeface="Arial"/>
                <a:cs typeface="Arial"/>
              </a:defRPr>
            </a:lvl2pPr>
            <a:lvl3pPr>
              <a:defRPr sz="1050" b="0">
                <a:solidFill>
                  <a:srgbClr val="58677E"/>
                </a:solidFill>
                <a:latin typeface="Arial"/>
                <a:ea typeface="Arial"/>
                <a:cs typeface="Arial"/>
              </a:defRPr>
            </a:lvl3pPr>
            <a:lvl4pPr>
              <a:defRPr sz="1050" b="0">
                <a:solidFill>
                  <a:srgbClr val="58677E"/>
                </a:solidFill>
                <a:latin typeface="Arial"/>
                <a:ea typeface="Arial"/>
                <a:cs typeface="Arial"/>
              </a:defRPr>
            </a:lvl4pPr>
            <a:lvl5pPr>
              <a:defRPr sz="1050" b="0">
                <a:solidFill>
                  <a:srgbClr val="58677E"/>
                </a:solidFill>
                <a:latin typeface="Arial"/>
                <a:ea typeface="Arial"/>
                <a:cs typeface="Arial"/>
              </a:defRPr>
            </a:lvl5pPr>
            <a:lvl6pPr>
              <a:defRPr sz="1050" b="0">
                <a:solidFill>
                  <a:srgbClr val="58677E"/>
                </a:solidFill>
                <a:latin typeface="Arial"/>
                <a:ea typeface="Arial"/>
                <a:cs typeface="Arial"/>
              </a:defRPr>
            </a:lvl6pPr>
            <a:lvl7pPr>
              <a:defRPr sz="1050" b="0">
                <a:solidFill>
                  <a:srgbClr val="58677E"/>
                </a:solidFill>
                <a:latin typeface="Arial"/>
                <a:ea typeface="Arial"/>
                <a:cs typeface="Arial"/>
              </a:defRPr>
            </a:lvl7pPr>
            <a:lvl8pPr>
              <a:defRPr sz="1050" b="0">
                <a:solidFill>
                  <a:srgbClr val="58677E"/>
                </a:solidFill>
                <a:latin typeface="Arial"/>
                <a:ea typeface="Arial"/>
                <a:cs typeface="Arial"/>
              </a:defRPr>
            </a:lvl8pPr>
            <a:lvl9pPr>
              <a:defRPr sz="1050" b="0">
                <a:solidFill>
                  <a:srgbClr val="58677E"/>
                </a:solidFill>
                <a:latin typeface="Arial"/>
                <a:ea typeface="Arial"/>
                <a:cs typeface="Arial"/>
              </a:defRPr>
            </a:lvl9pPr>
          </a:lstStyle>
          <a:p xmlns:a="http://schemas.openxmlformats.org/drawingml/2006/main">
            <a:pPr>
              <a:defRPr sz="1050" b="0">
                <a:solidFill>
                  <a:srgbClr val="58677E"/>
                </a:solidFill>
                <a:latin typeface="Arial"/>
                <a:ea typeface="Arial"/>
                <a:cs typeface="Arial"/>
              </a:defRPr>
            </a:pPr>
            <a:r>
              <a:t>Sources: </a:t>
            </a:r>
            <a:r>
              <a:rPr>
                <a:hlinkClick xmlns:r="http://schemas.openxmlformats.org/officeDocument/2006/relationships" r:id="Rc491c6c1d86f4c59"/>
              </a:rPr>
              <a:t>NN/g, Scrolling and Attention (2018)</a:t>
            </a:r>
            <a:r>
              <a:t>; </a:t>
            </a:r>
            <a:r>
              <a:rPr>
                <a:hlinkClick xmlns:r="http://schemas.openxmlformats.org/officeDocument/2006/relationships" r:id="Ra2d65dc164174dbb"/>
              </a:rPr>
              <a:t>CFA Institute, Investor Trust Survey (2018)</a:t>
            </a:r>
          </a:p>
        </p:txBody>
      </p:sp>
    </p:spTree>
    <p:extLst>
      <p:ext uri="{BB962C8B-B14F-4D97-AF65-F5344CB8AC3E}">
        <p14:creationId xmlns:p14="http://schemas.microsoft.com/office/powerpoint/2010/main" val="54488990"/>
      </p:ext>
    </p:extLst>
  </p:cSld>
</p:sld>
</file>

<file path=ppt/slides/slide2.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60D1AD-3437-4BC8-AC72-D273925730BE}"/>
              </a:ext>
            </a:extLst>
          </p:cNvPr>
          <p:cNvSpPr>
            <a:spLocks xmlns:a="http://schemas.openxmlformats.org/drawingml/2006/main" noGrp="1"/>
          </p:cNvSpPr>
          <p:nvPr/>
        </p:nvSpPr>
        <p:spPr>
          <a:xfrm xmlns:a="http://schemas.openxmlformats.org/drawingml/2006/main">
            <a:off x="590550" y="2857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28369F"/>
                </a:solidFill>
                <a:latin typeface="Arial"/>
                <a:ea typeface="Arial"/>
                <a:cs typeface="Arial"/>
              </a:defRPr>
            </a:defPPr>
            <a:lvl1pPr>
              <a:defRPr sz="1050" b="1">
                <a:solidFill>
                  <a:srgbClr val="28369F"/>
                </a:solidFill>
                <a:latin typeface="Arial"/>
                <a:ea typeface="Arial"/>
                <a:cs typeface="Arial"/>
              </a:defRPr>
            </a:lvl1pPr>
            <a:lvl2pPr>
              <a:defRPr sz="1050" b="1">
                <a:solidFill>
                  <a:srgbClr val="28369F"/>
                </a:solidFill>
                <a:latin typeface="Arial"/>
                <a:ea typeface="Arial"/>
                <a:cs typeface="Arial"/>
              </a:defRPr>
            </a:lvl2pPr>
            <a:lvl3pPr>
              <a:defRPr sz="1050" b="1">
                <a:solidFill>
                  <a:srgbClr val="28369F"/>
                </a:solidFill>
                <a:latin typeface="Arial"/>
                <a:ea typeface="Arial"/>
                <a:cs typeface="Arial"/>
              </a:defRPr>
            </a:lvl3pPr>
            <a:lvl4pPr>
              <a:defRPr sz="1050" b="1">
                <a:solidFill>
                  <a:srgbClr val="28369F"/>
                </a:solidFill>
                <a:latin typeface="Arial"/>
                <a:ea typeface="Arial"/>
                <a:cs typeface="Arial"/>
              </a:defRPr>
            </a:lvl4pPr>
            <a:lvl5pPr>
              <a:defRPr sz="1050" b="1">
                <a:solidFill>
                  <a:srgbClr val="28369F"/>
                </a:solidFill>
                <a:latin typeface="Arial"/>
                <a:ea typeface="Arial"/>
                <a:cs typeface="Arial"/>
              </a:defRPr>
            </a:lvl5pPr>
            <a:lvl6pPr>
              <a:defRPr sz="1050" b="1">
                <a:solidFill>
                  <a:srgbClr val="28369F"/>
                </a:solidFill>
                <a:latin typeface="Arial"/>
                <a:ea typeface="Arial"/>
                <a:cs typeface="Arial"/>
              </a:defRPr>
            </a:lvl6pPr>
            <a:lvl7pPr>
              <a:defRPr sz="1050" b="1">
                <a:solidFill>
                  <a:srgbClr val="28369F"/>
                </a:solidFill>
                <a:latin typeface="Arial"/>
                <a:ea typeface="Arial"/>
                <a:cs typeface="Arial"/>
              </a:defRPr>
            </a:lvl7pPr>
            <a:lvl8pPr>
              <a:defRPr sz="1050" b="1">
                <a:solidFill>
                  <a:srgbClr val="28369F"/>
                </a:solidFill>
                <a:latin typeface="Arial"/>
                <a:ea typeface="Arial"/>
                <a:cs typeface="Arial"/>
              </a:defRPr>
            </a:lvl8pPr>
            <a:lvl9pPr>
              <a:defRPr sz="1050" b="1">
                <a:solidFill>
                  <a:srgbClr val="28369F"/>
                </a:solidFill>
                <a:latin typeface="Arial"/>
                <a:ea typeface="Arial"/>
                <a:cs typeface="Arial"/>
              </a:defRPr>
            </a:lvl9pPr>
          </a:lstStyle>
          <a:p xmlns:a="http://schemas.openxmlformats.org/drawingml/2006/main">
            <a:pPr>
              <a:defRPr sz="1050" b="1">
                <a:solidFill>
                  <a:srgbClr val="28369F"/>
                </a:solidFill>
                <a:latin typeface="Arial"/>
                <a:ea typeface="Arial"/>
                <a:cs typeface="Arial"/>
              </a:defRPr>
            </a:pPr>
            <a:r>
              <a:rPr sz="1050" b="1">
                <a:solidFill>
                  <a:srgbClr val="28369F"/>
                </a:solidFill>
                <a:latin typeface="Arial"/>
                <a:ea typeface="Arial"/>
                <a:cs typeface="Arial"/>
              </a:rPr>
              <a:t>PROPOSED EXPERIENCE</a:t>
            </a:r>
          </a:p>
        </p:txBody>
      </p:sp>
      <p:sp>
        <p:nvSpPr>
          <p:cNvPr id="2" name="">
            <a:extLst xmlns:a="http://schemas.openxmlformats.org/drawingml/2006/main">
              <a:ext uri="{FF2B5EF4-FFF2-40B4-BE49-F238E27FC236}">
                <a16:creationId xmlns:a16="http://schemas.microsoft.com/office/drawing/2014/main" id="{17A8A75B-F901-495D-98FA-FEE554F8A151}"/>
              </a:ext>
            </a:extLst>
          </p:cNvPr>
          <p:cNvSpPr>
            <a:spLocks xmlns:a="http://schemas.openxmlformats.org/drawingml/2006/main" noGrp="1"/>
          </p:cNvSpPr>
          <p:nvPr/>
        </p:nvSpPr>
        <p:spPr>
          <a:xfrm xmlns:a="http://schemas.openxmlformats.org/drawingml/2006/main">
            <a:off x="590550" y="714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63E"/>
                </a:solidFill>
                <a:latin typeface="Arial"/>
                <a:ea typeface="Arial"/>
                <a:cs typeface="Arial"/>
              </a:defRPr>
            </a:defPPr>
            <a:lvl1pPr>
              <a:defRPr sz="3225" b="1">
                <a:solidFill>
                  <a:srgbClr val="17263E"/>
                </a:solidFill>
                <a:latin typeface="Arial"/>
                <a:ea typeface="Arial"/>
                <a:cs typeface="Arial"/>
              </a:defRPr>
            </a:lvl1pPr>
            <a:lvl2pPr>
              <a:defRPr sz="3225" b="1">
                <a:solidFill>
                  <a:srgbClr val="17263E"/>
                </a:solidFill>
                <a:latin typeface="Arial"/>
                <a:ea typeface="Arial"/>
                <a:cs typeface="Arial"/>
              </a:defRPr>
            </a:lvl2pPr>
            <a:lvl3pPr>
              <a:defRPr sz="3225" b="1">
                <a:solidFill>
                  <a:srgbClr val="17263E"/>
                </a:solidFill>
                <a:latin typeface="Arial"/>
                <a:ea typeface="Arial"/>
                <a:cs typeface="Arial"/>
              </a:defRPr>
            </a:lvl3pPr>
            <a:lvl4pPr>
              <a:defRPr sz="3225" b="1">
                <a:solidFill>
                  <a:srgbClr val="17263E"/>
                </a:solidFill>
                <a:latin typeface="Arial"/>
                <a:ea typeface="Arial"/>
                <a:cs typeface="Arial"/>
              </a:defRPr>
            </a:lvl4pPr>
            <a:lvl5pPr>
              <a:defRPr sz="3225" b="1">
                <a:solidFill>
                  <a:srgbClr val="17263E"/>
                </a:solidFill>
                <a:latin typeface="Arial"/>
                <a:ea typeface="Arial"/>
                <a:cs typeface="Arial"/>
              </a:defRPr>
            </a:lvl5pPr>
            <a:lvl6pPr>
              <a:defRPr sz="3225" b="1">
                <a:solidFill>
                  <a:srgbClr val="17263E"/>
                </a:solidFill>
                <a:latin typeface="Arial"/>
                <a:ea typeface="Arial"/>
                <a:cs typeface="Arial"/>
              </a:defRPr>
            </a:lvl6pPr>
            <a:lvl7pPr>
              <a:defRPr sz="3225" b="1">
                <a:solidFill>
                  <a:srgbClr val="17263E"/>
                </a:solidFill>
                <a:latin typeface="Arial"/>
                <a:ea typeface="Arial"/>
                <a:cs typeface="Arial"/>
              </a:defRPr>
            </a:lvl7pPr>
            <a:lvl8pPr>
              <a:defRPr sz="3225" b="1">
                <a:solidFill>
                  <a:srgbClr val="17263E"/>
                </a:solidFill>
                <a:latin typeface="Arial"/>
                <a:ea typeface="Arial"/>
                <a:cs typeface="Arial"/>
              </a:defRPr>
            </a:lvl8pPr>
            <a:lvl9pPr>
              <a:defRPr sz="3225" b="1">
                <a:solidFill>
                  <a:srgbClr val="17263E"/>
                </a:solidFill>
                <a:latin typeface="Arial"/>
                <a:ea typeface="Arial"/>
                <a:cs typeface="Arial"/>
              </a:defRPr>
            </a:lvl9pPr>
          </a:lstStyle>
          <a:p xmlns:a="http://schemas.openxmlformats.org/drawingml/2006/main">
            <a:pPr>
              <a:defRPr sz="3225" b="1">
                <a:solidFill>
                  <a:srgbClr val="17263E"/>
                </a:solidFill>
                <a:latin typeface="Arial"/>
                <a:ea typeface="Arial"/>
                <a:cs typeface="Arial"/>
              </a:defRPr>
            </a:pPr>
            <a:r>
              <a:rPr sz="3225" b="1">
                <a:solidFill>
                  <a:srgbClr val="17263E"/>
                </a:solidFill>
                <a:latin typeface="Arial"/>
                <a:ea typeface="Arial"/>
                <a:cs typeface="Arial"/>
              </a:rPr>
              <a:t>A shorter route to a considered choice</a:t>
            </a:r>
          </a:p>
        </p:txBody>
      </p:sp>
      <p:sp>
        <p:nvSpPr>
          <p:cNvPr id="3" name="">
            <a:extLst xmlns:a="http://schemas.openxmlformats.org/drawingml/2006/main">
              <a:ext uri="{FF2B5EF4-FFF2-40B4-BE49-F238E27FC236}">
                <a16:creationId xmlns:a16="http://schemas.microsoft.com/office/drawing/2014/main" id="{1AC12CFB-AA3A-46C8-B7FF-B17C9EB89732}"/>
              </a:ext>
            </a:extLst>
          </p:cNvPr>
          <p:cNvSpPr>
            <a:spLocks xmlns:a="http://schemas.openxmlformats.org/drawingml/2006/main" noGrp="1"/>
          </p:cNvSpPr>
          <p:nvPr/>
        </p:nvSpPr>
        <p:spPr>
          <a:xfrm xmlns:a="http://schemas.openxmlformats.org/drawingml/2006/main">
            <a:off x="590550" y="1876425"/>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8369F"/>
                </a:solidFill>
                <a:latin typeface="Arial"/>
                <a:ea typeface="Arial"/>
                <a:cs typeface="Arial"/>
              </a:defRPr>
            </a:defPPr>
            <a:lvl1pPr>
              <a:defRPr sz="1875" b="1">
                <a:solidFill>
                  <a:srgbClr val="28369F"/>
                </a:solidFill>
                <a:latin typeface="Arial"/>
                <a:ea typeface="Arial"/>
                <a:cs typeface="Arial"/>
              </a:defRPr>
            </a:lvl1pPr>
            <a:lvl2pPr>
              <a:defRPr sz="1875" b="1">
                <a:solidFill>
                  <a:srgbClr val="28369F"/>
                </a:solidFill>
                <a:latin typeface="Arial"/>
                <a:ea typeface="Arial"/>
                <a:cs typeface="Arial"/>
              </a:defRPr>
            </a:lvl2pPr>
            <a:lvl3pPr>
              <a:defRPr sz="1875" b="1">
                <a:solidFill>
                  <a:srgbClr val="28369F"/>
                </a:solidFill>
                <a:latin typeface="Arial"/>
                <a:ea typeface="Arial"/>
                <a:cs typeface="Arial"/>
              </a:defRPr>
            </a:lvl3pPr>
            <a:lvl4pPr>
              <a:defRPr sz="1875" b="1">
                <a:solidFill>
                  <a:srgbClr val="28369F"/>
                </a:solidFill>
                <a:latin typeface="Arial"/>
                <a:ea typeface="Arial"/>
                <a:cs typeface="Arial"/>
              </a:defRPr>
            </a:lvl4pPr>
            <a:lvl5pPr>
              <a:defRPr sz="1875" b="1">
                <a:solidFill>
                  <a:srgbClr val="28369F"/>
                </a:solidFill>
                <a:latin typeface="Arial"/>
                <a:ea typeface="Arial"/>
                <a:cs typeface="Arial"/>
              </a:defRPr>
            </a:lvl5pPr>
            <a:lvl6pPr>
              <a:defRPr sz="1875" b="1">
                <a:solidFill>
                  <a:srgbClr val="28369F"/>
                </a:solidFill>
                <a:latin typeface="Arial"/>
                <a:ea typeface="Arial"/>
                <a:cs typeface="Arial"/>
              </a:defRPr>
            </a:lvl6pPr>
            <a:lvl7pPr>
              <a:defRPr sz="1875" b="1">
                <a:solidFill>
                  <a:srgbClr val="28369F"/>
                </a:solidFill>
                <a:latin typeface="Arial"/>
                <a:ea typeface="Arial"/>
                <a:cs typeface="Arial"/>
              </a:defRPr>
            </a:lvl7pPr>
            <a:lvl8pPr>
              <a:defRPr sz="1875" b="1">
                <a:solidFill>
                  <a:srgbClr val="28369F"/>
                </a:solidFill>
                <a:latin typeface="Arial"/>
                <a:ea typeface="Arial"/>
                <a:cs typeface="Arial"/>
              </a:defRPr>
            </a:lvl8pPr>
            <a:lvl9pPr>
              <a:defRPr sz="1875" b="1">
                <a:solidFill>
                  <a:srgbClr val="28369F"/>
                </a:solidFill>
                <a:latin typeface="Arial"/>
                <a:ea typeface="Arial"/>
                <a:cs typeface="Arial"/>
              </a:defRPr>
            </a:lvl9pPr>
          </a:lstStyle>
          <a:p xmlns:a="http://schemas.openxmlformats.org/drawingml/2006/main">
            <a:pPr>
              <a:defRPr sz="1875" b="1">
                <a:solidFill>
                  <a:srgbClr val="28369F"/>
                </a:solidFill>
                <a:latin typeface="Arial"/>
                <a:ea typeface="Arial"/>
                <a:cs typeface="Arial"/>
              </a:defRPr>
            </a:pPr>
            <a:r>
              <a:rPr sz="1875" b="1">
                <a:solidFill>
                  <a:srgbClr val="28369F"/>
                </a:solidFill>
                <a:latin typeface="Arial"/>
                <a:ea typeface="Arial"/>
                <a:cs typeface="Arial"/>
              </a:rPr>
              <a:t>Familiar products, useful facts</a:t>
            </a:r>
          </a:p>
        </p:txBody>
      </p:sp>
      <p:sp>
        <p:nvSpPr>
          <p:cNvPr id="4" name="">
            <a:extLst xmlns:a="http://schemas.openxmlformats.org/drawingml/2006/main">
              <a:ext uri="{FF2B5EF4-FFF2-40B4-BE49-F238E27FC236}">
                <a16:creationId xmlns:a16="http://schemas.microsoft.com/office/drawing/2014/main" id="{3CCEC121-B163-4386-B150-4B374776AE38}"/>
              </a:ext>
            </a:extLst>
          </p:cNvPr>
          <p:cNvSpPr>
            <a:spLocks xmlns:a="http://schemas.openxmlformats.org/drawingml/2006/main" noGrp="1"/>
          </p:cNvSpPr>
          <p:nvPr/>
        </p:nvSpPr>
        <p:spPr>
          <a:xfrm xmlns:a="http://schemas.openxmlformats.org/drawingml/2006/main">
            <a:off x="590550" y="232410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63E"/>
                </a:solidFill>
                <a:latin typeface="Arial"/>
                <a:ea typeface="Arial"/>
                <a:cs typeface="Arial"/>
              </a:defRPr>
            </a:defPPr>
            <a:lvl1pPr>
              <a:defRPr sz="1800" b="0">
                <a:solidFill>
                  <a:srgbClr val="17263E"/>
                </a:solidFill>
                <a:latin typeface="Arial"/>
                <a:ea typeface="Arial"/>
                <a:cs typeface="Arial"/>
              </a:defRPr>
            </a:lvl1pPr>
            <a:lvl2pPr>
              <a:defRPr sz="1800" b="0">
                <a:solidFill>
                  <a:srgbClr val="17263E"/>
                </a:solidFill>
                <a:latin typeface="Arial"/>
                <a:ea typeface="Arial"/>
                <a:cs typeface="Arial"/>
              </a:defRPr>
            </a:lvl2pPr>
            <a:lvl3pPr>
              <a:defRPr sz="1800" b="0">
                <a:solidFill>
                  <a:srgbClr val="17263E"/>
                </a:solidFill>
                <a:latin typeface="Arial"/>
                <a:ea typeface="Arial"/>
                <a:cs typeface="Arial"/>
              </a:defRPr>
            </a:lvl3pPr>
            <a:lvl4pPr>
              <a:defRPr sz="1800" b="0">
                <a:solidFill>
                  <a:srgbClr val="17263E"/>
                </a:solidFill>
                <a:latin typeface="Arial"/>
                <a:ea typeface="Arial"/>
                <a:cs typeface="Arial"/>
              </a:defRPr>
            </a:lvl4pPr>
            <a:lvl5pPr>
              <a:defRPr sz="1800" b="0">
                <a:solidFill>
                  <a:srgbClr val="17263E"/>
                </a:solidFill>
                <a:latin typeface="Arial"/>
                <a:ea typeface="Arial"/>
                <a:cs typeface="Arial"/>
              </a:defRPr>
            </a:lvl5pPr>
            <a:lvl6pPr>
              <a:defRPr sz="1800" b="0">
                <a:solidFill>
                  <a:srgbClr val="17263E"/>
                </a:solidFill>
                <a:latin typeface="Arial"/>
                <a:ea typeface="Arial"/>
                <a:cs typeface="Arial"/>
              </a:defRPr>
            </a:lvl6pPr>
            <a:lvl7pPr>
              <a:defRPr sz="1800" b="0">
                <a:solidFill>
                  <a:srgbClr val="17263E"/>
                </a:solidFill>
                <a:latin typeface="Arial"/>
                <a:ea typeface="Arial"/>
                <a:cs typeface="Arial"/>
              </a:defRPr>
            </a:lvl7pPr>
            <a:lvl8pPr>
              <a:defRPr sz="1800" b="0">
                <a:solidFill>
                  <a:srgbClr val="17263E"/>
                </a:solidFill>
                <a:latin typeface="Arial"/>
                <a:ea typeface="Arial"/>
                <a:cs typeface="Arial"/>
              </a:defRPr>
            </a:lvl8pPr>
            <a:lvl9pPr>
              <a:defRPr sz="1800" b="0">
                <a:solidFill>
                  <a:srgbClr val="17263E"/>
                </a:solidFill>
                <a:latin typeface="Arial"/>
                <a:ea typeface="Arial"/>
                <a:cs typeface="Arial"/>
              </a:defRPr>
            </a:lvl9pPr>
          </a:lstStyle>
          <a:p xmlns:a="http://schemas.openxmlformats.org/drawingml/2006/main">
            <a:pPr>
              <a:defRPr sz="1800" b="0">
                <a:solidFill>
                  <a:srgbClr val="17263E"/>
                </a:solidFill>
                <a:latin typeface="Arial"/>
                <a:ea typeface="Arial"/>
                <a:cs typeface="Arial"/>
              </a:defRPr>
            </a:pPr>
            <a:r>
              <a:rPr sz="1800" b="0">
                <a:solidFill>
                  <a:srgbClr val="17263E"/>
                </a:solidFill>
                <a:latin typeface="Arial"/>
                <a:ea typeface="Arial"/>
                <a:cs typeface="Arial"/>
              </a:rPr>
              <a:t>Company, exposure and price are visible on compact cards. Search narrows the set; it does not add another shelf.</a:t>
            </a:r>
          </a:p>
        </p:txBody>
      </p:sp>
      <p:sp>
        <p:nvSpPr>
          <p:cNvPr id="5" name="">
            <a:extLst xmlns:a="http://schemas.openxmlformats.org/drawingml/2006/main">
              <a:ext uri="{FF2B5EF4-FFF2-40B4-BE49-F238E27FC236}">
                <a16:creationId xmlns:a16="http://schemas.microsoft.com/office/drawing/2014/main" id="{3F32EC75-4945-4370-A6DD-CEE66FF5C01E}"/>
              </a:ext>
            </a:extLst>
          </p:cNvPr>
          <p:cNvSpPr>
            <a:spLocks xmlns:a="http://schemas.openxmlformats.org/drawingml/2006/main" noGrp="1"/>
          </p:cNvSpPr>
          <p:nvPr/>
        </p:nvSpPr>
        <p:spPr>
          <a:xfrm xmlns:a="http://schemas.openxmlformats.org/drawingml/2006/main">
            <a:off x="590550" y="3552825"/>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8369F"/>
                </a:solidFill>
                <a:latin typeface="Arial"/>
                <a:ea typeface="Arial"/>
                <a:cs typeface="Arial"/>
              </a:defRPr>
            </a:defPPr>
            <a:lvl1pPr>
              <a:defRPr sz="1875" b="1">
                <a:solidFill>
                  <a:srgbClr val="28369F"/>
                </a:solidFill>
                <a:latin typeface="Arial"/>
                <a:ea typeface="Arial"/>
                <a:cs typeface="Arial"/>
              </a:defRPr>
            </a:lvl1pPr>
            <a:lvl2pPr>
              <a:defRPr sz="1875" b="1">
                <a:solidFill>
                  <a:srgbClr val="28369F"/>
                </a:solidFill>
                <a:latin typeface="Arial"/>
                <a:ea typeface="Arial"/>
                <a:cs typeface="Arial"/>
              </a:defRPr>
            </a:lvl2pPr>
            <a:lvl3pPr>
              <a:defRPr sz="1875" b="1">
                <a:solidFill>
                  <a:srgbClr val="28369F"/>
                </a:solidFill>
                <a:latin typeface="Arial"/>
                <a:ea typeface="Arial"/>
                <a:cs typeface="Arial"/>
              </a:defRPr>
            </a:lvl3pPr>
            <a:lvl4pPr>
              <a:defRPr sz="1875" b="1">
                <a:solidFill>
                  <a:srgbClr val="28369F"/>
                </a:solidFill>
                <a:latin typeface="Arial"/>
                <a:ea typeface="Arial"/>
                <a:cs typeface="Arial"/>
              </a:defRPr>
            </a:lvl4pPr>
            <a:lvl5pPr>
              <a:defRPr sz="1875" b="1">
                <a:solidFill>
                  <a:srgbClr val="28369F"/>
                </a:solidFill>
                <a:latin typeface="Arial"/>
                <a:ea typeface="Arial"/>
                <a:cs typeface="Arial"/>
              </a:defRPr>
            </a:lvl5pPr>
            <a:lvl6pPr>
              <a:defRPr sz="1875" b="1">
                <a:solidFill>
                  <a:srgbClr val="28369F"/>
                </a:solidFill>
                <a:latin typeface="Arial"/>
                <a:ea typeface="Arial"/>
                <a:cs typeface="Arial"/>
              </a:defRPr>
            </a:lvl6pPr>
            <a:lvl7pPr>
              <a:defRPr sz="1875" b="1">
                <a:solidFill>
                  <a:srgbClr val="28369F"/>
                </a:solidFill>
                <a:latin typeface="Arial"/>
                <a:ea typeface="Arial"/>
                <a:cs typeface="Arial"/>
              </a:defRPr>
            </a:lvl7pPr>
            <a:lvl8pPr>
              <a:defRPr sz="1875" b="1">
                <a:solidFill>
                  <a:srgbClr val="28369F"/>
                </a:solidFill>
                <a:latin typeface="Arial"/>
                <a:ea typeface="Arial"/>
                <a:cs typeface="Arial"/>
              </a:defRPr>
            </a:lvl8pPr>
            <a:lvl9pPr>
              <a:defRPr sz="1875" b="1">
                <a:solidFill>
                  <a:srgbClr val="28369F"/>
                </a:solidFill>
                <a:latin typeface="Arial"/>
                <a:ea typeface="Arial"/>
                <a:cs typeface="Arial"/>
              </a:defRPr>
            </a:lvl9pPr>
          </a:lstStyle>
          <a:p xmlns:a="http://schemas.openxmlformats.org/drawingml/2006/main">
            <a:pPr>
              <a:defRPr sz="1875" b="1">
                <a:solidFill>
                  <a:srgbClr val="28369F"/>
                </a:solidFill>
                <a:latin typeface="Arial"/>
                <a:ea typeface="Arial"/>
                <a:cs typeface="Arial"/>
              </a:defRPr>
            </a:pPr>
            <a:r>
              <a:rPr sz="1875" b="1">
                <a:solidFill>
                  <a:srgbClr val="28369F"/>
                </a:solidFill>
                <a:latin typeface="Arial"/>
                <a:ea typeface="Arial"/>
                <a:cs typeface="Arial"/>
              </a:rPr>
              <a:t>A comparison before commitment</a:t>
            </a:r>
          </a:p>
        </p:txBody>
      </p:sp>
      <p:sp>
        <p:nvSpPr>
          <p:cNvPr id="6" name="">
            <a:extLst xmlns:a="http://schemas.openxmlformats.org/drawingml/2006/main">
              <a:ext uri="{FF2B5EF4-FFF2-40B4-BE49-F238E27FC236}">
                <a16:creationId xmlns:a16="http://schemas.microsoft.com/office/drawing/2014/main" id="{701A3913-436C-44A9-A567-DE2BD54905DA}"/>
              </a:ext>
            </a:extLst>
          </p:cNvPr>
          <p:cNvSpPr>
            <a:spLocks xmlns:a="http://schemas.openxmlformats.org/drawingml/2006/main" noGrp="1"/>
          </p:cNvSpPr>
          <p:nvPr/>
        </p:nvSpPr>
        <p:spPr>
          <a:xfrm xmlns:a="http://schemas.openxmlformats.org/drawingml/2006/main">
            <a:off x="590550" y="3990975"/>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63E"/>
                </a:solidFill>
                <a:latin typeface="Arial"/>
                <a:ea typeface="Arial"/>
                <a:cs typeface="Arial"/>
              </a:defRPr>
            </a:defPPr>
            <a:lvl1pPr>
              <a:defRPr sz="1800" b="0">
                <a:solidFill>
                  <a:srgbClr val="17263E"/>
                </a:solidFill>
                <a:latin typeface="Arial"/>
                <a:ea typeface="Arial"/>
                <a:cs typeface="Arial"/>
              </a:defRPr>
            </a:lvl1pPr>
            <a:lvl2pPr>
              <a:defRPr sz="1800" b="0">
                <a:solidFill>
                  <a:srgbClr val="17263E"/>
                </a:solidFill>
                <a:latin typeface="Arial"/>
                <a:ea typeface="Arial"/>
                <a:cs typeface="Arial"/>
              </a:defRPr>
            </a:lvl2pPr>
            <a:lvl3pPr>
              <a:defRPr sz="1800" b="0">
                <a:solidFill>
                  <a:srgbClr val="17263E"/>
                </a:solidFill>
                <a:latin typeface="Arial"/>
                <a:ea typeface="Arial"/>
                <a:cs typeface="Arial"/>
              </a:defRPr>
            </a:lvl3pPr>
            <a:lvl4pPr>
              <a:defRPr sz="1800" b="0">
                <a:solidFill>
                  <a:srgbClr val="17263E"/>
                </a:solidFill>
                <a:latin typeface="Arial"/>
                <a:ea typeface="Arial"/>
                <a:cs typeface="Arial"/>
              </a:defRPr>
            </a:lvl4pPr>
            <a:lvl5pPr>
              <a:defRPr sz="1800" b="0">
                <a:solidFill>
                  <a:srgbClr val="17263E"/>
                </a:solidFill>
                <a:latin typeface="Arial"/>
                <a:ea typeface="Arial"/>
                <a:cs typeface="Arial"/>
              </a:defRPr>
            </a:lvl5pPr>
            <a:lvl6pPr>
              <a:defRPr sz="1800" b="0">
                <a:solidFill>
                  <a:srgbClr val="17263E"/>
                </a:solidFill>
                <a:latin typeface="Arial"/>
                <a:ea typeface="Arial"/>
                <a:cs typeface="Arial"/>
              </a:defRPr>
            </a:lvl6pPr>
            <a:lvl7pPr>
              <a:defRPr sz="1800" b="0">
                <a:solidFill>
                  <a:srgbClr val="17263E"/>
                </a:solidFill>
                <a:latin typeface="Arial"/>
                <a:ea typeface="Arial"/>
                <a:cs typeface="Arial"/>
              </a:defRPr>
            </a:lvl7pPr>
            <a:lvl8pPr>
              <a:defRPr sz="1800" b="0">
                <a:solidFill>
                  <a:srgbClr val="17263E"/>
                </a:solidFill>
                <a:latin typeface="Arial"/>
                <a:ea typeface="Arial"/>
                <a:cs typeface="Arial"/>
              </a:defRPr>
            </a:lvl8pPr>
            <a:lvl9pPr>
              <a:defRPr sz="1800" b="0">
                <a:solidFill>
                  <a:srgbClr val="17263E"/>
                </a:solidFill>
                <a:latin typeface="Arial"/>
                <a:ea typeface="Arial"/>
                <a:cs typeface="Arial"/>
              </a:defRPr>
            </a:lvl9pPr>
          </a:lstStyle>
          <a:p xmlns:a="http://schemas.openxmlformats.org/drawingml/2006/main">
            <a:pPr>
              <a:defRPr sz="1800" b="0">
                <a:solidFill>
                  <a:srgbClr val="17263E"/>
                </a:solidFill>
                <a:latin typeface="Arial"/>
                <a:ea typeface="Arial"/>
                <a:cs typeface="Arial"/>
              </a:defRPr>
            </a:pPr>
            <a:r>
              <a:rPr sz="1800" b="0">
                <a:solidFill>
                  <a:srgbClr val="17263E"/>
                </a:solidFill>
                <a:latin typeface="Arial"/>
                <a:ea typeface="Arial"/>
                <a:cs typeface="Arial"/>
              </a:rPr>
              <a:t>Compare two companies, then open a stable detail screen for entry cost, currency exposure and account setup.</a:t>
            </a:r>
          </a:p>
        </p:txBody>
      </p:sp>
      <p:sp>
        <p:nvSpPr>
          <p:cNvPr id="7" name="">
            <a:extLst xmlns:a="http://schemas.openxmlformats.org/drawingml/2006/main">
              <a:ext uri="{FF2B5EF4-FFF2-40B4-BE49-F238E27FC236}">
                <a16:creationId xmlns:a16="http://schemas.microsoft.com/office/drawing/2014/main" id="{3DDFD917-8546-4028-B0F3-AF9318735EEA}"/>
              </a:ext>
            </a:extLst>
          </p:cNvPr>
          <p:cNvSpPr>
            <a:spLocks xmlns:a="http://schemas.openxmlformats.org/drawingml/2006/main" noGrp="1"/>
          </p:cNvSpPr>
          <p:nvPr/>
        </p:nvSpPr>
        <p:spPr>
          <a:xfrm xmlns:a="http://schemas.openxmlformats.org/drawingml/2006/main">
            <a:off x="590550" y="52387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28369F"/>
                </a:solidFill>
                <a:latin typeface="Arial"/>
                <a:ea typeface="Arial"/>
                <a:cs typeface="Arial"/>
              </a:defRPr>
            </a:defPPr>
            <a:lvl1pPr>
              <a:defRPr sz="1575" b="1">
                <a:solidFill>
                  <a:srgbClr val="28369F"/>
                </a:solidFill>
                <a:latin typeface="Arial"/>
                <a:ea typeface="Arial"/>
                <a:cs typeface="Arial"/>
              </a:defRPr>
            </a:lvl1pPr>
            <a:lvl2pPr>
              <a:defRPr sz="1575" b="1">
                <a:solidFill>
                  <a:srgbClr val="28369F"/>
                </a:solidFill>
                <a:latin typeface="Arial"/>
                <a:ea typeface="Arial"/>
                <a:cs typeface="Arial"/>
              </a:defRPr>
            </a:lvl2pPr>
            <a:lvl3pPr>
              <a:defRPr sz="1575" b="1">
                <a:solidFill>
                  <a:srgbClr val="28369F"/>
                </a:solidFill>
                <a:latin typeface="Arial"/>
                <a:ea typeface="Arial"/>
                <a:cs typeface="Arial"/>
              </a:defRPr>
            </a:lvl3pPr>
            <a:lvl4pPr>
              <a:defRPr sz="1575" b="1">
                <a:solidFill>
                  <a:srgbClr val="28369F"/>
                </a:solidFill>
                <a:latin typeface="Arial"/>
                <a:ea typeface="Arial"/>
                <a:cs typeface="Arial"/>
              </a:defRPr>
            </a:lvl4pPr>
            <a:lvl5pPr>
              <a:defRPr sz="1575" b="1">
                <a:solidFill>
                  <a:srgbClr val="28369F"/>
                </a:solidFill>
                <a:latin typeface="Arial"/>
                <a:ea typeface="Arial"/>
                <a:cs typeface="Arial"/>
              </a:defRPr>
            </a:lvl5pPr>
            <a:lvl6pPr>
              <a:defRPr sz="1575" b="1">
                <a:solidFill>
                  <a:srgbClr val="28369F"/>
                </a:solidFill>
                <a:latin typeface="Arial"/>
                <a:ea typeface="Arial"/>
                <a:cs typeface="Arial"/>
              </a:defRPr>
            </a:lvl6pPr>
            <a:lvl7pPr>
              <a:defRPr sz="1575" b="1">
                <a:solidFill>
                  <a:srgbClr val="28369F"/>
                </a:solidFill>
                <a:latin typeface="Arial"/>
                <a:ea typeface="Arial"/>
                <a:cs typeface="Arial"/>
              </a:defRPr>
            </a:lvl7pPr>
            <a:lvl8pPr>
              <a:defRPr sz="1575" b="1">
                <a:solidFill>
                  <a:srgbClr val="28369F"/>
                </a:solidFill>
                <a:latin typeface="Arial"/>
                <a:ea typeface="Arial"/>
                <a:cs typeface="Arial"/>
              </a:defRPr>
            </a:lvl8pPr>
            <a:lvl9pPr>
              <a:defRPr sz="1575" b="1">
                <a:solidFill>
                  <a:srgbClr val="28369F"/>
                </a:solidFill>
                <a:latin typeface="Arial"/>
                <a:ea typeface="Arial"/>
                <a:cs typeface="Arial"/>
              </a:defRPr>
            </a:lvl9pPr>
          </a:lstStyle>
          <a:p xmlns:a="http://schemas.openxmlformats.org/drawingml/2006/main">
            <a:pPr>
              <a:defRPr sz="1575" b="1">
                <a:solidFill>
                  <a:srgbClr val="28369F"/>
                </a:solidFill>
                <a:latin typeface="Arial"/>
                <a:ea typeface="Arial"/>
                <a:cs typeface="Arial"/>
              </a:defRPr>
            </a:pPr>
            <a:r>
              <a:rPr sz="1575" b="1">
                <a:solidFill>
                  <a:srgbClr val="28369F"/>
                </a:solidFill>
                <a:latin typeface="Arial"/>
                <a:ea typeface="Arial"/>
                <a:cs typeface="Arial"/>
              </a:rPr>
              <a:t>Motion is optional</a:t>
            </a:r>
          </a:p>
        </p:txBody>
      </p:sp>
      <p:sp>
        <p:nvSpPr>
          <p:cNvPr id="8" name="">
            <a:extLst xmlns:a="http://schemas.openxmlformats.org/drawingml/2006/main">
              <a:ext uri="{FF2B5EF4-FFF2-40B4-BE49-F238E27FC236}">
                <a16:creationId xmlns:a16="http://schemas.microsoft.com/office/drawing/2014/main" id="{E10F596E-3F8C-4750-9692-5C767FAD93D1}"/>
              </a:ext>
            </a:extLst>
          </p:cNvPr>
          <p:cNvSpPr>
            <a:spLocks xmlns:a="http://schemas.openxmlformats.org/drawingml/2006/main" noGrp="1"/>
          </p:cNvSpPr>
          <p:nvPr/>
        </p:nvSpPr>
        <p:spPr>
          <a:xfrm xmlns:a="http://schemas.openxmlformats.org/drawingml/2006/main">
            <a:off x="590550" y="5591175"/>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8677E"/>
                </a:solidFill>
                <a:latin typeface="Arial"/>
                <a:ea typeface="Arial"/>
                <a:cs typeface="Arial"/>
              </a:defRPr>
            </a:defPPr>
            <a:lvl1pPr>
              <a:defRPr sz="1425" b="0">
                <a:solidFill>
                  <a:srgbClr val="58677E"/>
                </a:solidFill>
                <a:latin typeface="Arial"/>
                <a:ea typeface="Arial"/>
                <a:cs typeface="Arial"/>
              </a:defRPr>
            </a:lvl1pPr>
            <a:lvl2pPr>
              <a:defRPr sz="1425" b="0">
                <a:solidFill>
                  <a:srgbClr val="58677E"/>
                </a:solidFill>
                <a:latin typeface="Arial"/>
                <a:ea typeface="Arial"/>
                <a:cs typeface="Arial"/>
              </a:defRPr>
            </a:lvl2pPr>
            <a:lvl3pPr>
              <a:defRPr sz="1425" b="0">
                <a:solidFill>
                  <a:srgbClr val="58677E"/>
                </a:solidFill>
                <a:latin typeface="Arial"/>
                <a:ea typeface="Arial"/>
                <a:cs typeface="Arial"/>
              </a:defRPr>
            </a:lvl3pPr>
            <a:lvl4pPr>
              <a:defRPr sz="1425" b="0">
                <a:solidFill>
                  <a:srgbClr val="58677E"/>
                </a:solidFill>
                <a:latin typeface="Arial"/>
                <a:ea typeface="Arial"/>
                <a:cs typeface="Arial"/>
              </a:defRPr>
            </a:lvl4pPr>
            <a:lvl5pPr>
              <a:defRPr sz="1425" b="0">
                <a:solidFill>
                  <a:srgbClr val="58677E"/>
                </a:solidFill>
                <a:latin typeface="Arial"/>
                <a:ea typeface="Arial"/>
                <a:cs typeface="Arial"/>
              </a:defRPr>
            </a:lvl5pPr>
            <a:lvl6pPr>
              <a:defRPr sz="1425" b="0">
                <a:solidFill>
                  <a:srgbClr val="58677E"/>
                </a:solidFill>
                <a:latin typeface="Arial"/>
                <a:ea typeface="Arial"/>
                <a:cs typeface="Arial"/>
              </a:defRPr>
            </a:lvl6pPr>
            <a:lvl7pPr>
              <a:defRPr sz="1425" b="0">
                <a:solidFill>
                  <a:srgbClr val="58677E"/>
                </a:solidFill>
                <a:latin typeface="Arial"/>
                <a:ea typeface="Arial"/>
                <a:cs typeface="Arial"/>
              </a:defRPr>
            </a:lvl7pPr>
            <a:lvl8pPr>
              <a:defRPr sz="1425" b="0">
                <a:solidFill>
                  <a:srgbClr val="58677E"/>
                </a:solidFill>
                <a:latin typeface="Arial"/>
                <a:ea typeface="Arial"/>
                <a:cs typeface="Arial"/>
              </a:defRPr>
            </a:lvl8pPr>
            <a:lvl9pPr>
              <a:defRPr sz="1425" b="0">
                <a:solidFill>
                  <a:srgbClr val="58677E"/>
                </a:solidFill>
                <a:latin typeface="Arial"/>
                <a:ea typeface="Arial"/>
                <a:cs typeface="Arial"/>
              </a:defRPr>
            </a:lvl9pPr>
          </a:lstStyle>
          <a:p xmlns:a="http://schemas.openxmlformats.org/drawingml/2006/main">
            <a:pPr>
              <a:defRPr sz="1425" b="0">
                <a:solidFill>
                  <a:srgbClr val="58677E"/>
                </a:solidFill>
                <a:latin typeface="Arial"/>
                <a:ea typeface="Arial"/>
                <a:cs typeface="Arial"/>
              </a:defRPr>
            </a:pPr>
            <a:r>
              <a:rPr sz="1425" b="0">
                <a:solidFill>
                  <a:srgbClr val="58677E"/>
                </a:solidFill>
                <a:latin typeface="Arial"/>
                <a:ea typeface="Arial"/>
                <a:cs typeface="Arial"/>
              </a:rPr>
              <a:t>Two slow, opposite rows. Pause on interaction; a visible pause button and reduced-motion support.</a:t>
            </a:r>
          </a:p>
        </p:txBody>
      </p:sp>
      <p:sp>
        <p:nvSpPr>
          <p:cNvPr id="9" name="">
            <a:extLst xmlns:a="http://schemas.openxmlformats.org/drawingml/2006/main">
              <a:ext uri="{FF2B5EF4-FFF2-40B4-BE49-F238E27FC236}">
                <a16:creationId xmlns:a16="http://schemas.microsoft.com/office/drawing/2014/main" id="{831D12C7-86F8-4C96-AB10-6C380E429D62}"/>
              </a:ext>
            </a:extLst>
          </p:cNvPr>
          <p:cNvSpPr>
            <a:spLocks xmlns:a="http://schemas.openxmlformats.org/drawingml/2006/main" noGrp="1"/>
          </p:cNvSpPr>
          <p:nvPr/>
        </p:nvSpPr>
        <p:spPr>
          <a:xfrm xmlns:a="http://schemas.openxmlformats.org/drawingml/2006/main">
            <a:off x="5753100" y="159067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8677E"/>
                </a:solidFill>
                <a:latin typeface="Arial"/>
                <a:ea typeface="Arial"/>
                <a:cs typeface="Arial"/>
              </a:defRPr>
            </a:defPPr>
            <a:lvl1pPr>
              <a:defRPr sz="1050" b="1">
                <a:solidFill>
                  <a:srgbClr val="58677E"/>
                </a:solidFill>
                <a:latin typeface="Arial"/>
                <a:ea typeface="Arial"/>
                <a:cs typeface="Arial"/>
              </a:defRPr>
            </a:lvl1pPr>
            <a:lvl2pPr>
              <a:defRPr sz="1050" b="1">
                <a:solidFill>
                  <a:srgbClr val="58677E"/>
                </a:solidFill>
                <a:latin typeface="Arial"/>
                <a:ea typeface="Arial"/>
                <a:cs typeface="Arial"/>
              </a:defRPr>
            </a:lvl2pPr>
            <a:lvl3pPr>
              <a:defRPr sz="1050" b="1">
                <a:solidFill>
                  <a:srgbClr val="58677E"/>
                </a:solidFill>
                <a:latin typeface="Arial"/>
                <a:ea typeface="Arial"/>
                <a:cs typeface="Arial"/>
              </a:defRPr>
            </a:lvl3pPr>
            <a:lvl4pPr>
              <a:defRPr sz="1050" b="1">
                <a:solidFill>
                  <a:srgbClr val="58677E"/>
                </a:solidFill>
                <a:latin typeface="Arial"/>
                <a:ea typeface="Arial"/>
                <a:cs typeface="Arial"/>
              </a:defRPr>
            </a:lvl4pPr>
            <a:lvl5pPr>
              <a:defRPr sz="1050" b="1">
                <a:solidFill>
                  <a:srgbClr val="58677E"/>
                </a:solidFill>
                <a:latin typeface="Arial"/>
                <a:ea typeface="Arial"/>
                <a:cs typeface="Arial"/>
              </a:defRPr>
            </a:lvl5pPr>
            <a:lvl6pPr>
              <a:defRPr sz="1050" b="1">
                <a:solidFill>
                  <a:srgbClr val="58677E"/>
                </a:solidFill>
                <a:latin typeface="Arial"/>
                <a:ea typeface="Arial"/>
                <a:cs typeface="Arial"/>
              </a:defRPr>
            </a:lvl6pPr>
            <a:lvl7pPr>
              <a:defRPr sz="1050" b="1">
                <a:solidFill>
                  <a:srgbClr val="58677E"/>
                </a:solidFill>
                <a:latin typeface="Arial"/>
                <a:ea typeface="Arial"/>
                <a:cs typeface="Arial"/>
              </a:defRPr>
            </a:lvl7pPr>
            <a:lvl8pPr>
              <a:defRPr sz="1050" b="1">
                <a:solidFill>
                  <a:srgbClr val="58677E"/>
                </a:solidFill>
                <a:latin typeface="Arial"/>
                <a:ea typeface="Arial"/>
                <a:cs typeface="Arial"/>
              </a:defRPr>
            </a:lvl8pPr>
            <a:lvl9pPr>
              <a:defRPr sz="1050" b="1">
                <a:solidFill>
                  <a:srgbClr val="58677E"/>
                </a:solidFill>
                <a:latin typeface="Arial"/>
                <a:ea typeface="Arial"/>
                <a:cs typeface="Arial"/>
              </a:defRPr>
            </a:lvl9pPr>
          </a:lstStyle>
          <a:p xmlns:a="http://schemas.openxmlformats.org/drawingml/2006/main">
            <a:pPr>
              <a:defRPr sz="1050" b="1">
                <a:solidFill>
                  <a:srgbClr val="58677E"/>
                </a:solidFill>
                <a:latin typeface="Arial"/>
                <a:ea typeface="Arial"/>
                <a:cs typeface="Arial"/>
              </a:defRPr>
            </a:pPr>
            <a:r>
              <a:rPr sz="1050" b="1">
                <a:solidFill>
                  <a:srgbClr val="58677E"/>
                </a:solidFill>
                <a:latin typeface="Arial"/>
                <a:ea typeface="Arial"/>
                <a:cs typeface="Arial"/>
              </a:rPr>
              <a:t>DISCOVERY</a:t>
            </a:r>
          </a:p>
        </p:txBody>
      </p:sp>
      <p:sp>
        <p:nvSpPr>
          <p:cNvPr id="10" name="">
            <a:extLst xmlns:a="http://schemas.openxmlformats.org/drawingml/2006/main">
              <a:ext uri="{FF2B5EF4-FFF2-40B4-BE49-F238E27FC236}">
                <a16:creationId xmlns:a16="http://schemas.microsoft.com/office/drawing/2014/main" id="{F34B3F17-3F77-442D-8CB2-C099A3D3B4CA}"/>
              </a:ext>
            </a:extLst>
          </p:cNvPr>
          <p:cNvSpPr>
            <a:spLocks xmlns:a="http://schemas.openxmlformats.org/drawingml/2006/main" noGrp="1"/>
          </p:cNvSpPr>
          <p:nvPr/>
        </p:nvSpPr>
        <p:spPr>
          <a:xfrm xmlns:a="http://schemas.openxmlformats.org/drawingml/2006/main">
            <a:off x="8763000" y="15906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8677E"/>
                </a:solidFill>
                <a:latin typeface="Arial"/>
                <a:ea typeface="Arial"/>
                <a:cs typeface="Arial"/>
              </a:defRPr>
            </a:defPPr>
            <a:lvl1pPr>
              <a:defRPr sz="1050" b="1">
                <a:solidFill>
                  <a:srgbClr val="58677E"/>
                </a:solidFill>
                <a:latin typeface="Arial"/>
                <a:ea typeface="Arial"/>
                <a:cs typeface="Arial"/>
              </a:defRPr>
            </a:lvl1pPr>
            <a:lvl2pPr>
              <a:defRPr sz="1050" b="1">
                <a:solidFill>
                  <a:srgbClr val="58677E"/>
                </a:solidFill>
                <a:latin typeface="Arial"/>
                <a:ea typeface="Arial"/>
                <a:cs typeface="Arial"/>
              </a:defRPr>
            </a:lvl2pPr>
            <a:lvl3pPr>
              <a:defRPr sz="1050" b="1">
                <a:solidFill>
                  <a:srgbClr val="58677E"/>
                </a:solidFill>
                <a:latin typeface="Arial"/>
                <a:ea typeface="Arial"/>
                <a:cs typeface="Arial"/>
              </a:defRPr>
            </a:lvl3pPr>
            <a:lvl4pPr>
              <a:defRPr sz="1050" b="1">
                <a:solidFill>
                  <a:srgbClr val="58677E"/>
                </a:solidFill>
                <a:latin typeface="Arial"/>
                <a:ea typeface="Arial"/>
                <a:cs typeface="Arial"/>
              </a:defRPr>
            </a:lvl4pPr>
            <a:lvl5pPr>
              <a:defRPr sz="1050" b="1">
                <a:solidFill>
                  <a:srgbClr val="58677E"/>
                </a:solidFill>
                <a:latin typeface="Arial"/>
                <a:ea typeface="Arial"/>
                <a:cs typeface="Arial"/>
              </a:defRPr>
            </a:lvl5pPr>
            <a:lvl6pPr>
              <a:defRPr sz="1050" b="1">
                <a:solidFill>
                  <a:srgbClr val="58677E"/>
                </a:solidFill>
                <a:latin typeface="Arial"/>
                <a:ea typeface="Arial"/>
                <a:cs typeface="Arial"/>
              </a:defRPr>
            </a:lvl6pPr>
            <a:lvl7pPr>
              <a:defRPr sz="1050" b="1">
                <a:solidFill>
                  <a:srgbClr val="58677E"/>
                </a:solidFill>
                <a:latin typeface="Arial"/>
                <a:ea typeface="Arial"/>
                <a:cs typeface="Arial"/>
              </a:defRPr>
            </a:lvl7pPr>
            <a:lvl8pPr>
              <a:defRPr sz="1050" b="1">
                <a:solidFill>
                  <a:srgbClr val="58677E"/>
                </a:solidFill>
                <a:latin typeface="Arial"/>
                <a:ea typeface="Arial"/>
                <a:cs typeface="Arial"/>
              </a:defRPr>
            </a:lvl8pPr>
            <a:lvl9pPr>
              <a:defRPr sz="1050" b="1">
                <a:solidFill>
                  <a:srgbClr val="58677E"/>
                </a:solidFill>
                <a:latin typeface="Arial"/>
                <a:ea typeface="Arial"/>
                <a:cs typeface="Arial"/>
              </a:defRPr>
            </a:lvl9pPr>
          </a:lstStyle>
          <a:p xmlns:a="http://schemas.openxmlformats.org/drawingml/2006/main">
            <a:pPr>
              <a:defRPr sz="1050" b="1">
                <a:solidFill>
                  <a:srgbClr val="58677E"/>
                </a:solidFill>
                <a:latin typeface="Arial"/>
                <a:ea typeface="Arial"/>
                <a:cs typeface="Arial"/>
              </a:defRPr>
            </a:pPr>
            <a:r>
              <a:rPr sz="1050" b="1">
                <a:solidFill>
                  <a:srgbClr val="58677E"/>
                </a:solidFill>
                <a:latin typeface="Arial"/>
                <a:ea typeface="Arial"/>
                <a:cs typeface="Arial"/>
              </a:rPr>
              <a:t>PRODUCT DETAILS</a:t>
            </a:r>
          </a:p>
        </p:txBody>
      </p:sp>
      <p:pic>
        <p:nvPicPr>
          <p:cNvPr id="11" name="">
            <a:extLst xmlns:a="http://schemas.openxmlformats.org/drawingml/2006/main">
              <a:ext uri="{FF2B5EF4-FFF2-40B4-BE49-F238E27FC236}">
                <a16:creationId xmlns:a16="http://schemas.microsoft.com/office/drawing/2014/main" id="{81A6AF84-76BD-4C00-B4A8-A1DC31A86AD8}"/>
              </a:ext>
            </a:extLst>
          </p:cNvPr>
          <p:cNvPicPr>
            <a:picLocks xmlns:a="http://schemas.openxmlformats.org/drawingml/2006/main" noChangeAspect="1"/>
          </p:cNvPicPr>
          <p:nvPr/>
        </p:nvPicPr>
        <p:blipFill>
          <a:blip xmlns:r="http://schemas.openxmlformats.org/officeDocument/2006/relationships" xmlns:a="http://schemas.openxmlformats.org/drawingml/2006/main" r:embed="R7a332b5da2114857"/>
          <a:stretch xmlns:a="http://schemas.openxmlformats.org/drawingml/2006/main"/>
        </p:blipFill>
        <p:spPr>
          <a:xfrm xmlns:a="http://schemas.openxmlformats.org/drawingml/2006/main">
            <a:off x="5743575" y="1914818"/>
            <a:ext cx="2085975" cy="4514264"/>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DCD9CDBA-6707-4D33-8CB4-058CAC9C9A8A}"/>
              </a:ext>
            </a:extLst>
          </p:cNvPr>
          <p:cNvPicPr>
            <a:picLocks xmlns:a="http://schemas.openxmlformats.org/drawingml/2006/main" noChangeAspect="1"/>
          </p:cNvPicPr>
          <p:nvPr/>
        </p:nvPicPr>
        <p:blipFill>
          <a:blip xmlns:r="http://schemas.openxmlformats.org/officeDocument/2006/relationships" xmlns:a="http://schemas.openxmlformats.org/drawingml/2006/main" r:embed="R232c1a5fc86b4408"/>
          <a:stretch xmlns:a="http://schemas.openxmlformats.org/drawingml/2006/main"/>
        </p:blipFill>
        <p:spPr>
          <a:xfrm xmlns:a="http://schemas.openxmlformats.org/drawingml/2006/main">
            <a:off x="8753475" y="1914818"/>
            <a:ext cx="2085975" cy="4514264"/>
          </a:xfrm>
          <a:prstGeom xmlns:a="http://schemas.openxmlformats.org/drawingml/2006/main" prst="rect">
            <a:avLst/>
          </a:prstGeom>
        </p:spPr>
      </p:pic>
    </p:spTree>
    <p:extLst>
      <p:ext uri="{BB962C8B-B14F-4D97-AF65-F5344CB8AC3E}">
        <p14:creationId xmlns:p14="http://schemas.microsoft.com/office/powerpoint/2010/main" val="1267554401"/>
      </p:ext>
    </p:extLst>
  </p:cSld>
</p:sld>
</file>

<file path=ppt/slides/slide3.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A17C79E-1376-48FB-AD87-C67BF56B0D95}"/>
              </a:ext>
            </a:extLst>
          </p:cNvPr>
          <p:cNvSpPr>
            <a:spLocks xmlns:a="http://schemas.openxmlformats.org/drawingml/2006/main" noGrp="1"/>
          </p:cNvSpPr>
          <p:nvPr/>
        </p:nvSpPr>
        <p:spPr>
          <a:xfrm xmlns:a="http://schemas.openxmlformats.org/drawingml/2006/main">
            <a:off x="590550" y="2857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28369F"/>
                </a:solidFill>
                <a:latin typeface="Arial"/>
                <a:ea typeface="Arial"/>
                <a:cs typeface="Arial"/>
              </a:defRPr>
            </a:defPPr>
            <a:lvl1pPr>
              <a:defRPr sz="1050" b="1">
                <a:solidFill>
                  <a:srgbClr val="28369F"/>
                </a:solidFill>
                <a:latin typeface="Arial"/>
                <a:ea typeface="Arial"/>
                <a:cs typeface="Arial"/>
              </a:defRPr>
            </a:lvl1pPr>
            <a:lvl2pPr>
              <a:defRPr sz="1050" b="1">
                <a:solidFill>
                  <a:srgbClr val="28369F"/>
                </a:solidFill>
                <a:latin typeface="Arial"/>
                <a:ea typeface="Arial"/>
                <a:cs typeface="Arial"/>
              </a:defRPr>
            </a:lvl2pPr>
            <a:lvl3pPr>
              <a:defRPr sz="1050" b="1">
                <a:solidFill>
                  <a:srgbClr val="28369F"/>
                </a:solidFill>
                <a:latin typeface="Arial"/>
                <a:ea typeface="Arial"/>
                <a:cs typeface="Arial"/>
              </a:defRPr>
            </a:lvl3pPr>
            <a:lvl4pPr>
              <a:defRPr sz="1050" b="1">
                <a:solidFill>
                  <a:srgbClr val="28369F"/>
                </a:solidFill>
                <a:latin typeface="Arial"/>
                <a:ea typeface="Arial"/>
                <a:cs typeface="Arial"/>
              </a:defRPr>
            </a:lvl4pPr>
            <a:lvl5pPr>
              <a:defRPr sz="1050" b="1">
                <a:solidFill>
                  <a:srgbClr val="28369F"/>
                </a:solidFill>
                <a:latin typeface="Arial"/>
                <a:ea typeface="Arial"/>
                <a:cs typeface="Arial"/>
              </a:defRPr>
            </a:lvl5pPr>
            <a:lvl6pPr>
              <a:defRPr sz="1050" b="1">
                <a:solidFill>
                  <a:srgbClr val="28369F"/>
                </a:solidFill>
                <a:latin typeface="Arial"/>
                <a:ea typeface="Arial"/>
                <a:cs typeface="Arial"/>
              </a:defRPr>
            </a:lvl6pPr>
            <a:lvl7pPr>
              <a:defRPr sz="1050" b="1">
                <a:solidFill>
                  <a:srgbClr val="28369F"/>
                </a:solidFill>
                <a:latin typeface="Arial"/>
                <a:ea typeface="Arial"/>
                <a:cs typeface="Arial"/>
              </a:defRPr>
            </a:lvl7pPr>
            <a:lvl8pPr>
              <a:defRPr sz="1050" b="1">
                <a:solidFill>
                  <a:srgbClr val="28369F"/>
                </a:solidFill>
                <a:latin typeface="Arial"/>
                <a:ea typeface="Arial"/>
                <a:cs typeface="Arial"/>
              </a:defRPr>
            </a:lvl8pPr>
            <a:lvl9pPr>
              <a:defRPr sz="1050" b="1">
                <a:solidFill>
                  <a:srgbClr val="28369F"/>
                </a:solidFill>
                <a:latin typeface="Arial"/>
                <a:ea typeface="Arial"/>
                <a:cs typeface="Arial"/>
              </a:defRPr>
            </a:lvl9pPr>
          </a:lstStyle>
          <a:p xmlns:a="http://schemas.openxmlformats.org/drawingml/2006/main">
            <a:pPr>
              <a:defRPr sz="1050" b="1">
                <a:solidFill>
                  <a:srgbClr val="28369F"/>
                </a:solidFill>
                <a:latin typeface="Arial"/>
                <a:ea typeface="Arial"/>
                <a:cs typeface="Arial"/>
              </a:defRPr>
            </a:pPr>
            <a:r>
              <a:rPr sz="1050" b="1">
                <a:solidFill>
                  <a:srgbClr val="28369F"/>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D31C3CE8-38F3-4F85-8059-71AD1E37C538}"/>
              </a:ext>
            </a:extLst>
          </p:cNvPr>
          <p:cNvSpPr>
            <a:spLocks xmlns:a="http://schemas.openxmlformats.org/drawingml/2006/main" noGrp="1"/>
          </p:cNvSpPr>
          <p:nvPr/>
        </p:nvSpPr>
        <p:spPr>
          <a:xfrm xmlns:a="http://schemas.openxmlformats.org/drawingml/2006/main">
            <a:off x="590550" y="7620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263E"/>
                </a:solidFill>
                <a:latin typeface="Arial"/>
                <a:ea typeface="Arial"/>
                <a:cs typeface="Arial"/>
              </a:defRPr>
            </a:defPPr>
            <a:lvl1pPr>
              <a:defRPr sz="3450" b="1">
                <a:solidFill>
                  <a:srgbClr val="17263E"/>
                </a:solidFill>
                <a:latin typeface="Arial"/>
                <a:ea typeface="Arial"/>
                <a:cs typeface="Arial"/>
              </a:defRPr>
            </a:lvl1pPr>
            <a:lvl2pPr>
              <a:defRPr sz="3450" b="1">
                <a:solidFill>
                  <a:srgbClr val="17263E"/>
                </a:solidFill>
                <a:latin typeface="Arial"/>
                <a:ea typeface="Arial"/>
                <a:cs typeface="Arial"/>
              </a:defRPr>
            </a:lvl2pPr>
            <a:lvl3pPr>
              <a:defRPr sz="3450" b="1">
                <a:solidFill>
                  <a:srgbClr val="17263E"/>
                </a:solidFill>
                <a:latin typeface="Arial"/>
                <a:ea typeface="Arial"/>
                <a:cs typeface="Arial"/>
              </a:defRPr>
            </a:lvl3pPr>
            <a:lvl4pPr>
              <a:defRPr sz="3450" b="1">
                <a:solidFill>
                  <a:srgbClr val="17263E"/>
                </a:solidFill>
                <a:latin typeface="Arial"/>
                <a:ea typeface="Arial"/>
                <a:cs typeface="Arial"/>
              </a:defRPr>
            </a:lvl4pPr>
            <a:lvl5pPr>
              <a:defRPr sz="3450" b="1">
                <a:solidFill>
                  <a:srgbClr val="17263E"/>
                </a:solidFill>
                <a:latin typeface="Arial"/>
                <a:ea typeface="Arial"/>
                <a:cs typeface="Arial"/>
              </a:defRPr>
            </a:lvl5pPr>
            <a:lvl6pPr>
              <a:defRPr sz="3450" b="1">
                <a:solidFill>
                  <a:srgbClr val="17263E"/>
                </a:solidFill>
                <a:latin typeface="Arial"/>
                <a:ea typeface="Arial"/>
                <a:cs typeface="Arial"/>
              </a:defRPr>
            </a:lvl6pPr>
            <a:lvl7pPr>
              <a:defRPr sz="3450" b="1">
                <a:solidFill>
                  <a:srgbClr val="17263E"/>
                </a:solidFill>
                <a:latin typeface="Arial"/>
                <a:ea typeface="Arial"/>
                <a:cs typeface="Arial"/>
              </a:defRPr>
            </a:lvl7pPr>
            <a:lvl8pPr>
              <a:defRPr sz="3450" b="1">
                <a:solidFill>
                  <a:srgbClr val="17263E"/>
                </a:solidFill>
                <a:latin typeface="Arial"/>
                <a:ea typeface="Arial"/>
                <a:cs typeface="Arial"/>
              </a:defRPr>
            </a:lvl8pPr>
            <a:lvl9pPr>
              <a:defRPr sz="3450" b="1">
                <a:solidFill>
                  <a:srgbClr val="17263E"/>
                </a:solidFill>
                <a:latin typeface="Arial"/>
                <a:ea typeface="Arial"/>
                <a:cs typeface="Arial"/>
              </a:defRPr>
            </a:lvl9pPr>
          </a:lstStyle>
          <a:p xmlns:a="http://schemas.openxmlformats.org/drawingml/2006/main">
            <a:pPr>
              <a:defRPr sz="3450" b="1">
                <a:solidFill>
                  <a:srgbClr val="17263E"/>
                </a:solidFill>
                <a:latin typeface="Arial"/>
                <a:ea typeface="Arial"/>
                <a:cs typeface="Arial"/>
              </a:defRPr>
            </a:pPr>
            <a:r>
              <a:rPr sz="3450" b="1">
                <a:solidFill>
                  <a:srgbClr val="17263E"/>
                </a:solidFill>
                <a:latin typeface="Arial"/>
                <a:ea typeface="Arial"/>
                <a:cs typeface="Arial"/>
              </a:rPr>
              <a:t>Measure funded investments</a:t>
            </a:r>
          </a:p>
        </p:txBody>
      </p:sp>
      <p:sp>
        <p:nvSpPr>
          <p:cNvPr id="3" name="">
            <a:extLst xmlns:a="http://schemas.openxmlformats.org/drawingml/2006/main">
              <a:ext uri="{FF2B5EF4-FFF2-40B4-BE49-F238E27FC236}">
                <a16:creationId xmlns:a16="http://schemas.microsoft.com/office/drawing/2014/main" id="{DF0123B8-7B3E-4BC0-810B-4718924FB42A}"/>
              </a:ext>
            </a:extLst>
          </p:cNvPr>
          <p:cNvSpPr>
            <a:spLocks xmlns:a="http://schemas.openxmlformats.org/drawingml/2006/main" noGrp="1"/>
          </p:cNvSpPr>
          <p:nvPr/>
        </p:nvSpPr>
        <p:spPr>
          <a:xfrm xmlns:a="http://schemas.openxmlformats.org/drawingml/2006/main">
            <a:off x="590550" y="17716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8369F"/>
                </a:solidFill>
                <a:latin typeface="Arial"/>
                <a:ea typeface="Arial"/>
                <a:cs typeface="Arial"/>
              </a:defRPr>
            </a:defPPr>
            <a:lvl1pPr>
              <a:defRPr sz="1650" b="1">
                <a:solidFill>
                  <a:srgbClr val="28369F"/>
                </a:solidFill>
                <a:latin typeface="Arial"/>
                <a:ea typeface="Arial"/>
                <a:cs typeface="Arial"/>
              </a:defRPr>
            </a:lvl1pPr>
            <a:lvl2pPr>
              <a:defRPr sz="1650" b="1">
                <a:solidFill>
                  <a:srgbClr val="28369F"/>
                </a:solidFill>
                <a:latin typeface="Arial"/>
                <a:ea typeface="Arial"/>
                <a:cs typeface="Arial"/>
              </a:defRPr>
            </a:lvl2pPr>
            <a:lvl3pPr>
              <a:defRPr sz="1650" b="1">
                <a:solidFill>
                  <a:srgbClr val="28369F"/>
                </a:solidFill>
                <a:latin typeface="Arial"/>
                <a:ea typeface="Arial"/>
                <a:cs typeface="Arial"/>
              </a:defRPr>
            </a:lvl3pPr>
            <a:lvl4pPr>
              <a:defRPr sz="1650" b="1">
                <a:solidFill>
                  <a:srgbClr val="28369F"/>
                </a:solidFill>
                <a:latin typeface="Arial"/>
                <a:ea typeface="Arial"/>
                <a:cs typeface="Arial"/>
              </a:defRPr>
            </a:lvl4pPr>
            <a:lvl5pPr>
              <a:defRPr sz="1650" b="1">
                <a:solidFill>
                  <a:srgbClr val="28369F"/>
                </a:solidFill>
                <a:latin typeface="Arial"/>
                <a:ea typeface="Arial"/>
                <a:cs typeface="Arial"/>
              </a:defRPr>
            </a:lvl5pPr>
            <a:lvl6pPr>
              <a:defRPr sz="1650" b="1">
                <a:solidFill>
                  <a:srgbClr val="28369F"/>
                </a:solidFill>
                <a:latin typeface="Arial"/>
                <a:ea typeface="Arial"/>
                <a:cs typeface="Arial"/>
              </a:defRPr>
            </a:lvl6pPr>
            <a:lvl7pPr>
              <a:defRPr sz="1650" b="1">
                <a:solidFill>
                  <a:srgbClr val="28369F"/>
                </a:solidFill>
                <a:latin typeface="Arial"/>
                <a:ea typeface="Arial"/>
                <a:cs typeface="Arial"/>
              </a:defRPr>
            </a:lvl7pPr>
            <a:lvl8pPr>
              <a:defRPr sz="1650" b="1">
                <a:solidFill>
                  <a:srgbClr val="28369F"/>
                </a:solidFill>
                <a:latin typeface="Arial"/>
                <a:ea typeface="Arial"/>
                <a:cs typeface="Arial"/>
              </a:defRPr>
            </a:lvl8pPr>
            <a:lvl9pPr>
              <a:defRPr sz="1650" b="1">
                <a:solidFill>
                  <a:srgbClr val="28369F"/>
                </a:solidFill>
                <a:latin typeface="Arial"/>
                <a:ea typeface="Arial"/>
                <a:cs typeface="Arial"/>
              </a:defRPr>
            </a:lvl9pPr>
          </a:lstStyle>
          <a:p xmlns:a="http://schemas.openxmlformats.org/drawingml/2006/main">
            <a:pPr>
              <a:defRPr sz="1650" b="1">
                <a:solidFill>
                  <a:srgbClr val="28369F"/>
                </a:solidFill>
                <a:latin typeface="Arial"/>
                <a:ea typeface="Arial"/>
                <a:cs typeface="Arial"/>
              </a:defRPr>
            </a:pPr>
            <a:r>
              <a:rPr sz="1650" b="1">
                <a:solidFill>
                  <a:srgbClr val="28369F"/>
                </a:solidFill>
                <a:latin typeface="Arial"/>
                <a:ea typeface="Arial"/>
                <a:cs typeface="Arial"/>
              </a:rPr>
              <a:t>Primary outcome</a:t>
            </a:r>
          </a:p>
        </p:txBody>
      </p:sp>
      <p:sp>
        <p:nvSpPr>
          <p:cNvPr id="4" name="">
            <a:extLst xmlns:a="http://schemas.openxmlformats.org/drawingml/2006/main">
              <a:ext uri="{FF2B5EF4-FFF2-40B4-BE49-F238E27FC236}">
                <a16:creationId xmlns:a16="http://schemas.microsoft.com/office/drawing/2014/main" id="{668E4AEE-CBD5-41B4-8922-8612ED9F7E1B}"/>
              </a:ext>
            </a:extLst>
          </p:cNvPr>
          <p:cNvSpPr>
            <a:spLocks xmlns:a="http://schemas.openxmlformats.org/drawingml/2006/main" noGrp="1"/>
          </p:cNvSpPr>
          <p:nvPr/>
        </p:nvSpPr>
        <p:spPr>
          <a:xfrm xmlns:a="http://schemas.openxmlformats.org/drawingml/2006/main">
            <a:off x="590550" y="2190750"/>
            <a:ext cx="533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263E"/>
                </a:solidFill>
                <a:latin typeface="Arial"/>
                <a:ea typeface="Arial"/>
                <a:cs typeface="Arial"/>
              </a:defRPr>
            </a:defPPr>
            <a:lvl1pPr>
              <a:defRPr sz="2550" b="1">
                <a:solidFill>
                  <a:srgbClr val="17263E"/>
                </a:solidFill>
                <a:latin typeface="Arial"/>
                <a:ea typeface="Arial"/>
                <a:cs typeface="Arial"/>
              </a:defRPr>
            </a:lvl1pPr>
            <a:lvl2pPr>
              <a:defRPr sz="2550" b="1">
                <a:solidFill>
                  <a:srgbClr val="17263E"/>
                </a:solidFill>
                <a:latin typeface="Arial"/>
                <a:ea typeface="Arial"/>
                <a:cs typeface="Arial"/>
              </a:defRPr>
            </a:lvl2pPr>
            <a:lvl3pPr>
              <a:defRPr sz="2550" b="1">
                <a:solidFill>
                  <a:srgbClr val="17263E"/>
                </a:solidFill>
                <a:latin typeface="Arial"/>
                <a:ea typeface="Arial"/>
                <a:cs typeface="Arial"/>
              </a:defRPr>
            </a:lvl3pPr>
            <a:lvl4pPr>
              <a:defRPr sz="2550" b="1">
                <a:solidFill>
                  <a:srgbClr val="17263E"/>
                </a:solidFill>
                <a:latin typeface="Arial"/>
                <a:ea typeface="Arial"/>
                <a:cs typeface="Arial"/>
              </a:defRPr>
            </a:lvl4pPr>
            <a:lvl5pPr>
              <a:defRPr sz="2550" b="1">
                <a:solidFill>
                  <a:srgbClr val="17263E"/>
                </a:solidFill>
                <a:latin typeface="Arial"/>
                <a:ea typeface="Arial"/>
                <a:cs typeface="Arial"/>
              </a:defRPr>
            </a:lvl5pPr>
            <a:lvl6pPr>
              <a:defRPr sz="2550" b="1">
                <a:solidFill>
                  <a:srgbClr val="17263E"/>
                </a:solidFill>
                <a:latin typeface="Arial"/>
                <a:ea typeface="Arial"/>
                <a:cs typeface="Arial"/>
              </a:defRPr>
            </a:lvl6pPr>
            <a:lvl7pPr>
              <a:defRPr sz="2550" b="1">
                <a:solidFill>
                  <a:srgbClr val="17263E"/>
                </a:solidFill>
                <a:latin typeface="Arial"/>
                <a:ea typeface="Arial"/>
                <a:cs typeface="Arial"/>
              </a:defRPr>
            </a:lvl7pPr>
            <a:lvl8pPr>
              <a:defRPr sz="2550" b="1">
                <a:solidFill>
                  <a:srgbClr val="17263E"/>
                </a:solidFill>
                <a:latin typeface="Arial"/>
                <a:ea typeface="Arial"/>
                <a:cs typeface="Arial"/>
              </a:defRPr>
            </a:lvl8pPr>
            <a:lvl9pPr>
              <a:defRPr sz="2550" b="1">
                <a:solidFill>
                  <a:srgbClr val="17263E"/>
                </a:solidFill>
                <a:latin typeface="Arial"/>
                <a:ea typeface="Arial"/>
                <a:cs typeface="Arial"/>
              </a:defRPr>
            </a:lvl9pPr>
          </a:lstStyle>
          <a:p xmlns:a="http://schemas.openxmlformats.org/drawingml/2006/main">
            <a:pPr>
              <a:defRPr sz="2550" b="1">
                <a:solidFill>
                  <a:srgbClr val="17263E"/>
                </a:solidFill>
                <a:latin typeface="Arial"/>
                <a:ea typeface="Arial"/>
                <a:cs typeface="Arial"/>
              </a:defRPr>
            </a:pPr>
            <a:r>
              <a:rPr sz="2550" b="1">
                <a:solidFill>
                  <a:srgbClr val="17263E"/>
                </a:solidFill>
                <a:latin typeface="Arial"/>
                <a:ea typeface="Arial"/>
                <a:cs typeface="Arial"/>
              </a:rPr>
              <a:t>First unassisted investment</a:t>
            </a:r>
          </a:p>
          <a:p xmlns:a="http://schemas.openxmlformats.org/drawingml/2006/main">
            <a:pPr>
              <a:defRPr sz="2550" b="1">
                <a:solidFill>
                  <a:srgbClr val="17263E"/>
                </a:solidFill>
                <a:latin typeface="Arial"/>
                <a:ea typeface="Arial"/>
                <a:cs typeface="Arial"/>
              </a:defRPr>
            </a:pPr>
            <a:r>
              <a:rPr sz="2550" b="1">
                <a:solidFill>
                  <a:srgbClr val="17263E"/>
                </a:solidFill>
                <a:latin typeface="Arial"/>
                <a:ea typeface="Arial"/>
                <a:cs typeface="Arial"/>
              </a:rPr>
              <a:t>within 7 days</a:t>
            </a:r>
          </a:p>
        </p:txBody>
      </p:sp>
      <p:sp>
        <p:nvSpPr>
          <p:cNvPr id="5" name="">
            <a:extLst xmlns:a="http://schemas.openxmlformats.org/drawingml/2006/main">
              <a:ext uri="{FF2B5EF4-FFF2-40B4-BE49-F238E27FC236}">
                <a16:creationId xmlns:a16="http://schemas.microsoft.com/office/drawing/2014/main" id="{DA7A66A5-89AE-468E-A29E-4C286D29B8D0}"/>
              </a:ext>
            </a:extLst>
          </p:cNvPr>
          <p:cNvSpPr>
            <a:spLocks xmlns:a="http://schemas.openxmlformats.org/drawingml/2006/main" noGrp="1"/>
          </p:cNvSpPr>
          <p:nvPr/>
        </p:nvSpPr>
        <p:spPr>
          <a:xfrm xmlns:a="http://schemas.openxmlformats.org/drawingml/2006/main">
            <a:off x="590550" y="3228975"/>
            <a:ext cx="5286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63E"/>
                </a:solidFill>
                <a:latin typeface="Arial"/>
                <a:ea typeface="Arial"/>
                <a:cs typeface="Arial"/>
              </a:defRPr>
            </a:defPPr>
            <a:lvl1pPr>
              <a:defRPr sz="1725" b="0">
                <a:solidFill>
                  <a:srgbClr val="17263E"/>
                </a:solidFill>
                <a:latin typeface="Arial"/>
                <a:ea typeface="Arial"/>
                <a:cs typeface="Arial"/>
              </a:defRPr>
            </a:lvl1pPr>
            <a:lvl2pPr>
              <a:defRPr sz="1725" b="0">
                <a:solidFill>
                  <a:srgbClr val="17263E"/>
                </a:solidFill>
                <a:latin typeface="Arial"/>
                <a:ea typeface="Arial"/>
                <a:cs typeface="Arial"/>
              </a:defRPr>
            </a:lvl2pPr>
            <a:lvl3pPr>
              <a:defRPr sz="1725" b="0">
                <a:solidFill>
                  <a:srgbClr val="17263E"/>
                </a:solidFill>
                <a:latin typeface="Arial"/>
                <a:ea typeface="Arial"/>
                <a:cs typeface="Arial"/>
              </a:defRPr>
            </a:lvl3pPr>
            <a:lvl4pPr>
              <a:defRPr sz="1725" b="0">
                <a:solidFill>
                  <a:srgbClr val="17263E"/>
                </a:solidFill>
                <a:latin typeface="Arial"/>
                <a:ea typeface="Arial"/>
                <a:cs typeface="Arial"/>
              </a:defRPr>
            </a:lvl4pPr>
            <a:lvl5pPr>
              <a:defRPr sz="1725" b="0">
                <a:solidFill>
                  <a:srgbClr val="17263E"/>
                </a:solidFill>
                <a:latin typeface="Arial"/>
                <a:ea typeface="Arial"/>
                <a:cs typeface="Arial"/>
              </a:defRPr>
            </a:lvl5pPr>
            <a:lvl6pPr>
              <a:defRPr sz="1725" b="0">
                <a:solidFill>
                  <a:srgbClr val="17263E"/>
                </a:solidFill>
                <a:latin typeface="Arial"/>
                <a:ea typeface="Arial"/>
                <a:cs typeface="Arial"/>
              </a:defRPr>
            </a:lvl6pPr>
            <a:lvl7pPr>
              <a:defRPr sz="1725" b="0">
                <a:solidFill>
                  <a:srgbClr val="17263E"/>
                </a:solidFill>
                <a:latin typeface="Arial"/>
                <a:ea typeface="Arial"/>
                <a:cs typeface="Arial"/>
              </a:defRPr>
            </a:lvl7pPr>
            <a:lvl8pPr>
              <a:defRPr sz="1725" b="0">
                <a:solidFill>
                  <a:srgbClr val="17263E"/>
                </a:solidFill>
                <a:latin typeface="Arial"/>
                <a:ea typeface="Arial"/>
                <a:cs typeface="Arial"/>
              </a:defRPr>
            </a:lvl8pPr>
            <a:lvl9pPr>
              <a:defRPr sz="1725" b="0">
                <a:solidFill>
                  <a:srgbClr val="17263E"/>
                </a:solidFill>
                <a:latin typeface="Arial"/>
                <a:ea typeface="Arial"/>
                <a:cs typeface="Arial"/>
              </a:defRPr>
            </a:lvl9pPr>
          </a:lstStyle>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Users who complete a first investment</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without assistance, divided by all eligible</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importers assigned to each experience.</a:t>
            </a:r>
          </a:p>
        </p:txBody>
      </p:sp>
      <p:sp>
        <p:nvSpPr>
          <p:cNvPr id="6" name="">
            <a:extLst xmlns:a="http://schemas.openxmlformats.org/drawingml/2006/main">
              <a:ext uri="{FF2B5EF4-FFF2-40B4-BE49-F238E27FC236}">
                <a16:creationId xmlns:a16="http://schemas.microsoft.com/office/drawing/2014/main" id="{08F54D99-6403-449D-A303-5CAFC193FEFB}"/>
              </a:ext>
            </a:extLst>
          </p:cNvPr>
          <p:cNvSpPr>
            <a:spLocks xmlns:a="http://schemas.openxmlformats.org/drawingml/2006/main" noGrp="1"/>
          </p:cNvSpPr>
          <p:nvPr/>
        </p:nvSpPr>
        <p:spPr>
          <a:xfrm xmlns:a="http://schemas.openxmlformats.org/drawingml/2006/main">
            <a:off x="590550" y="45529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A click is only a diagnostic</a:t>
            </a:r>
          </a:p>
        </p:txBody>
      </p:sp>
      <p:sp>
        <p:nvSpPr>
          <p:cNvPr id="7" name="">
            <a:extLst xmlns:a="http://schemas.openxmlformats.org/drawingml/2006/main">
              <a:ext uri="{FF2B5EF4-FFF2-40B4-BE49-F238E27FC236}">
                <a16:creationId xmlns:a16="http://schemas.microsoft.com/office/drawing/2014/main" id="{97C7AADC-2DE9-4CAA-A22B-676BA1855F7A}"/>
              </a:ext>
            </a:extLst>
          </p:cNvPr>
          <p:cNvSpPr>
            <a:spLocks xmlns:a="http://schemas.openxmlformats.org/drawingml/2006/main" noGrp="1"/>
          </p:cNvSpPr>
          <p:nvPr/>
        </p:nvSpPr>
        <p:spPr>
          <a:xfrm xmlns:a="http://schemas.openxmlformats.org/drawingml/2006/main">
            <a:off x="590550" y="4962525"/>
            <a:ext cx="5334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63E"/>
                </a:solidFill>
                <a:latin typeface="Arial"/>
                <a:ea typeface="Arial"/>
                <a:cs typeface="Arial"/>
              </a:defRPr>
            </a:defPPr>
            <a:lvl1pPr>
              <a:defRPr sz="1725" b="0">
                <a:solidFill>
                  <a:srgbClr val="17263E"/>
                </a:solidFill>
                <a:latin typeface="Arial"/>
                <a:ea typeface="Arial"/>
                <a:cs typeface="Arial"/>
              </a:defRPr>
            </a:lvl1pPr>
            <a:lvl2pPr>
              <a:defRPr sz="1725" b="0">
                <a:solidFill>
                  <a:srgbClr val="17263E"/>
                </a:solidFill>
                <a:latin typeface="Arial"/>
                <a:ea typeface="Arial"/>
                <a:cs typeface="Arial"/>
              </a:defRPr>
            </a:lvl2pPr>
            <a:lvl3pPr>
              <a:defRPr sz="1725" b="0">
                <a:solidFill>
                  <a:srgbClr val="17263E"/>
                </a:solidFill>
                <a:latin typeface="Arial"/>
                <a:ea typeface="Arial"/>
                <a:cs typeface="Arial"/>
              </a:defRPr>
            </a:lvl3pPr>
            <a:lvl4pPr>
              <a:defRPr sz="1725" b="0">
                <a:solidFill>
                  <a:srgbClr val="17263E"/>
                </a:solidFill>
                <a:latin typeface="Arial"/>
                <a:ea typeface="Arial"/>
                <a:cs typeface="Arial"/>
              </a:defRPr>
            </a:lvl4pPr>
            <a:lvl5pPr>
              <a:defRPr sz="1725" b="0">
                <a:solidFill>
                  <a:srgbClr val="17263E"/>
                </a:solidFill>
                <a:latin typeface="Arial"/>
                <a:ea typeface="Arial"/>
                <a:cs typeface="Arial"/>
              </a:defRPr>
            </a:lvl5pPr>
            <a:lvl6pPr>
              <a:defRPr sz="1725" b="0">
                <a:solidFill>
                  <a:srgbClr val="17263E"/>
                </a:solidFill>
                <a:latin typeface="Arial"/>
                <a:ea typeface="Arial"/>
                <a:cs typeface="Arial"/>
              </a:defRPr>
            </a:lvl6pPr>
            <a:lvl7pPr>
              <a:defRPr sz="1725" b="0">
                <a:solidFill>
                  <a:srgbClr val="17263E"/>
                </a:solidFill>
                <a:latin typeface="Arial"/>
                <a:ea typeface="Arial"/>
                <a:cs typeface="Arial"/>
              </a:defRPr>
            </a:lvl7pPr>
            <a:lvl8pPr>
              <a:defRPr sz="1725" b="0">
                <a:solidFill>
                  <a:srgbClr val="17263E"/>
                </a:solidFill>
                <a:latin typeface="Arial"/>
                <a:ea typeface="Arial"/>
                <a:cs typeface="Arial"/>
              </a:defRPr>
            </a:lvl8pPr>
            <a:lvl9pPr>
              <a:defRPr sz="1725" b="0">
                <a:solidFill>
                  <a:srgbClr val="17263E"/>
                </a:solidFill>
                <a:latin typeface="Arial"/>
                <a:ea typeface="Arial"/>
                <a:cs typeface="Arial"/>
              </a:defRPr>
            </a:lvl9pPr>
          </a:lstStyle>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If product opens rise but funded orders do not,</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inspect KYC, funding and fees before</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concluding that discovery is solved.</a:t>
            </a:r>
          </a:p>
        </p:txBody>
      </p:sp>
      <p:sp>
        <p:nvSpPr>
          <p:cNvPr id="8" name="">
            <a:extLst xmlns:a="http://schemas.openxmlformats.org/drawingml/2006/main">
              <a:ext uri="{FF2B5EF4-FFF2-40B4-BE49-F238E27FC236}">
                <a16:creationId xmlns:a16="http://schemas.microsoft.com/office/drawing/2014/main" id="{A62C335A-BF58-4C8C-9507-3A3A62E58EA4}"/>
              </a:ext>
            </a:extLst>
          </p:cNvPr>
          <p:cNvSpPr>
            <a:spLocks xmlns:a="http://schemas.openxmlformats.org/drawingml/2006/main" noGrp="1"/>
          </p:cNvSpPr>
          <p:nvPr/>
        </p:nvSpPr>
        <p:spPr>
          <a:xfrm xmlns:a="http://schemas.openxmlformats.org/drawingml/2006/main">
            <a:off x="6848475" y="1790700"/>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8369F"/>
                </a:solidFill>
                <a:latin typeface="Arial"/>
                <a:ea typeface="Arial"/>
                <a:cs typeface="Arial"/>
              </a:defRPr>
            </a:defPPr>
            <a:lvl1pPr>
              <a:defRPr sz="1875" b="1">
                <a:solidFill>
                  <a:srgbClr val="28369F"/>
                </a:solidFill>
                <a:latin typeface="Arial"/>
                <a:ea typeface="Arial"/>
                <a:cs typeface="Arial"/>
              </a:defRPr>
            </a:lvl1pPr>
            <a:lvl2pPr>
              <a:defRPr sz="1875" b="1">
                <a:solidFill>
                  <a:srgbClr val="28369F"/>
                </a:solidFill>
                <a:latin typeface="Arial"/>
                <a:ea typeface="Arial"/>
                <a:cs typeface="Arial"/>
              </a:defRPr>
            </a:lvl2pPr>
            <a:lvl3pPr>
              <a:defRPr sz="1875" b="1">
                <a:solidFill>
                  <a:srgbClr val="28369F"/>
                </a:solidFill>
                <a:latin typeface="Arial"/>
                <a:ea typeface="Arial"/>
                <a:cs typeface="Arial"/>
              </a:defRPr>
            </a:lvl3pPr>
            <a:lvl4pPr>
              <a:defRPr sz="1875" b="1">
                <a:solidFill>
                  <a:srgbClr val="28369F"/>
                </a:solidFill>
                <a:latin typeface="Arial"/>
                <a:ea typeface="Arial"/>
                <a:cs typeface="Arial"/>
              </a:defRPr>
            </a:lvl4pPr>
            <a:lvl5pPr>
              <a:defRPr sz="1875" b="1">
                <a:solidFill>
                  <a:srgbClr val="28369F"/>
                </a:solidFill>
                <a:latin typeface="Arial"/>
                <a:ea typeface="Arial"/>
                <a:cs typeface="Arial"/>
              </a:defRPr>
            </a:lvl5pPr>
            <a:lvl6pPr>
              <a:defRPr sz="1875" b="1">
                <a:solidFill>
                  <a:srgbClr val="28369F"/>
                </a:solidFill>
                <a:latin typeface="Arial"/>
                <a:ea typeface="Arial"/>
                <a:cs typeface="Arial"/>
              </a:defRPr>
            </a:lvl6pPr>
            <a:lvl7pPr>
              <a:defRPr sz="1875" b="1">
                <a:solidFill>
                  <a:srgbClr val="28369F"/>
                </a:solidFill>
                <a:latin typeface="Arial"/>
                <a:ea typeface="Arial"/>
                <a:cs typeface="Arial"/>
              </a:defRPr>
            </a:lvl7pPr>
            <a:lvl8pPr>
              <a:defRPr sz="1875" b="1">
                <a:solidFill>
                  <a:srgbClr val="28369F"/>
                </a:solidFill>
                <a:latin typeface="Arial"/>
                <a:ea typeface="Arial"/>
                <a:cs typeface="Arial"/>
              </a:defRPr>
            </a:lvl8pPr>
            <a:lvl9pPr>
              <a:defRPr sz="1875" b="1">
                <a:solidFill>
                  <a:srgbClr val="28369F"/>
                </a:solidFill>
                <a:latin typeface="Arial"/>
                <a:ea typeface="Arial"/>
                <a:cs typeface="Arial"/>
              </a:defRPr>
            </a:lvl9pPr>
          </a:lstStyle>
          <a:p xmlns:a="http://schemas.openxmlformats.org/drawingml/2006/main">
            <a:pPr>
              <a:defRPr sz="1875" b="1">
                <a:solidFill>
                  <a:srgbClr val="28369F"/>
                </a:solidFill>
                <a:latin typeface="Arial"/>
                <a:ea typeface="Arial"/>
                <a:cs typeface="Arial"/>
              </a:defRPr>
            </a:pPr>
            <a:r>
              <a:rPr sz="1875" b="1">
                <a:solidFill>
                  <a:srgbClr val="28369F"/>
                </a:solidFill>
                <a:latin typeface="Arial"/>
                <a:ea typeface="Arial"/>
                <a:cs typeface="Arial"/>
              </a:rPr>
              <a:t>Test the layout first</a:t>
            </a:r>
          </a:p>
        </p:txBody>
      </p:sp>
      <p:sp>
        <p:nvSpPr>
          <p:cNvPr id="9" name="">
            <a:extLst xmlns:a="http://schemas.openxmlformats.org/drawingml/2006/main">
              <a:ext uri="{FF2B5EF4-FFF2-40B4-BE49-F238E27FC236}">
                <a16:creationId xmlns:a16="http://schemas.microsoft.com/office/drawing/2014/main" id="{F937FE4A-6351-47E9-BB54-BD44F8108825}"/>
              </a:ext>
            </a:extLst>
          </p:cNvPr>
          <p:cNvSpPr>
            <a:spLocks xmlns:a="http://schemas.openxmlformats.org/drawingml/2006/main" noGrp="1"/>
          </p:cNvSpPr>
          <p:nvPr/>
        </p:nvSpPr>
        <p:spPr>
          <a:xfrm xmlns:a="http://schemas.openxmlformats.org/drawingml/2006/main">
            <a:off x="6848475" y="2219325"/>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63E"/>
                </a:solidFill>
                <a:latin typeface="Arial"/>
                <a:ea typeface="Arial"/>
                <a:cs typeface="Arial"/>
              </a:defRPr>
            </a:defPPr>
            <a:lvl1pPr>
              <a:defRPr sz="1725" b="0">
                <a:solidFill>
                  <a:srgbClr val="17263E"/>
                </a:solidFill>
                <a:latin typeface="Arial"/>
                <a:ea typeface="Arial"/>
                <a:cs typeface="Arial"/>
              </a:defRPr>
            </a:lvl1pPr>
            <a:lvl2pPr>
              <a:defRPr sz="1725" b="0">
                <a:solidFill>
                  <a:srgbClr val="17263E"/>
                </a:solidFill>
                <a:latin typeface="Arial"/>
                <a:ea typeface="Arial"/>
                <a:cs typeface="Arial"/>
              </a:defRPr>
            </a:lvl2pPr>
            <a:lvl3pPr>
              <a:defRPr sz="1725" b="0">
                <a:solidFill>
                  <a:srgbClr val="17263E"/>
                </a:solidFill>
                <a:latin typeface="Arial"/>
                <a:ea typeface="Arial"/>
                <a:cs typeface="Arial"/>
              </a:defRPr>
            </a:lvl3pPr>
            <a:lvl4pPr>
              <a:defRPr sz="1725" b="0">
                <a:solidFill>
                  <a:srgbClr val="17263E"/>
                </a:solidFill>
                <a:latin typeface="Arial"/>
                <a:ea typeface="Arial"/>
                <a:cs typeface="Arial"/>
              </a:defRPr>
            </a:lvl4pPr>
            <a:lvl5pPr>
              <a:defRPr sz="1725" b="0">
                <a:solidFill>
                  <a:srgbClr val="17263E"/>
                </a:solidFill>
                <a:latin typeface="Arial"/>
                <a:ea typeface="Arial"/>
                <a:cs typeface="Arial"/>
              </a:defRPr>
            </a:lvl5pPr>
            <a:lvl6pPr>
              <a:defRPr sz="1725" b="0">
                <a:solidFill>
                  <a:srgbClr val="17263E"/>
                </a:solidFill>
                <a:latin typeface="Arial"/>
                <a:ea typeface="Arial"/>
                <a:cs typeface="Arial"/>
              </a:defRPr>
            </a:lvl6pPr>
            <a:lvl7pPr>
              <a:defRPr sz="1725" b="0">
                <a:solidFill>
                  <a:srgbClr val="17263E"/>
                </a:solidFill>
                <a:latin typeface="Arial"/>
                <a:ea typeface="Arial"/>
                <a:cs typeface="Arial"/>
              </a:defRPr>
            </a:lvl7pPr>
            <a:lvl8pPr>
              <a:defRPr sz="1725" b="0">
                <a:solidFill>
                  <a:srgbClr val="17263E"/>
                </a:solidFill>
                <a:latin typeface="Arial"/>
                <a:ea typeface="Arial"/>
                <a:cs typeface="Arial"/>
              </a:defRPr>
            </a:lvl8pPr>
            <a:lvl9pPr>
              <a:defRPr sz="1725" b="0">
                <a:solidFill>
                  <a:srgbClr val="17263E"/>
                </a:solidFill>
                <a:latin typeface="Arial"/>
                <a:ea typeface="Arial"/>
                <a:cs typeface="Arial"/>
              </a:defRPr>
            </a:lvl9pPr>
          </a:lstStyle>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Current shelves vs compact, static cards.</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Keep products and eligibility consistent.</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Set sample size from the actual baseline.</a:t>
            </a:r>
          </a:p>
        </p:txBody>
      </p:sp>
      <p:sp>
        <p:nvSpPr>
          <p:cNvPr id="10" name="">
            <a:extLst xmlns:a="http://schemas.openxmlformats.org/drawingml/2006/main">
              <a:ext uri="{FF2B5EF4-FFF2-40B4-BE49-F238E27FC236}">
                <a16:creationId xmlns:a16="http://schemas.microsoft.com/office/drawing/2014/main" id="{FC4B6F0B-1A87-474C-9680-2FEFFD2D625B}"/>
              </a:ext>
            </a:extLst>
          </p:cNvPr>
          <p:cNvSpPr>
            <a:spLocks xmlns:a="http://schemas.openxmlformats.org/drawingml/2006/main" noGrp="1"/>
          </p:cNvSpPr>
          <p:nvPr/>
        </p:nvSpPr>
        <p:spPr>
          <a:xfrm xmlns:a="http://schemas.openxmlformats.org/drawingml/2006/main">
            <a:off x="6848475" y="34766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8369F"/>
                </a:solidFill>
                <a:latin typeface="Arial"/>
                <a:ea typeface="Arial"/>
                <a:cs typeface="Arial"/>
              </a:defRPr>
            </a:defPPr>
            <a:lvl1pPr>
              <a:defRPr sz="1875" b="1">
                <a:solidFill>
                  <a:srgbClr val="28369F"/>
                </a:solidFill>
                <a:latin typeface="Arial"/>
                <a:ea typeface="Arial"/>
                <a:cs typeface="Arial"/>
              </a:defRPr>
            </a:lvl1pPr>
            <a:lvl2pPr>
              <a:defRPr sz="1875" b="1">
                <a:solidFill>
                  <a:srgbClr val="28369F"/>
                </a:solidFill>
                <a:latin typeface="Arial"/>
                <a:ea typeface="Arial"/>
                <a:cs typeface="Arial"/>
              </a:defRPr>
            </a:lvl2pPr>
            <a:lvl3pPr>
              <a:defRPr sz="1875" b="1">
                <a:solidFill>
                  <a:srgbClr val="28369F"/>
                </a:solidFill>
                <a:latin typeface="Arial"/>
                <a:ea typeface="Arial"/>
                <a:cs typeface="Arial"/>
              </a:defRPr>
            </a:lvl3pPr>
            <a:lvl4pPr>
              <a:defRPr sz="1875" b="1">
                <a:solidFill>
                  <a:srgbClr val="28369F"/>
                </a:solidFill>
                <a:latin typeface="Arial"/>
                <a:ea typeface="Arial"/>
                <a:cs typeface="Arial"/>
              </a:defRPr>
            </a:lvl4pPr>
            <a:lvl5pPr>
              <a:defRPr sz="1875" b="1">
                <a:solidFill>
                  <a:srgbClr val="28369F"/>
                </a:solidFill>
                <a:latin typeface="Arial"/>
                <a:ea typeface="Arial"/>
                <a:cs typeface="Arial"/>
              </a:defRPr>
            </a:lvl5pPr>
            <a:lvl6pPr>
              <a:defRPr sz="1875" b="1">
                <a:solidFill>
                  <a:srgbClr val="28369F"/>
                </a:solidFill>
                <a:latin typeface="Arial"/>
                <a:ea typeface="Arial"/>
                <a:cs typeface="Arial"/>
              </a:defRPr>
            </a:lvl6pPr>
            <a:lvl7pPr>
              <a:defRPr sz="1875" b="1">
                <a:solidFill>
                  <a:srgbClr val="28369F"/>
                </a:solidFill>
                <a:latin typeface="Arial"/>
                <a:ea typeface="Arial"/>
                <a:cs typeface="Arial"/>
              </a:defRPr>
            </a:lvl7pPr>
            <a:lvl8pPr>
              <a:defRPr sz="1875" b="1">
                <a:solidFill>
                  <a:srgbClr val="28369F"/>
                </a:solidFill>
                <a:latin typeface="Arial"/>
                <a:ea typeface="Arial"/>
                <a:cs typeface="Arial"/>
              </a:defRPr>
            </a:lvl8pPr>
            <a:lvl9pPr>
              <a:defRPr sz="1875" b="1">
                <a:solidFill>
                  <a:srgbClr val="28369F"/>
                </a:solidFill>
                <a:latin typeface="Arial"/>
                <a:ea typeface="Arial"/>
                <a:cs typeface="Arial"/>
              </a:defRPr>
            </a:lvl9pPr>
          </a:lstStyle>
          <a:p xmlns:a="http://schemas.openxmlformats.org/drawingml/2006/main">
            <a:pPr>
              <a:defRPr sz="1875" b="1">
                <a:solidFill>
                  <a:srgbClr val="28369F"/>
                </a:solidFill>
                <a:latin typeface="Arial"/>
                <a:ea typeface="Arial"/>
                <a:cs typeface="Arial"/>
              </a:defRPr>
            </a:pPr>
            <a:r>
              <a:rPr sz="1875" b="1">
                <a:solidFill>
                  <a:srgbClr val="28369F"/>
                </a:solidFill>
                <a:latin typeface="Arial"/>
                <a:ea typeface="Arial"/>
                <a:cs typeface="Arial"/>
              </a:rPr>
              <a:t>Then test the motion</a:t>
            </a:r>
          </a:p>
        </p:txBody>
      </p:sp>
      <p:sp>
        <p:nvSpPr>
          <p:cNvPr id="11" name="">
            <a:extLst xmlns:a="http://schemas.openxmlformats.org/drawingml/2006/main">
              <a:ext uri="{FF2B5EF4-FFF2-40B4-BE49-F238E27FC236}">
                <a16:creationId xmlns:a16="http://schemas.microsoft.com/office/drawing/2014/main" id="{314568EF-7CA3-47CE-92D8-36E4F9E3A588}"/>
              </a:ext>
            </a:extLst>
          </p:cNvPr>
          <p:cNvSpPr>
            <a:spLocks xmlns:a="http://schemas.openxmlformats.org/drawingml/2006/main" noGrp="1"/>
          </p:cNvSpPr>
          <p:nvPr/>
        </p:nvSpPr>
        <p:spPr>
          <a:xfrm xmlns:a="http://schemas.openxmlformats.org/drawingml/2006/main">
            <a:off x="6848475" y="3905250"/>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63E"/>
                </a:solidFill>
                <a:latin typeface="Arial"/>
                <a:ea typeface="Arial"/>
                <a:cs typeface="Arial"/>
              </a:defRPr>
            </a:defPPr>
            <a:lvl1pPr>
              <a:defRPr sz="1725" b="0">
                <a:solidFill>
                  <a:srgbClr val="17263E"/>
                </a:solidFill>
                <a:latin typeface="Arial"/>
                <a:ea typeface="Arial"/>
                <a:cs typeface="Arial"/>
              </a:defRPr>
            </a:lvl1pPr>
            <a:lvl2pPr>
              <a:defRPr sz="1725" b="0">
                <a:solidFill>
                  <a:srgbClr val="17263E"/>
                </a:solidFill>
                <a:latin typeface="Arial"/>
                <a:ea typeface="Arial"/>
                <a:cs typeface="Arial"/>
              </a:defRPr>
            </a:lvl2pPr>
            <a:lvl3pPr>
              <a:defRPr sz="1725" b="0">
                <a:solidFill>
                  <a:srgbClr val="17263E"/>
                </a:solidFill>
                <a:latin typeface="Arial"/>
                <a:ea typeface="Arial"/>
                <a:cs typeface="Arial"/>
              </a:defRPr>
            </a:lvl3pPr>
            <a:lvl4pPr>
              <a:defRPr sz="1725" b="0">
                <a:solidFill>
                  <a:srgbClr val="17263E"/>
                </a:solidFill>
                <a:latin typeface="Arial"/>
                <a:ea typeface="Arial"/>
                <a:cs typeface="Arial"/>
              </a:defRPr>
            </a:lvl4pPr>
            <a:lvl5pPr>
              <a:defRPr sz="1725" b="0">
                <a:solidFill>
                  <a:srgbClr val="17263E"/>
                </a:solidFill>
                <a:latin typeface="Arial"/>
                <a:ea typeface="Arial"/>
                <a:cs typeface="Arial"/>
              </a:defRPr>
            </a:lvl5pPr>
            <a:lvl6pPr>
              <a:defRPr sz="1725" b="0">
                <a:solidFill>
                  <a:srgbClr val="17263E"/>
                </a:solidFill>
                <a:latin typeface="Arial"/>
                <a:ea typeface="Arial"/>
                <a:cs typeface="Arial"/>
              </a:defRPr>
            </a:lvl6pPr>
            <a:lvl7pPr>
              <a:defRPr sz="1725" b="0">
                <a:solidFill>
                  <a:srgbClr val="17263E"/>
                </a:solidFill>
                <a:latin typeface="Arial"/>
                <a:ea typeface="Arial"/>
                <a:cs typeface="Arial"/>
              </a:defRPr>
            </a:lvl7pPr>
            <a:lvl8pPr>
              <a:defRPr sz="1725" b="0">
                <a:solidFill>
                  <a:srgbClr val="17263E"/>
                </a:solidFill>
                <a:latin typeface="Arial"/>
                <a:ea typeface="Arial"/>
                <a:cs typeface="Arial"/>
              </a:defRPr>
            </a:lvl8pPr>
            <a:lvl9pPr>
              <a:defRPr sz="1725" b="0">
                <a:solidFill>
                  <a:srgbClr val="17263E"/>
                </a:solidFill>
                <a:latin typeface="Arial"/>
                <a:ea typeface="Arial"/>
                <a:cs typeface="Arial"/>
              </a:defRPr>
            </a:lvl9pPr>
          </a:lstStyle>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Static cards vs the two moving rows.</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Ship only if comprehension and completed</a:t>
            </a:r>
          </a:p>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investments hold up—not just taps.</a:t>
            </a:r>
          </a:p>
        </p:txBody>
      </p:sp>
      <p:sp>
        <p:nvSpPr>
          <p:cNvPr id="12" name="">
            <a:extLst xmlns:a="http://schemas.openxmlformats.org/drawingml/2006/main">
              <a:ext uri="{FF2B5EF4-FFF2-40B4-BE49-F238E27FC236}">
                <a16:creationId xmlns:a16="http://schemas.microsoft.com/office/drawing/2014/main" id="{CED24F49-EC33-4A1E-B078-697FDEADCAEE}"/>
              </a:ext>
            </a:extLst>
          </p:cNvPr>
          <p:cNvSpPr>
            <a:spLocks xmlns:a="http://schemas.openxmlformats.org/drawingml/2006/main" noGrp="1"/>
          </p:cNvSpPr>
          <p:nvPr/>
        </p:nvSpPr>
        <p:spPr>
          <a:xfrm xmlns:a="http://schemas.openxmlformats.org/drawingml/2006/main">
            <a:off x="6848475" y="5162550"/>
            <a:ext cx="471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28369F"/>
                </a:solidFill>
                <a:latin typeface="Arial"/>
                <a:ea typeface="Arial"/>
                <a:cs typeface="Arial"/>
              </a:defRPr>
            </a:defPPr>
            <a:lvl1pPr>
              <a:defRPr sz="1575" b="1">
                <a:solidFill>
                  <a:srgbClr val="28369F"/>
                </a:solidFill>
                <a:latin typeface="Arial"/>
                <a:ea typeface="Arial"/>
                <a:cs typeface="Arial"/>
              </a:defRPr>
            </a:lvl1pPr>
            <a:lvl2pPr>
              <a:defRPr sz="1575" b="1">
                <a:solidFill>
                  <a:srgbClr val="28369F"/>
                </a:solidFill>
                <a:latin typeface="Arial"/>
                <a:ea typeface="Arial"/>
                <a:cs typeface="Arial"/>
              </a:defRPr>
            </a:lvl2pPr>
            <a:lvl3pPr>
              <a:defRPr sz="1575" b="1">
                <a:solidFill>
                  <a:srgbClr val="28369F"/>
                </a:solidFill>
                <a:latin typeface="Arial"/>
                <a:ea typeface="Arial"/>
                <a:cs typeface="Arial"/>
              </a:defRPr>
            </a:lvl3pPr>
            <a:lvl4pPr>
              <a:defRPr sz="1575" b="1">
                <a:solidFill>
                  <a:srgbClr val="28369F"/>
                </a:solidFill>
                <a:latin typeface="Arial"/>
                <a:ea typeface="Arial"/>
                <a:cs typeface="Arial"/>
              </a:defRPr>
            </a:lvl4pPr>
            <a:lvl5pPr>
              <a:defRPr sz="1575" b="1">
                <a:solidFill>
                  <a:srgbClr val="28369F"/>
                </a:solidFill>
                <a:latin typeface="Arial"/>
                <a:ea typeface="Arial"/>
                <a:cs typeface="Arial"/>
              </a:defRPr>
            </a:lvl5pPr>
            <a:lvl6pPr>
              <a:defRPr sz="1575" b="1">
                <a:solidFill>
                  <a:srgbClr val="28369F"/>
                </a:solidFill>
                <a:latin typeface="Arial"/>
                <a:ea typeface="Arial"/>
                <a:cs typeface="Arial"/>
              </a:defRPr>
            </a:lvl6pPr>
            <a:lvl7pPr>
              <a:defRPr sz="1575" b="1">
                <a:solidFill>
                  <a:srgbClr val="28369F"/>
                </a:solidFill>
                <a:latin typeface="Arial"/>
                <a:ea typeface="Arial"/>
                <a:cs typeface="Arial"/>
              </a:defRPr>
            </a:lvl7pPr>
            <a:lvl8pPr>
              <a:defRPr sz="1575" b="1">
                <a:solidFill>
                  <a:srgbClr val="28369F"/>
                </a:solidFill>
                <a:latin typeface="Arial"/>
                <a:ea typeface="Arial"/>
                <a:cs typeface="Arial"/>
              </a:defRPr>
            </a:lvl8pPr>
            <a:lvl9pPr>
              <a:defRPr sz="1575" b="1">
                <a:solidFill>
                  <a:srgbClr val="28369F"/>
                </a:solidFill>
                <a:latin typeface="Arial"/>
                <a:ea typeface="Arial"/>
                <a:cs typeface="Arial"/>
              </a:defRPr>
            </a:lvl9pPr>
          </a:lstStyle>
          <a:p xmlns:a="http://schemas.openxmlformats.org/drawingml/2006/main">
            <a:pPr>
              <a:defRPr sz="1575" b="1">
                <a:solidFill>
                  <a:srgbClr val="28369F"/>
                </a:solidFill>
                <a:latin typeface="Arial"/>
                <a:ea typeface="Arial"/>
                <a:cs typeface="Arial"/>
              </a:defRPr>
            </a:pPr>
            <a:r>
              <a:rPr sz="1575" b="1">
                <a:solidFill>
                  <a:srgbClr val="28369F"/>
                </a:solidFill>
                <a:latin typeface="Arial"/>
                <a:ea typeface="Arial"/>
                <a:cs typeface="Arial"/>
              </a:rPr>
              <a:t>Check the cost of the improvement</a:t>
            </a:r>
          </a:p>
        </p:txBody>
      </p:sp>
      <p:sp>
        <p:nvSpPr>
          <p:cNvPr id="13" name="">
            <a:extLst xmlns:a="http://schemas.openxmlformats.org/drawingml/2006/main">
              <a:ext uri="{FF2B5EF4-FFF2-40B4-BE49-F238E27FC236}">
                <a16:creationId xmlns:a16="http://schemas.microsoft.com/office/drawing/2014/main" id="{FBBCF2CC-728E-4F84-9985-8379C0F244A9}"/>
              </a:ext>
            </a:extLst>
          </p:cNvPr>
          <p:cNvSpPr>
            <a:spLocks xmlns:a="http://schemas.openxmlformats.org/drawingml/2006/main" noGrp="1"/>
          </p:cNvSpPr>
          <p:nvPr/>
        </p:nvSpPr>
        <p:spPr>
          <a:xfrm xmlns:a="http://schemas.openxmlformats.org/drawingml/2006/main">
            <a:off x="6848475" y="5553075"/>
            <a:ext cx="4714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63E"/>
                </a:solidFill>
                <a:latin typeface="Arial"/>
                <a:ea typeface="Arial"/>
                <a:cs typeface="Arial"/>
              </a:defRPr>
            </a:defPPr>
            <a:lvl1pPr>
              <a:defRPr sz="1575" b="0">
                <a:solidFill>
                  <a:srgbClr val="17263E"/>
                </a:solidFill>
                <a:latin typeface="Arial"/>
                <a:ea typeface="Arial"/>
                <a:cs typeface="Arial"/>
              </a:defRPr>
            </a:lvl1pPr>
            <a:lvl2pPr>
              <a:defRPr sz="1575" b="0">
                <a:solidFill>
                  <a:srgbClr val="17263E"/>
                </a:solidFill>
                <a:latin typeface="Arial"/>
                <a:ea typeface="Arial"/>
                <a:cs typeface="Arial"/>
              </a:defRPr>
            </a:lvl2pPr>
            <a:lvl3pPr>
              <a:defRPr sz="1575" b="0">
                <a:solidFill>
                  <a:srgbClr val="17263E"/>
                </a:solidFill>
                <a:latin typeface="Arial"/>
                <a:ea typeface="Arial"/>
                <a:cs typeface="Arial"/>
              </a:defRPr>
            </a:lvl3pPr>
            <a:lvl4pPr>
              <a:defRPr sz="1575" b="0">
                <a:solidFill>
                  <a:srgbClr val="17263E"/>
                </a:solidFill>
                <a:latin typeface="Arial"/>
                <a:ea typeface="Arial"/>
                <a:cs typeface="Arial"/>
              </a:defRPr>
            </a:lvl4pPr>
            <a:lvl5pPr>
              <a:defRPr sz="1575" b="0">
                <a:solidFill>
                  <a:srgbClr val="17263E"/>
                </a:solidFill>
                <a:latin typeface="Arial"/>
                <a:ea typeface="Arial"/>
                <a:cs typeface="Arial"/>
              </a:defRPr>
            </a:lvl5pPr>
            <a:lvl6pPr>
              <a:defRPr sz="1575" b="0">
                <a:solidFill>
                  <a:srgbClr val="17263E"/>
                </a:solidFill>
                <a:latin typeface="Arial"/>
                <a:ea typeface="Arial"/>
                <a:cs typeface="Arial"/>
              </a:defRPr>
            </a:lvl6pPr>
            <a:lvl7pPr>
              <a:defRPr sz="1575" b="0">
                <a:solidFill>
                  <a:srgbClr val="17263E"/>
                </a:solidFill>
                <a:latin typeface="Arial"/>
                <a:ea typeface="Arial"/>
                <a:cs typeface="Arial"/>
              </a:defRPr>
            </a:lvl7pPr>
            <a:lvl8pPr>
              <a:defRPr sz="1575" b="0">
                <a:solidFill>
                  <a:srgbClr val="17263E"/>
                </a:solidFill>
                <a:latin typeface="Arial"/>
                <a:ea typeface="Arial"/>
                <a:cs typeface="Arial"/>
              </a:defRPr>
            </a:lvl8pPr>
            <a:lvl9pPr>
              <a:defRPr sz="1575" b="0">
                <a:solidFill>
                  <a:srgbClr val="17263E"/>
                </a:solidFill>
                <a:latin typeface="Arial"/>
                <a:ea typeface="Arial"/>
                <a:cs typeface="Arial"/>
              </a:defRPr>
            </a:lvl9pPr>
          </a:lstStyle>
          <a:p xmlns:a="http://schemas.openxmlformats.org/drawingml/2006/main">
            <a:pPr>
              <a:defRPr sz="1575" b="0">
                <a:solidFill>
                  <a:srgbClr val="17263E"/>
                </a:solidFill>
                <a:latin typeface="Arial"/>
                <a:ea typeface="Arial"/>
                <a:cs typeface="Arial"/>
              </a:defRPr>
            </a:pPr>
            <a:r>
              <a:rPr sz="1575" b="0">
                <a:solidFill>
                  <a:srgbClr val="17263E"/>
                </a:solidFill>
                <a:latin typeface="Arial"/>
                <a:ea typeface="Arial"/>
                <a:cs typeface="Arial"/>
              </a:rPr>
              <a:t>Track assistance, risk/fee understanding,</a:t>
            </a:r>
          </a:p>
          <a:p xmlns:a="http://schemas.openxmlformats.org/drawingml/2006/main">
            <a:pPr>
              <a:defRPr sz="1575" b="0">
                <a:solidFill>
                  <a:srgbClr val="17263E"/>
                </a:solidFill>
                <a:latin typeface="Arial"/>
                <a:ea typeface="Arial"/>
                <a:cs typeface="Arial"/>
              </a:defRPr>
            </a:pPr>
            <a:r>
              <a:rPr sz="1575" b="0">
                <a:solidFill>
                  <a:srgbClr val="17263E"/>
                </a:solidFill>
                <a:latin typeface="Arial"/>
                <a:ea typeface="Arial"/>
                <a:cs typeface="Arial"/>
              </a:rPr>
              <a:t>errors, cancellations and complaints.</a:t>
            </a:r>
          </a:p>
        </p:txBody>
      </p:sp>
      <p:sp>
        <p:nvSpPr>
          <p:cNvPr id="14" name="">
            <a:extLst xmlns:a="http://schemas.openxmlformats.org/drawingml/2006/main">
              <a:ext uri="{FF2B5EF4-FFF2-40B4-BE49-F238E27FC236}">
                <a16:creationId xmlns:a16="http://schemas.microsoft.com/office/drawing/2014/main" id="{B0BEEB1B-8781-460E-AF0C-12FDBDDE8B74}"/>
              </a:ext>
            </a:extLst>
          </p:cNvPr>
          <p:cNvSpPr>
            <a:spLocks xmlns:a="http://schemas.openxmlformats.org/drawingml/2006/main" noGrp="1"/>
          </p:cNvSpPr>
          <p:nvPr/>
        </p:nvSpPr>
        <p:spPr>
          <a:xfrm xmlns:a="http://schemas.openxmlformats.org/drawingml/2006/main">
            <a:off x="590550" y="641032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8677E"/>
                </a:solidFill>
                <a:latin typeface="Arial"/>
                <a:ea typeface="Arial"/>
                <a:cs typeface="Arial"/>
              </a:defRPr>
            </a:defPPr>
            <a:lvl1pPr>
              <a:defRPr sz="900" b="0">
                <a:solidFill>
                  <a:srgbClr val="58677E"/>
                </a:solidFill>
                <a:latin typeface="Arial"/>
                <a:ea typeface="Arial"/>
                <a:cs typeface="Arial"/>
              </a:defRPr>
            </a:lvl1pPr>
            <a:lvl2pPr>
              <a:defRPr sz="900" b="0">
                <a:solidFill>
                  <a:srgbClr val="58677E"/>
                </a:solidFill>
                <a:latin typeface="Arial"/>
                <a:ea typeface="Arial"/>
                <a:cs typeface="Arial"/>
              </a:defRPr>
            </a:lvl2pPr>
            <a:lvl3pPr>
              <a:defRPr sz="900" b="0">
                <a:solidFill>
                  <a:srgbClr val="58677E"/>
                </a:solidFill>
                <a:latin typeface="Arial"/>
                <a:ea typeface="Arial"/>
                <a:cs typeface="Arial"/>
              </a:defRPr>
            </a:lvl3pPr>
            <a:lvl4pPr>
              <a:defRPr sz="900" b="0">
                <a:solidFill>
                  <a:srgbClr val="58677E"/>
                </a:solidFill>
                <a:latin typeface="Arial"/>
                <a:ea typeface="Arial"/>
                <a:cs typeface="Arial"/>
              </a:defRPr>
            </a:lvl4pPr>
            <a:lvl5pPr>
              <a:defRPr sz="900" b="0">
                <a:solidFill>
                  <a:srgbClr val="58677E"/>
                </a:solidFill>
                <a:latin typeface="Arial"/>
                <a:ea typeface="Arial"/>
                <a:cs typeface="Arial"/>
              </a:defRPr>
            </a:lvl5pPr>
            <a:lvl6pPr>
              <a:defRPr sz="900" b="0">
                <a:solidFill>
                  <a:srgbClr val="58677E"/>
                </a:solidFill>
                <a:latin typeface="Arial"/>
                <a:ea typeface="Arial"/>
                <a:cs typeface="Arial"/>
              </a:defRPr>
            </a:lvl6pPr>
            <a:lvl7pPr>
              <a:defRPr sz="900" b="0">
                <a:solidFill>
                  <a:srgbClr val="58677E"/>
                </a:solidFill>
                <a:latin typeface="Arial"/>
                <a:ea typeface="Arial"/>
                <a:cs typeface="Arial"/>
              </a:defRPr>
            </a:lvl7pPr>
            <a:lvl8pPr>
              <a:defRPr sz="900" b="0">
                <a:solidFill>
                  <a:srgbClr val="58677E"/>
                </a:solidFill>
                <a:latin typeface="Arial"/>
                <a:ea typeface="Arial"/>
                <a:cs typeface="Arial"/>
              </a:defRPr>
            </a:lvl8pPr>
            <a:lvl9pPr>
              <a:defRPr sz="900" b="0">
                <a:solidFill>
                  <a:srgbClr val="58677E"/>
                </a:solidFill>
                <a:latin typeface="Arial"/>
                <a:ea typeface="Arial"/>
                <a:cs typeface="Arial"/>
              </a:defRPr>
            </a:lvl9pPr>
          </a:lstStyle>
          <a:p xmlns:a="http://schemas.openxmlformats.org/drawingml/2006/main">
            <a:pPr>
              <a:defRPr sz="900" b="0">
                <a:solidFill>
                  <a:srgbClr val="58677E"/>
                </a:solidFill>
                <a:latin typeface="Arial"/>
                <a:ea typeface="Arial"/>
                <a:cs typeface="Arial"/>
              </a:defRPr>
            </a:pPr>
            <a:r>
              <a:t>Research basis: </a:t>
            </a:r>
            <a:r>
              <a:rPr>
                <a:hlinkClick xmlns:r="http://schemas.openxmlformats.org/officeDocument/2006/relationships" r:id="R2f2bfb6e70d5485b"/>
              </a:rPr>
              <a:t>Iyengar &amp; Kamenica (2010), Choice Proliferation, Simplicity Seeking, and Asset Allocation</a:t>
            </a:r>
            <a:r>
              <a:t>. DOI: 10.1016/j.jpubeco.2010.03.006</a:t>
            </a:r>
          </a:p>
        </p:txBody>
      </p:sp>
    </p:spTree>
    <p:extLst>
      <p:ext uri="{BB962C8B-B14F-4D97-AF65-F5344CB8AC3E}">
        <p14:creationId xmlns:p14="http://schemas.microsoft.com/office/powerpoint/2010/main" val="20570148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2026-10-18T04:15:48.2810000Z</dcterms:created>
  <dcterms:modified xsi:type="dcterms:W3CDTF">2026-10-18T04:15:48.2810000Z</dcterms:modified>
</coreProperties>
</file>