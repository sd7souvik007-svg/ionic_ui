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73ca4e96a84f36" /><Relationship Type="http://schemas.openxmlformats.org/officeDocument/2006/relationships/extended-properties" Target="/docProps/app.xml" Id="R0f91c706d31f4268" /><Relationship Type="http://schemas.openxmlformats.org/officeDocument/2006/relationships/officeDocument" Target="/ppt/presentation.xml" Id="R7f6a90c7a1504a27" /></Relationships>
</file>

<file path=ppt/presentation.xml><?xml version="1.0" encoding="utf-8"?>
<p:presentation xmlns:p="http://schemas.openxmlformats.org/presentationml/2006/main">
  <p:sldMasterIdLst>
    <p:sldMasterId xmlns:r="http://schemas.openxmlformats.org/officeDocument/2006/relationships" id="2147483648" r:id="Rbfe432d535934e02"/>
  </p:sldMasterIdLst>
  <p:notesMasterIdLst>
    <p:notesMasterId xmlns:r="http://schemas.openxmlformats.org/officeDocument/2006/relationships" r:id="Rc7ecaef2548a4c2c"/>
  </p:notesMasterIdLst>
  <p:sldIdLst>
    <p:sldId xmlns:r="http://schemas.openxmlformats.org/officeDocument/2006/relationships" id="256" r:id="Rc67fbe4c3eba4e15"/>
    <p:sldId xmlns:r="http://schemas.openxmlformats.org/officeDocument/2006/relationships" id="257" r:id="Rcaa1fdf1e8fd418b"/>
    <p:sldId xmlns:r="http://schemas.openxmlformats.org/officeDocument/2006/relationships" id="258" r:id="R1b0daac5078f4a89"/>
    <p:sldId xmlns:r="http://schemas.openxmlformats.org/officeDocument/2006/relationships" id="259" r:id="R6dc06f09eb8c47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4c417573654969" /><Relationship Type="http://schemas.openxmlformats.org/officeDocument/2006/relationships/slideMaster" Target="/ppt/slideMasters/slideMaster1.xml" Id="Rbfe432d535934e02" /><Relationship Type="http://schemas.openxmlformats.org/officeDocument/2006/relationships/notesMaster" Target="/ppt/notesMasters/notesMaster1.xml" Id="Rc7ecaef2548a4c2c" /><Relationship Type="http://schemas.openxmlformats.org/officeDocument/2006/relationships/presProps" Target="/ppt/presProps.xml" Id="R378a4ec079e84c55" /><Relationship Type="http://schemas.openxmlformats.org/officeDocument/2006/relationships/tableStyles" Target="/ppt/tableStyles.xml" Id="R957dc924f0674e15" /><Relationship Type="http://schemas.openxmlformats.org/officeDocument/2006/relationships/slide" Target="/ppt/slides/slide1.xml" Id="Rc67fbe4c3eba4e15" /><Relationship Type="http://schemas.openxmlformats.org/officeDocument/2006/relationships/slide" Target="/ppt/slides/slide2.xml" Id="Rcaa1fdf1e8fd418b" /><Relationship Type="http://schemas.openxmlformats.org/officeDocument/2006/relationships/slide" Target="/ppt/slides/slide3.xml" Id="R1b0daac5078f4a89" /><Relationship Type="http://schemas.openxmlformats.org/officeDocument/2006/relationships/slide" Target="/ppt/slides/slide4.xml" Id="R6dc06f09eb8c47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b99d3a6b2742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1481d92fd24af8" /><Relationship Type="http://schemas.openxmlformats.org/officeDocument/2006/relationships/notesMaster" Target="/ppt/notesMasters/notesMaster1.xml" Id="Rafe2a5525ab847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edf2f486034ab0" /><Relationship Type="http://schemas.openxmlformats.org/officeDocument/2006/relationships/notesMaster" Target="/ppt/notesMasters/notesMaster1.xml" Id="R64c6fdcc066a4a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1f8de140fa413b" /><Relationship Type="http://schemas.openxmlformats.org/officeDocument/2006/relationships/notesMaster" Target="/ppt/notesMasters/notesMaster1.xml" Id="R96f4effe4cde46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472c3d4a5a4f55" /><Relationship Type="http://schemas.openxmlformats.org/officeDocument/2006/relationships/notesMaster" Target="/ppt/notesMasters/notesMaster1.xml" Id="R2c1f05982f4e4d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observation from supplied app captures and the product lead’s report. No measured Ionic NPS or conversion baseline was supplied. The proposed screen makes routes visible below the existing hero. The smaller order minimum is not a promise of suitability or low risk. Research and the causal hypothesis are in the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tabs switch the visible product family, replacing the need to traverse every shelf. US shares have searchable compact cards; funds show historical returns and exposure; Private Wealth shows all 9 PMS, 3 AIF and 6 SIF in a continuous catalogue, with section shortcuts and working product detail links. Its Flagship badge pulses slowly and respects reduced-motion settings. The hero changes by category, via the tabs or swipe. Portfolio and Exclusives share a 392-pixel device frame, header, fonts, icons and navigation. All displayed figures are supplied historical snapshots, not live offers. Flagship styling does not imply guaranteed outperformance. Managed US and Edge remain available within Funds &amp; baskets.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discovery rows move in opposite directions at the same 4 CSS pixels per second, down from 9. Pause, interaction pause, stationary search/filter results and reduced-motion support remain. These are usability choices, not proven conversion effects. The prototype stops before real KYC, funding or order placement. Product details distinguish a full share quote from a fractional order minimum and acknowledge unavailable current fees. No invented investment amount or guaranteed return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Android evidence: Haverkamp, Braten, Latini and Salmeron (published online 2022; Reading and Writing 36, 1589–1608, 2023). 145 Norwegian university students; Samsung Galaxy A02s, 6.5 inch, and Lenovo Tab M10, 10.3 inch; both Android 10. Participants read a 1,492-word informational PDF using scrolling or paging. Paging led to more strategic backtracking; better integrated understanding was a tendency, so do not present a definitive comprehension benefit. This is not a product shelf or financial decision experiment. No iOS-specific scroll-depth threshold was established in the research reviewed. Do not generalise the former desktop 74% viewing-time figure to Android/iOS.</a:t>
            </a:r>
          </a:p>
          <a:p xmlns:a="http://schemas.openxmlformats.org/drawingml/2006/main">
            <a:r>
              <a:t>https://doi.org/10.1007/s11145-022-10328-9</a:t>
            </a:r>
          </a:p>
          <a:p xmlns:a="http://schemas.openxmlformats.org/drawingml/2006/main">
            <a:r>
              <a:t>https://business.columbia.edu/sites/default/files-efs/pubfiles/4519/simplicitySeeking.pdf</a:t>
            </a:r>
          </a:p>
          <a:p xmlns:a="http://schemas.openxmlformats.org/drawingml/2006/main">
            <a:r>
              <a:t>https://www.w3.org/WAI/tutorials/carousels/</a:t>
            </a:r>
          </a:p>
          <a:p xmlns:a="http://schemas.openxmlformats.org/drawingml/2006/main">
            <a:r>
              <a:t>Choice paper: laboratory experiments and records of over 500,000 employees at 638 institutions; establishes simplicity-seeking, not Ionic conversion. Motion: W3C recommends controls to pause moving carousels; guidance, not experimental evidence.</a:t>
            </a:r>
          </a:p>
          <a:p xmlns:a="http://schemas.openxmlformats.org/drawingml/2006/main">
            <a:r>
              <a:t>Prediction: first unassisted successfully funded investment within 7 days / all eligible imported-portfolio users with no previous transaction assigned to the experience. Establish baseline and sample size before choosing an uplift target. Split by OS and account readiness, record product impressions at viewport depth and account/funding failures. Compare current shelves to static compact cards first; test motion separately. Monitor fee/risk understanding, support, cancellations and complaints. Low NPS and wealthy people refusing to read are not established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e30597ba04439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940e7c0b504d6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625b7d3cce7414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727d28f197b49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8bc566ffdf64b8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214aefd2fd848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9E6CC3-492C-41F9-84EE-037483C3C0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BCAA6F-E686-4E89-BC8E-BDCDDFC3E0F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A99C8D8-702B-4DE4-9DDA-0A66CFE9B6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C424ED-90F7-47C4-8915-5387EE8B6B2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486808B-8B08-4721-9476-7DF35619265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437AA3-B0E8-4BA9-AA0A-EB2EF61501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D71A44-4165-4761-8E4B-72A97BB3913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CC84E78-E10C-4978-9A4A-A8599E77756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C60896A-2B29-40CE-8819-04798E3736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83FA9A-514F-4E7F-8AE3-E6914C7765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29e437086b4879" /><Relationship Type="http://schemas.openxmlformats.org/officeDocument/2006/relationships/slideLayout" Target="/ppt/slideLayouts/slideLayout1.xml" Id="Rfb3637a0c2cc4459" /><Relationship Type="http://schemas.openxmlformats.org/officeDocument/2006/relationships/slideLayout" Target="/ppt/slideLayouts/slideLayout2.xml" Id="R369d062929e946c1" /><Relationship Type="http://schemas.openxmlformats.org/officeDocument/2006/relationships/slideLayout" Target="/ppt/slideLayouts/slideLayout3.xml" Id="Rf3c109d05d574527" /><Relationship Type="http://schemas.openxmlformats.org/officeDocument/2006/relationships/slideLayout" Target="/ppt/slideLayouts/slideLayout4.xml" Id="R1d2367936e7f42ed" /><Relationship Type="http://schemas.openxmlformats.org/officeDocument/2006/relationships/slideLayout" Target="/ppt/slideLayouts/slideLayout5.xml" Id="Rcd760fa6e53f4a00" /><Relationship Type="http://schemas.openxmlformats.org/officeDocument/2006/relationships/slideLayout" Target="/ppt/slideLayouts/slideLayout6.xml" Id="R20adf11b1d3142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3637a0c2cc4459"/>
    <p:sldLayoutId xmlns:r="http://schemas.openxmlformats.org/officeDocument/2006/relationships" id="2147483650" r:id="R369d062929e946c1"/>
    <p:sldLayoutId xmlns:r="http://schemas.openxmlformats.org/officeDocument/2006/relationships" id="2147483651" r:id="Rf3c109d05d574527"/>
    <p:sldLayoutId xmlns:r="http://schemas.openxmlformats.org/officeDocument/2006/relationships" id="2147483652" r:id="R1d2367936e7f42ed"/>
    <p:sldLayoutId xmlns:r="http://schemas.openxmlformats.org/officeDocument/2006/relationships" id="2147483653" r:id="Rcd760fa6e53f4a00"/>
    <p:sldLayoutId xmlns:r="http://schemas.openxmlformats.org/officeDocument/2006/relationships" id="2147483654" r:id="R20adf11b1d3142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650bdb05b8486a" /><Relationship Type="http://schemas.openxmlformats.org/officeDocument/2006/relationships/image" Target="/ppt/media/image.png" Id="R3c3d91a4801b443d" /><Relationship Type="http://schemas.openxmlformats.org/officeDocument/2006/relationships/notesSlide" Target="/ppt/notesSlides/notesSlide1.xml" Id="R2bbfb01bb8bd4a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46adb2c70cf4d08" /><Relationship Type="http://schemas.openxmlformats.org/officeDocument/2006/relationships/image" Target="/ppt/media/image2.png" Id="Ra2edf6745ba84a4c" /><Relationship Type="http://schemas.openxmlformats.org/officeDocument/2006/relationships/image" Target="/ppt/media/image3.png" Id="Rd90b16a4ed9d4fdd" /><Relationship Type="http://schemas.openxmlformats.org/officeDocument/2006/relationships/image" Target="/ppt/media/image4.png" Id="Rbbe0458b99a641ed" /><Relationship Type="http://schemas.openxmlformats.org/officeDocument/2006/relationships/notesSlide" Target="/ppt/notesSlides/notesSlide2.xml" Id="R7868c76c50d746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dee93eb69b8413a" /><Relationship Type="http://schemas.openxmlformats.org/officeDocument/2006/relationships/image" Target="/ppt/media/image5.png" Id="Rb2aab452299a48ae" /><Relationship Type="http://schemas.openxmlformats.org/officeDocument/2006/relationships/notesSlide" Target="/ppt/notesSlides/notesSlide3.xml" Id="R6b6daac4414c4f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52b588ac67a40ae" /><Relationship Type="http://schemas.openxmlformats.org/officeDocument/2006/relationships/hyperlink" Target="https://doi.org/10.1007/s11145-022-10328-9" TargetMode="External" Id="Raa09aba6ba0b494a" /><Relationship Type="http://schemas.openxmlformats.org/officeDocument/2006/relationships/hyperlink" Target="https://business.columbia.edu/sites/default/files-efs/pubfiles/4519/simplicitySeeking.pdf" TargetMode="External" Id="R2dc4a5c55cd04f8f" /><Relationship Type="http://schemas.openxmlformats.org/officeDocument/2006/relationships/hyperlink" Target="https://www.w3.org/WAI/tutorials/carousels/" TargetMode="External" Id="R04349f083a414eb4" /><Relationship Type="http://schemas.openxmlformats.org/officeDocument/2006/relationships/notesSlide" Target="/ppt/notesSlides/notesSlide4.xml" Id="R08c1ef18be044df1"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F3816AF-7EDB-45F6-897C-9CD73AB0F4B5}"/>
              </a:ext>
            </a:extLst>
          </p:cNvPr>
          <p:cNvSpPr>
            <a:spLocks xmlns:a="http://schemas.openxmlformats.org/drawingml/2006/main" noGrp="1"/>
          </p:cNvSpPr>
          <p:nvPr/>
        </p:nvSpPr>
        <p:spPr>
          <a:xfrm xmlns:a="http://schemas.openxmlformats.org/drawingml/2006/main">
            <a:off x="590550" y="2857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28369F"/>
                </a:solidFill>
                <a:latin typeface="Arial"/>
                <a:ea typeface="Arial"/>
                <a:cs typeface="Arial"/>
              </a:defRPr>
            </a:defPPr>
            <a:lvl1pPr>
              <a:defRPr sz="1050" b="1">
                <a:solidFill>
                  <a:srgbClr val="28369F"/>
                </a:solidFill>
                <a:latin typeface="Arial"/>
                <a:ea typeface="Arial"/>
                <a:cs typeface="Arial"/>
              </a:defRPr>
            </a:lvl1pPr>
            <a:lvl2pPr>
              <a:defRPr sz="1050" b="1">
                <a:solidFill>
                  <a:srgbClr val="28369F"/>
                </a:solidFill>
                <a:latin typeface="Arial"/>
                <a:ea typeface="Arial"/>
                <a:cs typeface="Arial"/>
              </a:defRPr>
            </a:lvl2pPr>
            <a:lvl3pPr>
              <a:defRPr sz="1050" b="1">
                <a:solidFill>
                  <a:srgbClr val="28369F"/>
                </a:solidFill>
                <a:latin typeface="Arial"/>
                <a:ea typeface="Arial"/>
                <a:cs typeface="Arial"/>
              </a:defRPr>
            </a:lvl3pPr>
            <a:lvl4pPr>
              <a:defRPr sz="1050" b="1">
                <a:solidFill>
                  <a:srgbClr val="28369F"/>
                </a:solidFill>
                <a:latin typeface="Arial"/>
                <a:ea typeface="Arial"/>
                <a:cs typeface="Arial"/>
              </a:defRPr>
            </a:lvl4pPr>
            <a:lvl5pPr>
              <a:defRPr sz="1050" b="1">
                <a:solidFill>
                  <a:srgbClr val="28369F"/>
                </a:solidFill>
                <a:latin typeface="Arial"/>
                <a:ea typeface="Arial"/>
                <a:cs typeface="Arial"/>
              </a:defRPr>
            </a:lvl5pPr>
            <a:lvl6pPr>
              <a:defRPr sz="1050" b="1">
                <a:solidFill>
                  <a:srgbClr val="28369F"/>
                </a:solidFill>
                <a:latin typeface="Arial"/>
                <a:ea typeface="Arial"/>
                <a:cs typeface="Arial"/>
              </a:defRPr>
            </a:lvl6pPr>
            <a:lvl7pPr>
              <a:defRPr sz="1050" b="1">
                <a:solidFill>
                  <a:srgbClr val="28369F"/>
                </a:solidFill>
                <a:latin typeface="Arial"/>
                <a:ea typeface="Arial"/>
                <a:cs typeface="Arial"/>
              </a:defRPr>
            </a:lvl7pPr>
            <a:lvl8pPr>
              <a:defRPr sz="1050" b="1">
                <a:solidFill>
                  <a:srgbClr val="28369F"/>
                </a:solidFill>
                <a:latin typeface="Arial"/>
                <a:ea typeface="Arial"/>
                <a:cs typeface="Arial"/>
              </a:defRPr>
            </a:lvl8pPr>
            <a:lvl9pPr>
              <a:defRPr sz="1050" b="1">
                <a:solidFill>
                  <a:srgbClr val="28369F"/>
                </a:solidFill>
                <a:latin typeface="Arial"/>
                <a:ea typeface="Arial"/>
                <a:cs typeface="Arial"/>
              </a:defRPr>
            </a:lvl9pPr>
          </a:lstStyle>
          <a:p xmlns:a="http://schemas.openxmlformats.org/drawingml/2006/main">
            <a:pPr>
              <a:defRPr sz="1050" b="1">
                <a:solidFill>
                  <a:srgbClr val="28369F"/>
                </a:solidFill>
                <a:latin typeface="Arial"/>
                <a:ea typeface="Arial"/>
                <a:cs typeface="Arial"/>
              </a:defRPr>
            </a:pPr>
            <a:r>
              <a:rPr sz="1050" b="1">
                <a:solidFill>
                  <a:srgbClr val="28369F"/>
                </a:solidFill>
                <a:latin typeface="Arial"/>
                <a:ea typeface="Arial"/>
                <a:cs typeface="Arial"/>
              </a:rPr>
              <a:t>01 / THE PRODUCT PROBLEM</a:t>
            </a:r>
          </a:p>
        </p:txBody>
      </p:sp>
      <p:sp>
        <p:nvSpPr>
          <p:cNvPr id="2" name="">
            <a:extLst xmlns:a="http://schemas.openxmlformats.org/drawingml/2006/main">
              <a:ext uri="{FF2B5EF4-FFF2-40B4-BE49-F238E27FC236}">
                <a16:creationId xmlns:a16="http://schemas.microsoft.com/office/drawing/2014/main" id="{B81CF30A-FBC2-433D-958B-CCCD9C0BAB6B}"/>
              </a:ext>
            </a:extLst>
          </p:cNvPr>
          <p:cNvSpPr>
            <a:spLocks xmlns:a="http://schemas.openxmlformats.org/drawingml/2006/main" noGrp="1"/>
          </p:cNvSpPr>
          <p:nvPr/>
        </p:nvSpPr>
        <p:spPr>
          <a:xfrm xmlns:a="http://schemas.openxmlformats.org/drawingml/2006/main">
            <a:off x="590550" y="7429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7263E"/>
                </a:solidFill>
                <a:latin typeface="Arial"/>
                <a:ea typeface="Arial"/>
                <a:cs typeface="Arial"/>
              </a:defRPr>
            </a:defPPr>
            <a:lvl1pPr>
              <a:defRPr sz="3225" b="1">
                <a:solidFill>
                  <a:srgbClr val="17263E"/>
                </a:solidFill>
                <a:latin typeface="Arial"/>
                <a:ea typeface="Arial"/>
                <a:cs typeface="Arial"/>
              </a:defRPr>
            </a:lvl1pPr>
            <a:lvl2pPr>
              <a:defRPr sz="3225" b="1">
                <a:solidFill>
                  <a:srgbClr val="17263E"/>
                </a:solidFill>
                <a:latin typeface="Arial"/>
                <a:ea typeface="Arial"/>
                <a:cs typeface="Arial"/>
              </a:defRPr>
            </a:lvl2pPr>
            <a:lvl3pPr>
              <a:defRPr sz="3225" b="1">
                <a:solidFill>
                  <a:srgbClr val="17263E"/>
                </a:solidFill>
                <a:latin typeface="Arial"/>
                <a:ea typeface="Arial"/>
                <a:cs typeface="Arial"/>
              </a:defRPr>
            </a:lvl3pPr>
            <a:lvl4pPr>
              <a:defRPr sz="3225" b="1">
                <a:solidFill>
                  <a:srgbClr val="17263E"/>
                </a:solidFill>
                <a:latin typeface="Arial"/>
                <a:ea typeface="Arial"/>
                <a:cs typeface="Arial"/>
              </a:defRPr>
            </a:lvl4pPr>
            <a:lvl5pPr>
              <a:defRPr sz="3225" b="1">
                <a:solidFill>
                  <a:srgbClr val="17263E"/>
                </a:solidFill>
                <a:latin typeface="Arial"/>
                <a:ea typeface="Arial"/>
                <a:cs typeface="Arial"/>
              </a:defRPr>
            </a:lvl5pPr>
            <a:lvl6pPr>
              <a:defRPr sz="3225" b="1">
                <a:solidFill>
                  <a:srgbClr val="17263E"/>
                </a:solidFill>
                <a:latin typeface="Arial"/>
                <a:ea typeface="Arial"/>
                <a:cs typeface="Arial"/>
              </a:defRPr>
            </a:lvl6pPr>
            <a:lvl7pPr>
              <a:defRPr sz="3225" b="1">
                <a:solidFill>
                  <a:srgbClr val="17263E"/>
                </a:solidFill>
                <a:latin typeface="Arial"/>
                <a:ea typeface="Arial"/>
                <a:cs typeface="Arial"/>
              </a:defRPr>
            </a:lvl7pPr>
            <a:lvl8pPr>
              <a:defRPr sz="3225" b="1">
                <a:solidFill>
                  <a:srgbClr val="17263E"/>
                </a:solidFill>
                <a:latin typeface="Arial"/>
                <a:ea typeface="Arial"/>
                <a:cs typeface="Arial"/>
              </a:defRPr>
            </a:lvl8pPr>
            <a:lvl9pPr>
              <a:defRPr sz="3225" b="1">
                <a:solidFill>
                  <a:srgbClr val="17263E"/>
                </a:solidFill>
                <a:latin typeface="Arial"/>
                <a:ea typeface="Arial"/>
                <a:cs typeface="Arial"/>
              </a:defRPr>
            </a:lvl9pPr>
          </a:lstStyle>
          <a:p xmlns:a="http://schemas.openxmlformats.org/drawingml/2006/main">
            <a:pPr>
              <a:defRPr sz="3225" b="1">
                <a:solidFill>
                  <a:srgbClr val="17263E"/>
                </a:solidFill>
                <a:latin typeface="Arial"/>
                <a:ea typeface="Arial"/>
                <a:cs typeface="Arial"/>
              </a:defRPr>
            </a:pPr>
            <a:r>
              <a:rPr sz="3225" b="1">
                <a:solidFill>
                  <a:srgbClr val="17263E"/>
                </a:solidFill>
                <a:latin typeface="Arial"/>
                <a:ea typeface="Arial"/>
                <a:cs typeface="Arial"/>
              </a:rPr>
              <a:t>The gap between browsing and buying</a:t>
            </a:r>
          </a:p>
        </p:txBody>
      </p:sp>
      <p:sp>
        <p:nvSpPr>
          <p:cNvPr id="3" name="">
            <a:extLst xmlns:a="http://schemas.openxmlformats.org/drawingml/2006/main">
              <a:ext uri="{FF2B5EF4-FFF2-40B4-BE49-F238E27FC236}">
                <a16:creationId xmlns:a16="http://schemas.microsoft.com/office/drawing/2014/main" id="{D118CB85-2D40-4FE5-AF6A-8F2359CAE50B}"/>
              </a:ext>
            </a:extLst>
          </p:cNvPr>
          <p:cNvSpPr>
            <a:spLocks xmlns:a="http://schemas.openxmlformats.org/drawingml/2006/main" noGrp="1"/>
          </p:cNvSpPr>
          <p:nvPr/>
        </p:nvSpPr>
        <p:spPr>
          <a:xfrm xmlns:a="http://schemas.openxmlformats.org/drawingml/2006/main">
            <a:off x="590550" y="1762125"/>
            <a:ext cx="6191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263E"/>
                </a:solidFill>
                <a:latin typeface="Arial"/>
                <a:ea typeface="Arial"/>
                <a:cs typeface="Arial"/>
              </a:defRPr>
            </a:defPPr>
            <a:lvl1pPr>
              <a:defRPr sz="2550" b="1">
                <a:solidFill>
                  <a:srgbClr val="17263E"/>
                </a:solidFill>
                <a:latin typeface="Arial"/>
                <a:ea typeface="Arial"/>
                <a:cs typeface="Arial"/>
              </a:defRPr>
            </a:lvl1pPr>
            <a:lvl2pPr>
              <a:defRPr sz="2550" b="1">
                <a:solidFill>
                  <a:srgbClr val="17263E"/>
                </a:solidFill>
                <a:latin typeface="Arial"/>
                <a:ea typeface="Arial"/>
                <a:cs typeface="Arial"/>
              </a:defRPr>
            </a:lvl2pPr>
            <a:lvl3pPr>
              <a:defRPr sz="2550" b="1">
                <a:solidFill>
                  <a:srgbClr val="17263E"/>
                </a:solidFill>
                <a:latin typeface="Arial"/>
                <a:ea typeface="Arial"/>
                <a:cs typeface="Arial"/>
              </a:defRPr>
            </a:lvl3pPr>
            <a:lvl4pPr>
              <a:defRPr sz="2550" b="1">
                <a:solidFill>
                  <a:srgbClr val="17263E"/>
                </a:solidFill>
                <a:latin typeface="Arial"/>
                <a:ea typeface="Arial"/>
                <a:cs typeface="Arial"/>
              </a:defRPr>
            </a:lvl4pPr>
            <a:lvl5pPr>
              <a:defRPr sz="2550" b="1">
                <a:solidFill>
                  <a:srgbClr val="17263E"/>
                </a:solidFill>
                <a:latin typeface="Arial"/>
                <a:ea typeface="Arial"/>
                <a:cs typeface="Arial"/>
              </a:defRPr>
            </a:lvl5pPr>
            <a:lvl6pPr>
              <a:defRPr sz="2550" b="1">
                <a:solidFill>
                  <a:srgbClr val="17263E"/>
                </a:solidFill>
                <a:latin typeface="Arial"/>
                <a:ea typeface="Arial"/>
                <a:cs typeface="Arial"/>
              </a:defRPr>
            </a:lvl6pPr>
            <a:lvl7pPr>
              <a:defRPr sz="2550" b="1">
                <a:solidFill>
                  <a:srgbClr val="17263E"/>
                </a:solidFill>
                <a:latin typeface="Arial"/>
                <a:ea typeface="Arial"/>
                <a:cs typeface="Arial"/>
              </a:defRPr>
            </a:lvl7pPr>
            <a:lvl8pPr>
              <a:defRPr sz="2550" b="1">
                <a:solidFill>
                  <a:srgbClr val="17263E"/>
                </a:solidFill>
                <a:latin typeface="Arial"/>
                <a:ea typeface="Arial"/>
                <a:cs typeface="Arial"/>
              </a:defRPr>
            </a:lvl8pPr>
            <a:lvl9pPr>
              <a:defRPr sz="2550" b="1">
                <a:solidFill>
                  <a:srgbClr val="17263E"/>
                </a:solidFill>
                <a:latin typeface="Arial"/>
                <a:ea typeface="Arial"/>
                <a:cs typeface="Arial"/>
              </a:defRPr>
            </a:lvl9pPr>
          </a:lstStyle>
          <a:p xmlns:a="http://schemas.openxmlformats.org/drawingml/2006/main">
            <a:pPr>
              <a:defRPr sz="2550" b="1">
                <a:solidFill>
                  <a:srgbClr val="17263E"/>
                </a:solidFill>
                <a:latin typeface="Arial"/>
                <a:ea typeface="Arial"/>
                <a:cs typeface="Arial"/>
              </a:defRPr>
            </a:pPr>
            <a:r>
              <a:rPr sz="2550" b="1">
                <a:solidFill>
                  <a:srgbClr val="17263E"/>
                </a:solidFill>
                <a:latin typeface="Arial"/>
                <a:ea typeface="Arial"/>
                <a:cs typeface="Arial"/>
              </a:rPr>
              <a:t>The lowest-entry route sits</a:t>
            </a:r>
          </a:p>
          <a:p xmlns:a="http://schemas.openxmlformats.org/drawingml/2006/main">
            <a:pPr>
              <a:defRPr sz="2550" b="1">
                <a:solidFill>
                  <a:srgbClr val="17263E"/>
                </a:solidFill>
                <a:latin typeface="Arial"/>
                <a:ea typeface="Arial"/>
                <a:cs typeface="Arial"/>
              </a:defRPr>
            </a:pPr>
            <a:r>
              <a:rPr sz="2550" b="1">
                <a:solidFill>
                  <a:srgbClr val="17263E"/>
                </a:solidFill>
                <a:latin typeface="Arial"/>
                <a:ea typeface="Arial"/>
                <a:cs typeface="Arial"/>
              </a:rPr>
              <a:t>below long product shelves.</a:t>
            </a:r>
          </a:p>
        </p:txBody>
      </p:sp>
      <p:sp>
        <p:nvSpPr>
          <p:cNvPr id="4" name="">
            <a:extLst xmlns:a="http://schemas.openxmlformats.org/drawingml/2006/main">
              <a:ext uri="{FF2B5EF4-FFF2-40B4-BE49-F238E27FC236}">
                <a16:creationId xmlns:a16="http://schemas.microsoft.com/office/drawing/2014/main" id="{3A0896F7-D41A-4CD0-B28F-2614BA014CBB}"/>
              </a:ext>
            </a:extLst>
          </p:cNvPr>
          <p:cNvSpPr>
            <a:spLocks xmlns:a="http://schemas.openxmlformats.org/drawingml/2006/main" noGrp="1"/>
          </p:cNvSpPr>
          <p:nvPr/>
        </p:nvSpPr>
        <p:spPr>
          <a:xfrm xmlns:a="http://schemas.openxmlformats.org/drawingml/2006/main">
            <a:off x="590550" y="2952750"/>
            <a:ext cx="5762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8677E"/>
                </a:solidFill>
                <a:latin typeface="Arial"/>
                <a:ea typeface="Arial"/>
                <a:cs typeface="Arial"/>
              </a:defRPr>
            </a:defPPr>
            <a:lvl1pPr>
              <a:defRPr sz="1875" b="0">
                <a:solidFill>
                  <a:srgbClr val="58677E"/>
                </a:solidFill>
                <a:latin typeface="Arial"/>
                <a:ea typeface="Arial"/>
                <a:cs typeface="Arial"/>
              </a:defRPr>
            </a:lvl1pPr>
            <a:lvl2pPr>
              <a:defRPr sz="1875" b="0">
                <a:solidFill>
                  <a:srgbClr val="58677E"/>
                </a:solidFill>
                <a:latin typeface="Arial"/>
                <a:ea typeface="Arial"/>
                <a:cs typeface="Arial"/>
              </a:defRPr>
            </a:lvl2pPr>
            <a:lvl3pPr>
              <a:defRPr sz="1875" b="0">
                <a:solidFill>
                  <a:srgbClr val="58677E"/>
                </a:solidFill>
                <a:latin typeface="Arial"/>
                <a:ea typeface="Arial"/>
                <a:cs typeface="Arial"/>
              </a:defRPr>
            </a:lvl3pPr>
            <a:lvl4pPr>
              <a:defRPr sz="1875" b="0">
                <a:solidFill>
                  <a:srgbClr val="58677E"/>
                </a:solidFill>
                <a:latin typeface="Arial"/>
                <a:ea typeface="Arial"/>
                <a:cs typeface="Arial"/>
              </a:defRPr>
            </a:lvl4pPr>
            <a:lvl5pPr>
              <a:defRPr sz="1875" b="0">
                <a:solidFill>
                  <a:srgbClr val="58677E"/>
                </a:solidFill>
                <a:latin typeface="Arial"/>
                <a:ea typeface="Arial"/>
                <a:cs typeface="Arial"/>
              </a:defRPr>
            </a:lvl5pPr>
            <a:lvl6pPr>
              <a:defRPr sz="1875" b="0">
                <a:solidFill>
                  <a:srgbClr val="58677E"/>
                </a:solidFill>
                <a:latin typeface="Arial"/>
                <a:ea typeface="Arial"/>
                <a:cs typeface="Arial"/>
              </a:defRPr>
            </a:lvl6pPr>
            <a:lvl7pPr>
              <a:defRPr sz="1875" b="0">
                <a:solidFill>
                  <a:srgbClr val="58677E"/>
                </a:solidFill>
                <a:latin typeface="Arial"/>
                <a:ea typeface="Arial"/>
                <a:cs typeface="Arial"/>
              </a:defRPr>
            </a:lvl7pPr>
            <a:lvl8pPr>
              <a:defRPr sz="1875" b="0">
                <a:solidFill>
                  <a:srgbClr val="58677E"/>
                </a:solidFill>
                <a:latin typeface="Arial"/>
                <a:ea typeface="Arial"/>
                <a:cs typeface="Arial"/>
              </a:defRPr>
            </a:lvl8pPr>
            <a:lvl9pPr>
              <a:defRPr sz="1875" b="0">
                <a:solidFill>
                  <a:srgbClr val="58677E"/>
                </a:solidFill>
                <a:latin typeface="Arial"/>
                <a:ea typeface="Arial"/>
                <a:cs typeface="Arial"/>
              </a:defRPr>
            </a:lvl9pPr>
          </a:lstStyle>
          <a:p xmlns:a="http://schemas.openxmlformats.org/drawingml/2006/main">
            <a:pPr>
              <a:defRPr sz="1875" b="0">
                <a:solidFill>
                  <a:srgbClr val="58677E"/>
                </a:solidFill>
                <a:latin typeface="Arial"/>
                <a:ea typeface="Arial"/>
                <a:cs typeface="Arial"/>
              </a:defRPr>
            </a:pPr>
            <a:r>
              <a:rPr sz="1875" b="0">
                <a:solidFill>
                  <a:srgbClr val="58677E"/>
                </a:solidFill>
                <a:latin typeface="Arial"/>
                <a:ea typeface="Arial"/>
                <a:cs typeface="Arial"/>
              </a:rPr>
              <a:t>A visitor can import a portfolio and leave with insights—without finding a clear first investment.</a:t>
            </a:r>
          </a:p>
        </p:txBody>
      </p:sp>
      <p:sp>
        <p:nvSpPr>
          <p:cNvPr id="5" name="">
            <a:extLst xmlns:a="http://schemas.openxmlformats.org/drawingml/2006/main">
              <a:ext uri="{FF2B5EF4-FFF2-40B4-BE49-F238E27FC236}">
                <a16:creationId xmlns:a16="http://schemas.microsoft.com/office/drawing/2014/main" id="{F36C2B39-6B10-47AD-8F81-39295F64FAB0}"/>
              </a:ext>
            </a:extLst>
          </p:cNvPr>
          <p:cNvSpPr>
            <a:spLocks xmlns:a="http://schemas.openxmlformats.org/drawingml/2006/main" noGrp="1"/>
          </p:cNvSpPr>
          <p:nvPr/>
        </p:nvSpPr>
        <p:spPr>
          <a:xfrm xmlns:a="http://schemas.openxmlformats.org/drawingml/2006/main">
            <a:off x="590550" y="4305300"/>
            <a:ext cx="571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369F"/>
                </a:solidFill>
                <a:latin typeface="Arial"/>
                <a:ea typeface="Arial"/>
                <a:cs typeface="Arial"/>
              </a:defRPr>
            </a:defPPr>
            <a:lvl1pPr>
              <a:defRPr sz="1875" b="1">
                <a:solidFill>
                  <a:srgbClr val="28369F"/>
                </a:solidFill>
                <a:latin typeface="Arial"/>
                <a:ea typeface="Arial"/>
                <a:cs typeface="Arial"/>
              </a:defRPr>
            </a:lvl1pPr>
            <a:lvl2pPr>
              <a:defRPr sz="1875" b="1">
                <a:solidFill>
                  <a:srgbClr val="28369F"/>
                </a:solidFill>
                <a:latin typeface="Arial"/>
                <a:ea typeface="Arial"/>
                <a:cs typeface="Arial"/>
              </a:defRPr>
            </a:lvl2pPr>
            <a:lvl3pPr>
              <a:defRPr sz="1875" b="1">
                <a:solidFill>
                  <a:srgbClr val="28369F"/>
                </a:solidFill>
                <a:latin typeface="Arial"/>
                <a:ea typeface="Arial"/>
                <a:cs typeface="Arial"/>
              </a:defRPr>
            </a:lvl3pPr>
            <a:lvl4pPr>
              <a:defRPr sz="1875" b="1">
                <a:solidFill>
                  <a:srgbClr val="28369F"/>
                </a:solidFill>
                <a:latin typeface="Arial"/>
                <a:ea typeface="Arial"/>
                <a:cs typeface="Arial"/>
              </a:defRPr>
            </a:lvl4pPr>
            <a:lvl5pPr>
              <a:defRPr sz="1875" b="1">
                <a:solidFill>
                  <a:srgbClr val="28369F"/>
                </a:solidFill>
                <a:latin typeface="Arial"/>
                <a:ea typeface="Arial"/>
                <a:cs typeface="Arial"/>
              </a:defRPr>
            </a:lvl5pPr>
            <a:lvl6pPr>
              <a:defRPr sz="1875" b="1">
                <a:solidFill>
                  <a:srgbClr val="28369F"/>
                </a:solidFill>
                <a:latin typeface="Arial"/>
                <a:ea typeface="Arial"/>
                <a:cs typeface="Arial"/>
              </a:defRPr>
            </a:lvl6pPr>
            <a:lvl7pPr>
              <a:defRPr sz="1875" b="1">
                <a:solidFill>
                  <a:srgbClr val="28369F"/>
                </a:solidFill>
                <a:latin typeface="Arial"/>
                <a:ea typeface="Arial"/>
                <a:cs typeface="Arial"/>
              </a:defRPr>
            </a:lvl7pPr>
            <a:lvl8pPr>
              <a:defRPr sz="1875" b="1">
                <a:solidFill>
                  <a:srgbClr val="28369F"/>
                </a:solidFill>
                <a:latin typeface="Arial"/>
                <a:ea typeface="Arial"/>
                <a:cs typeface="Arial"/>
              </a:defRPr>
            </a:lvl8pPr>
            <a:lvl9pPr>
              <a:defRPr sz="1875" b="1">
                <a:solidFill>
                  <a:srgbClr val="28369F"/>
                </a:solidFill>
                <a:latin typeface="Arial"/>
                <a:ea typeface="Arial"/>
                <a:cs typeface="Arial"/>
              </a:defRPr>
            </a:lvl9pPr>
          </a:lstStyle>
          <a:p xmlns:a="http://schemas.openxmlformats.org/drawingml/2006/main">
            <a:pPr>
              <a:defRPr sz="1875" b="1">
                <a:solidFill>
                  <a:srgbClr val="28369F"/>
                </a:solidFill>
                <a:latin typeface="Arial"/>
                <a:ea typeface="Arial"/>
                <a:cs typeface="Arial"/>
              </a:defRPr>
            </a:pPr>
            <a:r>
              <a:rPr sz="1875" b="1">
                <a:solidFill>
                  <a:srgbClr val="28369F"/>
                </a:solidFill>
                <a:latin typeface="Arial"/>
                <a:ea typeface="Arial"/>
                <a:cs typeface="Arial"/>
              </a:rPr>
              <a:t>Bring the choice forward</a:t>
            </a:r>
          </a:p>
        </p:txBody>
      </p:sp>
      <p:sp>
        <p:nvSpPr>
          <p:cNvPr id="6" name="">
            <a:extLst xmlns:a="http://schemas.openxmlformats.org/drawingml/2006/main">
              <a:ext uri="{FF2B5EF4-FFF2-40B4-BE49-F238E27FC236}">
                <a16:creationId xmlns:a16="http://schemas.microsoft.com/office/drawing/2014/main" id="{192A674A-C6F8-49C6-8115-DDFFB19D54E7}"/>
              </a:ext>
            </a:extLst>
          </p:cNvPr>
          <p:cNvSpPr>
            <a:spLocks xmlns:a="http://schemas.openxmlformats.org/drawingml/2006/main" noGrp="1"/>
          </p:cNvSpPr>
          <p:nvPr/>
        </p:nvSpPr>
        <p:spPr>
          <a:xfrm xmlns:a="http://schemas.openxmlformats.org/drawingml/2006/main">
            <a:off x="590550" y="4810125"/>
            <a:ext cx="5667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263E"/>
                </a:solidFill>
                <a:latin typeface="Arial"/>
                <a:ea typeface="Arial"/>
                <a:cs typeface="Arial"/>
              </a:defRPr>
            </a:defPPr>
            <a:lvl1pPr>
              <a:defRPr sz="1950" b="0">
                <a:solidFill>
                  <a:srgbClr val="17263E"/>
                </a:solidFill>
                <a:latin typeface="Arial"/>
                <a:ea typeface="Arial"/>
                <a:cs typeface="Arial"/>
              </a:defRPr>
            </a:lvl1pPr>
            <a:lvl2pPr>
              <a:defRPr sz="1950" b="0">
                <a:solidFill>
                  <a:srgbClr val="17263E"/>
                </a:solidFill>
                <a:latin typeface="Arial"/>
                <a:ea typeface="Arial"/>
                <a:cs typeface="Arial"/>
              </a:defRPr>
            </a:lvl2pPr>
            <a:lvl3pPr>
              <a:defRPr sz="1950" b="0">
                <a:solidFill>
                  <a:srgbClr val="17263E"/>
                </a:solidFill>
                <a:latin typeface="Arial"/>
                <a:ea typeface="Arial"/>
                <a:cs typeface="Arial"/>
              </a:defRPr>
            </a:lvl3pPr>
            <a:lvl4pPr>
              <a:defRPr sz="1950" b="0">
                <a:solidFill>
                  <a:srgbClr val="17263E"/>
                </a:solidFill>
                <a:latin typeface="Arial"/>
                <a:ea typeface="Arial"/>
                <a:cs typeface="Arial"/>
              </a:defRPr>
            </a:lvl4pPr>
            <a:lvl5pPr>
              <a:defRPr sz="1950" b="0">
                <a:solidFill>
                  <a:srgbClr val="17263E"/>
                </a:solidFill>
                <a:latin typeface="Arial"/>
                <a:ea typeface="Arial"/>
                <a:cs typeface="Arial"/>
              </a:defRPr>
            </a:lvl5pPr>
            <a:lvl6pPr>
              <a:defRPr sz="1950" b="0">
                <a:solidFill>
                  <a:srgbClr val="17263E"/>
                </a:solidFill>
                <a:latin typeface="Arial"/>
                <a:ea typeface="Arial"/>
                <a:cs typeface="Arial"/>
              </a:defRPr>
            </a:lvl6pPr>
            <a:lvl7pPr>
              <a:defRPr sz="1950" b="0">
                <a:solidFill>
                  <a:srgbClr val="17263E"/>
                </a:solidFill>
                <a:latin typeface="Arial"/>
                <a:ea typeface="Arial"/>
                <a:cs typeface="Arial"/>
              </a:defRPr>
            </a:lvl7pPr>
            <a:lvl8pPr>
              <a:defRPr sz="1950" b="0">
                <a:solidFill>
                  <a:srgbClr val="17263E"/>
                </a:solidFill>
                <a:latin typeface="Arial"/>
                <a:ea typeface="Arial"/>
                <a:cs typeface="Arial"/>
              </a:defRPr>
            </a:lvl8pPr>
            <a:lvl9pPr>
              <a:defRPr sz="1950" b="0">
                <a:solidFill>
                  <a:srgbClr val="17263E"/>
                </a:solidFill>
                <a:latin typeface="Arial"/>
                <a:ea typeface="Arial"/>
                <a:cs typeface="Arial"/>
              </a:defRPr>
            </a:lvl9pPr>
          </a:lstStyle>
          <a:p xmlns:a="http://schemas.openxmlformats.org/drawingml/2006/main">
            <a:pPr>
              <a:defRPr sz="1950" b="0">
                <a:solidFill>
                  <a:srgbClr val="17263E"/>
                </a:solidFill>
                <a:latin typeface="Arial"/>
                <a:ea typeface="Arial"/>
                <a:cs typeface="Arial"/>
              </a:defRPr>
            </a:pPr>
            <a:r>
              <a:rPr sz="1950" b="0">
                <a:solidFill>
                  <a:srgbClr val="17263E"/>
                </a:solidFill>
                <a:latin typeface="Arial"/>
                <a:ea typeface="Arial"/>
                <a:cs typeface="Arial"/>
              </a:rPr>
              <a:t>Keep the hero. Put US stocks, funds and Private Wealth directly underneath it. Show real product facts at the point of discovery.</a:t>
            </a:r>
          </a:p>
        </p:txBody>
      </p:sp>
      <p:pic>
        <p:nvPicPr>
          <p:cNvPr id="7" name="">
            <a:extLst xmlns:a="http://schemas.openxmlformats.org/drawingml/2006/main">
              <a:ext uri="{FF2B5EF4-FFF2-40B4-BE49-F238E27FC236}">
                <a16:creationId xmlns:a16="http://schemas.microsoft.com/office/drawing/2014/main" id="{EA2DC592-E91B-4010-8E08-F23FBB35F981}"/>
              </a:ext>
            </a:extLst>
          </p:cNvPr>
          <p:cNvPicPr>
            <a:picLocks xmlns:a="http://schemas.openxmlformats.org/drawingml/2006/main" noChangeAspect="1"/>
          </p:cNvPicPr>
          <p:nvPr/>
        </p:nvPicPr>
        <p:blipFill>
          <a:blip xmlns:r="http://schemas.openxmlformats.org/officeDocument/2006/relationships" xmlns:a="http://schemas.openxmlformats.org/drawingml/2006/main" r:embed="R3c3d91a4801b443d"/>
          <a:stretch xmlns:a="http://schemas.openxmlformats.org/drawingml/2006/main"/>
        </p:blipFill>
        <p:spPr>
          <a:xfrm xmlns:a="http://schemas.openxmlformats.org/drawingml/2006/main">
            <a:off x="8039100" y="1553796"/>
            <a:ext cx="2190750" cy="4741008"/>
          </a:xfrm>
          <a:prstGeom xmlns:a="http://schemas.openxmlformats.org/drawingml/2006/main" prst="rect">
            <a:avLst/>
          </a:prstGeom>
        </p:spPr>
      </p:pic>
    </p:spTree>
    <p:extLst>
      <p:ext uri="{BB962C8B-B14F-4D97-AF65-F5344CB8AC3E}">
        <p14:creationId xmlns:p14="http://schemas.microsoft.com/office/powerpoint/2010/main" val="324608197"/>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17B1FA-01C0-4FA4-9CBD-9126D6C85732}"/>
              </a:ext>
            </a:extLst>
          </p:cNvPr>
          <p:cNvSpPr>
            <a:spLocks xmlns:a="http://schemas.openxmlformats.org/drawingml/2006/main" noGrp="1"/>
          </p:cNvSpPr>
          <p:nvPr/>
        </p:nvSpPr>
        <p:spPr>
          <a:xfrm xmlns:a="http://schemas.openxmlformats.org/drawingml/2006/main">
            <a:off x="590550" y="2857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28369F"/>
                </a:solidFill>
                <a:latin typeface="Arial"/>
                <a:ea typeface="Arial"/>
                <a:cs typeface="Arial"/>
              </a:defRPr>
            </a:defPPr>
            <a:lvl1pPr>
              <a:defRPr sz="1050" b="1">
                <a:solidFill>
                  <a:srgbClr val="28369F"/>
                </a:solidFill>
                <a:latin typeface="Arial"/>
                <a:ea typeface="Arial"/>
                <a:cs typeface="Arial"/>
              </a:defRPr>
            </a:lvl1pPr>
            <a:lvl2pPr>
              <a:defRPr sz="1050" b="1">
                <a:solidFill>
                  <a:srgbClr val="28369F"/>
                </a:solidFill>
                <a:latin typeface="Arial"/>
                <a:ea typeface="Arial"/>
                <a:cs typeface="Arial"/>
              </a:defRPr>
            </a:lvl2pPr>
            <a:lvl3pPr>
              <a:defRPr sz="1050" b="1">
                <a:solidFill>
                  <a:srgbClr val="28369F"/>
                </a:solidFill>
                <a:latin typeface="Arial"/>
                <a:ea typeface="Arial"/>
                <a:cs typeface="Arial"/>
              </a:defRPr>
            </a:lvl3pPr>
            <a:lvl4pPr>
              <a:defRPr sz="1050" b="1">
                <a:solidFill>
                  <a:srgbClr val="28369F"/>
                </a:solidFill>
                <a:latin typeface="Arial"/>
                <a:ea typeface="Arial"/>
                <a:cs typeface="Arial"/>
              </a:defRPr>
            </a:lvl4pPr>
            <a:lvl5pPr>
              <a:defRPr sz="1050" b="1">
                <a:solidFill>
                  <a:srgbClr val="28369F"/>
                </a:solidFill>
                <a:latin typeface="Arial"/>
                <a:ea typeface="Arial"/>
                <a:cs typeface="Arial"/>
              </a:defRPr>
            </a:lvl5pPr>
            <a:lvl6pPr>
              <a:defRPr sz="1050" b="1">
                <a:solidFill>
                  <a:srgbClr val="28369F"/>
                </a:solidFill>
                <a:latin typeface="Arial"/>
                <a:ea typeface="Arial"/>
                <a:cs typeface="Arial"/>
              </a:defRPr>
            </a:lvl6pPr>
            <a:lvl7pPr>
              <a:defRPr sz="1050" b="1">
                <a:solidFill>
                  <a:srgbClr val="28369F"/>
                </a:solidFill>
                <a:latin typeface="Arial"/>
                <a:ea typeface="Arial"/>
                <a:cs typeface="Arial"/>
              </a:defRPr>
            </a:lvl7pPr>
            <a:lvl8pPr>
              <a:defRPr sz="1050" b="1">
                <a:solidFill>
                  <a:srgbClr val="28369F"/>
                </a:solidFill>
                <a:latin typeface="Arial"/>
                <a:ea typeface="Arial"/>
                <a:cs typeface="Arial"/>
              </a:defRPr>
            </a:lvl8pPr>
            <a:lvl9pPr>
              <a:defRPr sz="1050" b="1">
                <a:solidFill>
                  <a:srgbClr val="28369F"/>
                </a:solidFill>
                <a:latin typeface="Arial"/>
                <a:ea typeface="Arial"/>
                <a:cs typeface="Arial"/>
              </a:defRPr>
            </a:lvl9pPr>
          </a:lstStyle>
          <a:p xmlns:a="http://schemas.openxmlformats.org/drawingml/2006/main">
            <a:pPr>
              <a:defRPr sz="1050" b="1">
                <a:solidFill>
                  <a:srgbClr val="28369F"/>
                </a:solidFill>
                <a:latin typeface="Arial"/>
                <a:ea typeface="Arial"/>
                <a:cs typeface="Arial"/>
              </a:defRPr>
            </a:pPr>
            <a:r>
              <a:rPr sz="1050" b="1">
                <a:solidFill>
                  <a:srgbClr val="28369F"/>
                </a:solidFill>
                <a:latin typeface="Arial"/>
                <a:ea typeface="Arial"/>
                <a:cs typeface="Arial"/>
              </a:rPr>
              <a:t>02 / ONE FRONT DOOR, THREE CLEAR ROUTES</a:t>
            </a:r>
          </a:p>
        </p:txBody>
      </p:sp>
      <p:sp>
        <p:nvSpPr>
          <p:cNvPr id="2" name="">
            <a:extLst xmlns:a="http://schemas.openxmlformats.org/drawingml/2006/main">
              <a:ext uri="{FF2B5EF4-FFF2-40B4-BE49-F238E27FC236}">
                <a16:creationId xmlns:a16="http://schemas.microsoft.com/office/drawing/2014/main" id="{A4EED85D-C6E3-4233-A214-9C12102F558D}"/>
              </a:ext>
            </a:extLst>
          </p:cNvPr>
          <p:cNvSpPr>
            <a:spLocks xmlns:a="http://schemas.openxmlformats.org/drawingml/2006/main" noGrp="1"/>
          </p:cNvSpPr>
          <p:nvPr/>
        </p:nvSpPr>
        <p:spPr>
          <a:xfrm xmlns:a="http://schemas.openxmlformats.org/drawingml/2006/main">
            <a:off x="590550" y="7429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63E"/>
                </a:solidFill>
                <a:latin typeface="Arial"/>
                <a:ea typeface="Arial"/>
                <a:cs typeface="Arial"/>
              </a:defRPr>
            </a:defPPr>
            <a:lvl1pPr>
              <a:defRPr sz="3150" b="1">
                <a:solidFill>
                  <a:srgbClr val="17263E"/>
                </a:solidFill>
                <a:latin typeface="Arial"/>
                <a:ea typeface="Arial"/>
                <a:cs typeface="Arial"/>
              </a:defRPr>
            </a:lvl1pPr>
            <a:lvl2pPr>
              <a:defRPr sz="3150" b="1">
                <a:solidFill>
                  <a:srgbClr val="17263E"/>
                </a:solidFill>
                <a:latin typeface="Arial"/>
                <a:ea typeface="Arial"/>
                <a:cs typeface="Arial"/>
              </a:defRPr>
            </a:lvl2pPr>
            <a:lvl3pPr>
              <a:defRPr sz="3150" b="1">
                <a:solidFill>
                  <a:srgbClr val="17263E"/>
                </a:solidFill>
                <a:latin typeface="Arial"/>
                <a:ea typeface="Arial"/>
                <a:cs typeface="Arial"/>
              </a:defRPr>
            </a:lvl3pPr>
            <a:lvl4pPr>
              <a:defRPr sz="3150" b="1">
                <a:solidFill>
                  <a:srgbClr val="17263E"/>
                </a:solidFill>
                <a:latin typeface="Arial"/>
                <a:ea typeface="Arial"/>
                <a:cs typeface="Arial"/>
              </a:defRPr>
            </a:lvl4pPr>
            <a:lvl5pPr>
              <a:defRPr sz="3150" b="1">
                <a:solidFill>
                  <a:srgbClr val="17263E"/>
                </a:solidFill>
                <a:latin typeface="Arial"/>
                <a:ea typeface="Arial"/>
                <a:cs typeface="Arial"/>
              </a:defRPr>
            </a:lvl5pPr>
            <a:lvl6pPr>
              <a:defRPr sz="3150" b="1">
                <a:solidFill>
                  <a:srgbClr val="17263E"/>
                </a:solidFill>
                <a:latin typeface="Arial"/>
                <a:ea typeface="Arial"/>
                <a:cs typeface="Arial"/>
              </a:defRPr>
            </a:lvl6pPr>
            <a:lvl7pPr>
              <a:defRPr sz="3150" b="1">
                <a:solidFill>
                  <a:srgbClr val="17263E"/>
                </a:solidFill>
                <a:latin typeface="Arial"/>
                <a:ea typeface="Arial"/>
                <a:cs typeface="Arial"/>
              </a:defRPr>
            </a:lvl7pPr>
            <a:lvl8pPr>
              <a:defRPr sz="3150" b="1">
                <a:solidFill>
                  <a:srgbClr val="17263E"/>
                </a:solidFill>
                <a:latin typeface="Arial"/>
                <a:ea typeface="Arial"/>
                <a:cs typeface="Arial"/>
              </a:defRPr>
            </a:lvl8pPr>
            <a:lvl9pPr>
              <a:defRPr sz="3150" b="1">
                <a:solidFill>
                  <a:srgbClr val="17263E"/>
                </a:solidFill>
                <a:latin typeface="Arial"/>
                <a:ea typeface="Arial"/>
                <a:cs typeface="Arial"/>
              </a:defRPr>
            </a:lvl9pPr>
          </a:lstStyle>
          <a:p xmlns:a="http://schemas.openxmlformats.org/drawingml/2006/main">
            <a:pPr>
              <a:defRPr sz="3150" b="1">
                <a:solidFill>
                  <a:srgbClr val="17263E"/>
                </a:solidFill>
                <a:latin typeface="Arial"/>
                <a:ea typeface="Arial"/>
                <a:cs typeface="Arial"/>
              </a:defRPr>
            </a:pPr>
            <a:r>
              <a:rPr sz="3150" b="1">
                <a:solidFill>
                  <a:srgbClr val="17263E"/>
                </a:solidFill>
                <a:latin typeface="Arial"/>
                <a:ea typeface="Arial"/>
                <a:cs typeface="Arial"/>
              </a:rPr>
              <a:t>Every category earns its place up front</a:t>
            </a:r>
          </a:p>
        </p:txBody>
      </p:sp>
      <p:pic>
        <p:nvPicPr>
          <p:cNvPr id="3" name="">
            <a:extLst xmlns:a="http://schemas.openxmlformats.org/drawingml/2006/main">
              <a:ext uri="{FF2B5EF4-FFF2-40B4-BE49-F238E27FC236}">
                <a16:creationId xmlns:a16="http://schemas.microsoft.com/office/drawing/2014/main" id="{AE111317-A2D7-448D-A4E9-739303C98399}"/>
              </a:ext>
            </a:extLst>
          </p:cNvPr>
          <p:cNvPicPr>
            <a:picLocks xmlns:a="http://schemas.openxmlformats.org/drawingml/2006/main" noChangeAspect="1"/>
          </p:cNvPicPr>
          <p:nvPr/>
        </p:nvPicPr>
        <p:blipFill>
          <a:blip xmlns:r="http://schemas.openxmlformats.org/officeDocument/2006/relationships" xmlns:a="http://schemas.openxmlformats.org/drawingml/2006/main" r:embed="Ra2edf6745ba84a4c"/>
          <a:stretch xmlns:a="http://schemas.openxmlformats.org/drawingml/2006/main"/>
        </p:blipFill>
        <p:spPr>
          <a:xfrm xmlns:a="http://schemas.openxmlformats.org/drawingml/2006/main">
            <a:off x="952500" y="1677475"/>
            <a:ext cx="2076450" cy="4493651"/>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CF59278F-0447-4FBC-A0F1-891C2B09A6FC}"/>
              </a:ext>
            </a:extLst>
          </p:cNvPr>
          <p:cNvPicPr>
            <a:picLocks xmlns:a="http://schemas.openxmlformats.org/drawingml/2006/main" noChangeAspect="1"/>
          </p:cNvPicPr>
          <p:nvPr/>
        </p:nvPicPr>
        <p:blipFill>
          <a:blip xmlns:r="http://schemas.openxmlformats.org/officeDocument/2006/relationships" xmlns:a="http://schemas.openxmlformats.org/drawingml/2006/main" r:embed="Rd90b16a4ed9d4fdd"/>
          <a:stretch xmlns:a="http://schemas.openxmlformats.org/drawingml/2006/main"/>
        </p:blipFill>
        <p:spPr>
          <a:xfrm xmlns:a="http://schemas.openxmlformats.org/drawingml/2006/main">
            <a:off x="5057775" y="1677475"/>
            <a:ext cx="2076450" cy="4493651"/>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804190F-551B-42C9-BB4E-0314467FC572}"/>
              </a:ext>
            </a:extLst>
          </p:cNvPr>
          <p:cNvPicPr>
            <a:picLocks xmlns:a="http://schemas.openxmlformats.org/drawingml/2006/main" noChangeAspect="1"/>
          </p:cNvPicPr>
          <p:nvPr/>
        </p:nvPicPr>
        <p:blipFill>
          <a:blip xmlns:r="http://schemas.openxmlformats.org/officeDocument/2006/relationships" xmlns:a="http://schemas.openxmlformats.org/drawingml/2006/main" r:embed="Rbbe0458b99a641ed"/>
          <a:stretch xmlns:a="http://schemas.openxmlformats.org/drawingml/2006/main"/>
        </p:blipFill>
        <p:spPr>
          <a:xfrm xmlns:a="http://schemas.openxmlformats.org/drawingml/2006/main">
            <a:off x="9163050" y="1677475"/>
            <a:ext cx="2076450" cy="449365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9D56A01-1704-410D-91E5-40640CD1F823}"/>
              </a:ext>
            </a:extLst>
          </p:cNvPr>
          <p:cNvSpPr>
            <a:spLocks xmlns:a="http://schemas.openxmlformats.org/drawingml/2006/main" noGrp="1"/>
          </p:cNvSpPr>
          <p:nvPr/>
        </p:nvSpPr>
        <p:spPr>
          <a:xfrm xmlns:a="http://schemas.openxmlformats.org/drawingml/2006/main">
            <a:off x="952500" y="6315075"/>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28369F"/>
                </a:solidFill>
                <a:latin typeface="Arial"/>
                <a:ea typeface="Arial"/>
                <a:cs typeface="Arial"/>
              </a:defRPr>
            </a:defPPr>
            <a:lvl1pPr>
              <a:defRPr sz="1425" b="1">
                <a:solidFill>
                  <a:srgbClr val="28369F"/>
                </a:solidFill>
                <a:latin typeface="Arial"/>
                <a:ea typeface="Arial"/>
                <a:cs typeface="Arial"/>
              </a:defRPr>
            </a:lvl1pPr>
            <a:lvl2pPr>
              <a:defRPr sz="1425" b="1">
                <a:solidFill>
                  <a:srgbClr val="28369F"/>
                </a:solidFill>
                <a:latin typeface="Arial"/>
                <a:ea typeface="Arial"/>
                <a:cs typeface="Arial"/>
              </a:defRPr>
            </a:lvl2pPr>
            <a:lvl3pPr>
              <a:defRPr sz="1425" b="1">
                <a:solidFill>
                  <a:srgbClr val="28369F"/>
                </a:solidFill>
                <a:latin typeface="Arial"/>
                <a:ea typeface="Arial"/>
                <a:cs typeface="Arial"/>
              </a:defRPr>
            </a:lvl3pPr>
            <a:lvl4pPr>
              <a:defRPr sz="1425" b="1">
                <a:solidFill>
                  <a:srgbClr val="28369F"/>
                </a:solidFill>
                <a:latin typeface="Arial"/>
                <a:ea typeface="Arial"/>
                <a:cs typeface="Arial"/>
              </a:defRPr>
            </a:lvl4pPr>
            <a:lvl5pPr>
              <a:defRPr sz="1425" b="1">
                <a:solidFill>
                  <a:srgbClr val="28369F"/>
                </a:solidFill>
                <a:latin typeface="Arial"/>
                <a:ea typeface="Arial"/>
                <a:cs typeface="Arial"/>
              </a:defRPr>
            </a:lvl5pPr>
            <a:lvl6pPr>
              <a:defRPr sz="1425" b="1">
                <a:solidFill>
                  <a:srgbClr val="28369F"/>
                </a:solidFill>
                <a:latin typeface="Arial"/>
                <a:ea typeface="Arial"/>
                <a:cs typeface="Arial"/>
              </a:defRPr>
            </a:lvl6pPr>
            <a:lvl7pPr>
              <a:defRPr sz="1425" b="1">
                <a:solidFill>
                  <a:srgbClr val="28369F"/>
                </a:solidFill>
                <a:latin typeface="Arial"/>
                <a:ea typeface="Arial"/>
                <a:cs typeface="Arial"/>
              </a:defRPr>
            </a:lvl7pPr>
            <a:lvl8pPr>
              <a:defRPr sz="1425" b="1">
                <a:solidFill>
                  <a:srgbClr val="28369F"/>
                </a:solidFill>
                <a:latin typeface="Arial"/>
                <a:ea typeface="Arial"/>
                <a:cs typeface="Arial"/>
              </a:defRPr>
            </a:lvl8pPr>
            <a:lvl9pPr>
              <a:defRPr sz="1425" b="1">
                <a:solidFill>
                  <a:srgbClr val="28369F"/>
                </a:solidFill>
                <a:latin typeface="Arial"/>
                <a:ea typeface="Arial"/>
                <a:cs typeface="Arial"/>
              </a:defRPr>
            </a:lvl9pPr>
          </a:lstStyle>
          <a:p xmlns:a="http://schemas.openxmlformats.org/drawingml/2006/main">
            <a:pPr>
              <a:defRPr sz="1425" b="1">
                <a:solidFill>
                  <a:srgbClr val="28369F"/>
                </a:solidFill>
                <a:latin typeface="Arial"/>
                <a:ea typeface="Arial"/>
                <a:cs typeface="Arial"/>
              </a:defRPr>
            </a:pPr>
            <a:r>
              <a:rPr sz="1425"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CD2086BB-2D6C-47EA-8DF7-05BEF76647C3}"/>
              </a:ext>
            </a:extLst>
          </p:cNvPr>
          <p:cNvSpPr>
            <a:spLocks xmlns:a="http://schemas.openxmlformats.org/drawingml/2006/main" noGrp="1"/>
          </p:cNvSpPr>
          <p:nvPr/>
        </p:nvSpPr>
        <p:spPr>
          <a:xfrm xmlns:a="http://schemas.openxmlformats.org/drawingml/2006/main">
            <a:off x="5057775" y="631507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28369F"/>
                </a:solidFill>
                <a:latin typeface="Arial"/>
                <a:ea typeface="Arial"/>
                <a:cs typeface="Arial"/>
              </a:defRPr>
            </a:defPPr>
            <a:lvl1pPr>
              <a:defRPr sz="1425" b="1">
                <a:solidFill>
                  <a:srgbClr val="28369F"/>
                </a:solidFill>
                <a:latin typeface="Arial"/>
                <a:ea typeface="Arial"/>
                <a:cs typeface="Arial"/>
              </a:defRPr>
            </a:lvl1pPr>
            <a:lvl2pPr>
              <a:defRPr sz="1425" b="1">
                <a:solidFill>
                  <a:srgbClr val="28369F"/>
                </a:solidFill>
                <a:latin typeface="Arial"/>
                <a:ea typeface="Arial"/>
                <a:cs typeface="Arial"/>
              </a:defRPr>
            </a:lvl2pPr>
            <a:lvl3pPr>
              <a:defRPr sz="1425" b="1">
                <a:solidFill>
                  <a:srgbClr val="28369F"/>
                </a:solidFill>
                <a:latin typeface="Arial"/>
                <a:ea typeface="Arial"/>
                <a:cs typeface="Arial"/>
              </a:defRPr>
            </a:lvl3pPr>
            <a:lvl4pPr>
              <a:defRPr sz="1425" b="1">
                <a:solidFill>
                  <a:srgbClr val="28369F"/>
                </a:solidFill>
                <a:latin typeface="Arial"/>
                <a:ea typeface="Arial"/>
                <a:cs typeface="Arial"/>
              </a:defRPr>
            </a:lvl4pPr>
            <a:lvl5pPr>
              <a:defRPr sz="1425" b="1">
                <a:solidFill>
                  <a:srgbClr val="28369F"/>
                </a:solidFill>
                <a:latin typeface="Arial"/>
                <a:ea typeface="Arial"/>
                <a:cs typeface="Arial"/>
              </a:defRPr>
            </a:lvl5pPr>
            <a:lvl6pPr>
              <a:defRPr sz="1425" b="1">
                <a:solidFill>
                  <a:srgbClr val="28369F"/>
                </a:solidFill>
                <a:latin typeface="Arial"/>
                <a:ea typeface="Arial"/>
                <a:cs typeface="Arial"/>
              </a:defRPr>
            </a:lvl6pPr>
            <a:lvl7pPr>
              <a:defRPr sz="1425" b="1">
                <a:solidFill>
                  <a:srgbClr val="28369F"/>
                </a:solidFill>
                <a:latin typeface="Arial"/>
                <a:ea typeface="Arial"/>
                <a:cs typeface="Arial"/>
              </a:defRPr>
            </a:lvl7pPr>
            <a:lvl8pPr>
              <a:defRPr sz="1425" b="1">
                <a:solidFill>
                  <a:srgbClr val="28369F"/>
                </a:solidFill>
                <a:latin typeface="Arial"/>
                <a:ea typeface="Arial"/>
                <a:cs typeface="Arial"/>
              </a:defRPr>
            </a:lvl8pPr>
            <a:lvl9pPr>
              <a:defRPr sz="1425" b="1">
                <a:solidFill>
                  <a:srgbClr val="28369F"/>
                </a:solidFill>
                <a:latin typeface="Arial"/>
                <a:ea typeface="Arial"/>
                <a:cs typeface="Arial"/>
              </a:defRPr>
            </a:lvl9pPr>
          </a:lstStyle>
          <a:p xmlns:a="http://schemas.openxmlformats.org/drawingml/2006/main">
            <a:pPr>
              <a:defRPr sz="1425" b="1">
                <a:solidFill>
                  <a:srgbClr val="28369F"/>
                </a:solidFill>
                <a:latin typeface="Arial"/>
                <a:ea typeface="Arial"/>
                <a:cs typeface="Arial"/>
              </a:defRPr>
            </a:pPr>
            <a:r>
              <a:rPr sz="1425" b="1">
                <a:solidFill>
                  <a:srgbClr val="28369F"/>
                </a:solidFill>
                <a:latin typeface="Arial"/>
                <a:ea typeface="Arial"/>
                <a:cs typeface="Arial"/>
              </a:rPr>
              <a:t>Funds &amp; baskets</a:t>
            </a:r>
          </a:p>
        </p:txBody>
      </p:sp>
      <p:sp>
        <p:nvSpPr>
          <p:cNvPr id="8" name="">
            <a:extLst xmlns:a="http://schemas.openxmlformats.org/drawingml/2006/main">
              <a:ext uri="{FF2B5EF4-FFF2-40B4-BE49-F238E27FC236}">
                <a16:creationId xmlns:a16="http://schemas.microsoft.com/office/drawing/2014/main" id="{90110187-FE6F-4E24-8CD7-FFA4A7CB37D5}"/>
              </a:ext>
            </a:extLst>
          </p:cNvPr>
          <p:cNvSpPr>
            <a:spLocks xmlns:a="http://schemas.openxmlformats.org/drawingml/2006/main" noGrp="1"/>
          </p:cNvSpPr>
          <p:nvPr/>
        </p:nvSpPr>
        <p:spPr>
          <a:xfrm xmlns:a="http://schemas.openxmlformats.org/drawingml/2006/main">
            <a:off x="8648700" y="6315075"/>
            <a:ext cx="3238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28369F"/>
                </a:solidFill>
                <a:latin typeface="Arial"/>
                <a:ea typeface="Arial"/>
                <a:cs typeface="Arial"/>
              </a:defRPr>
            </a:defPPr>
            <a:lvl1pPr>
              <a:defRPr sz="1425" b="1">
                <a:solidFill>
                  <a:srgbClr val="28369F"/>
                </a:solidFill>
                <a:latin typeface="Arial"/>
                <a:ea typeface="Arial"/>
                <a:cs typeface="Arial"/>
              </a:defRPr>
            </a:lvl1pPr>
            <a:lvl2pPr>
              <a:defRPr sz="1425" b="1">
                <a:solidFill>
                  <a:srgbClr val="28369F"/>
                </a:solidFill>
                <a:latin typeface="Arial"/>
                <a:ea typeface="Arial"/>
                <a:cs typeface="Arial"/>
              </a:defRPr>
            </a:lvl2pPr>
            <a:lvl3pPr>
              <a:defRPr sz="1425" b="1">
                <a:solidFill>
                  <a:srgbClr val="28369F"/>
                </a:solidFill>
                <a:latin typeface="Arial"/>
                <a:ea typeface="Arial"/>
                <a:cs typeface="Arial"/>
              </a:defRPr>
            </a:lvl3pPr>
            <a:lvl4pPr>
              <a:defRPr sz="1425" b="1">
                <a:solidFill>
                  <a:srgbClr val="28369F"/>
                </a:solidFill>
                <a:latin typeface="Arial"/>
                <a:ea typeface="Arial"/>
                <a:cs typeface="Arial"/>
              </a:defRPr>
            </a:lvl4pPr>
            <a:lvl5pPr>
              <a:defRPr sz="1425" b="1">
                <a:solidFill>
                  <a:srgbClr val="28369F"/>
                </a:solidFill>
                <a:latin typeface="Arial"/>
                <a:ea typeface="Arial"/>
                <a:cs typeface="Arial"/>
              </a:defRPr>
            </a:lvl5pPr>
            <a:lvl6pPr>
              <a:defRPr sz="1425" b="1">
                <a:solidFill>
                  <a:srgbClr val="28369F"/>
                </a:solidFill>
                <a:latin typeface="Arial"/>
                <a:ea typeface="Arial"/>
                <a:cs typeface="Arial"/>
              </a:defRPr>
            </a:lvl6pPr>
            <a:lvl7pPr>
              <a:defRPr sz="1425" b="1">
                <a:solidFill>
                  <a:srgbClr val="28369F"/>
                </a:solidFill>
                <a:latin typeface="Arial"/>
                <a:ea typeface="Arial"/>
                <a:cs typeface="Arial"/>
              </a:defRPr>
            </a:lvl7pPr>
            <a:lvl8pPr>
              <a:defRPr sz="1425" b="1">
                <a:solidFill>
                  <a:srgbClr val="28369F"/>
                </a:solidFill>
                <a:latin typeface="Arial"/>
                <a:ea typeface="Arial"/>
                <a:cs typeface="Arial"/>
              </a:defRPr>
            </a:lvl8pPr>
            <a:lvl9pPr>
              <a:defRPr sz="1425" b="1">
                <a:solidFill>
                  <a:srgbClr val="28369F"/>
                </a:solidFill>
                <a:latin typeface="Arial"/>
                <a:ea typeface="Arial"/>
                <a:cs typeface="Arial"/>
              </a:defRPr>
            </a:lvl9pPr>
          </a:lstStyle>
          <a:p xmlns:a="http://schemas.openxmlformats.org/drawingml/2006/main">
            <a:pPr>
              <a:defRPr sz="1425" b="1">
                <a:solidFill>
                  <a:srgbClr val="28369F"/>
                </a:solidFill>
                <a:latin typeface="Arial"/>
                <a:ea typeface="Arial"/>
                <a:cs typeface="Arial"/>
              </a:defRPr>
            </a:pPr>
            <a:r>
              <a:rPr sz="1425" b="1">
                <a:solidFill>
                  <a:srgbClr val="28369F"/>
                </a:solidFill>
                <a:latin typeface="Arial"/>
                <a:ea typeface="Arial"/>
                <a:cs typeface="Arial"/>
              </a:rPr>
              <a:t>Private Wealth</a:t>
            </a:r>
          </a:p>
        </p:txBody>
      </p:sp>
    </p:spTree>
    <p:extLst>
      <p:ext uri="{BB962C8B-B14F-4D97-AF65-F5344CB8AC3E}">
        <p14:creationId xmlns:p14="http://schemas.microsoft.com/office/powerpoint/2010/main" val="769936280"/>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24516B-888E-453E-87E1-24AA1E0AB041}"/>
              </a:ext>
            </a:extLst>
          </p:cNvPr>
          <p:cNvSpPr>
            <a:spLocks xmlns:a="http://schemas.openxmlformats.org/drawingml/2006/main" noGrp="1"/>
          </p:cNvSpPr>
          <p:nvPr/>
        </p:nvSpPr>
        <p:spPr>
          <a:xfrm xmlns:a="http://schemas.openxmlformats.org/drawingml/2006/main">
            <a:off x="590550" y="2857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28369F"/>
                </a:solidFill>
                <a:latin typeface="Arial"/>
                <a:ea typeface="Arial"/>
                <a:cs typeface="Arial"/>
              </a:defRPr>
            </a:defPPr>
            <a:lvl1pPr>
              <a:defRPr sz="1050" b="1">
                <a:solidFill>
                  <a:srgbClr val="28369F"/>
                </a:solidFill>
                <a:latin typeface="Arial"/>
                <a:ea typeface="Arial"/>
                <a:cs typeface="Arial"/>
              </a:defRPr>
            </a:lvl1pPr>
            <a:lvl2pPr>
              <a:defRPr sz="1050" b="1">
                <a:solidFill>
                  <a:srgbClr val="28369F"/>
                </a:solidFill>
                <a:latin typeface="Arial"/>
                <a:ea typeface="Arial"/>
                <a:cs typeface="Arial"/>
              </a:defRPr>
            </a:lvl2pPr>
            <a:lvl3pPr>
              <a:defRPr sz="1050" b="1">
                <a:solidFill>
                  <a:srgbClr val="28369F"/>
                </a:solidFill>
                <a:latin typeface="Arial"/>
                <a:ea typeface="Arial"/>
                <a:cs typeface="Arial"/>
              </a:defRPr>
            </a:lvl3pPr>
            <a:lvl4pPr>
              <a:defRPr sz="1050" b="1">
                <a:solidFill>
                  <a:srgbClr val="28369F"/>
                </a:solidFill>
                <a:latin typeface="Arial"/>
                <a:ea typeface="Arial"/>
                <a:cs typeface="Arial"/>
              </a:defRPr>
            </a:lvl4pPr>
            <a:lvl5pPr>
              <a:defRPr sz="1050" b="1">
                <a:solidFill>
                  <a:srgbClr val="28369F"/>
                </a:solidFill>
                <a:latin typeface="Arial"/>
                <a:ea typeface="Arial"/>
                <a:cs typeface="Arial"/>
              </a:defRPr>
            </a:lvl5pPr>
            <a:lvl6pPr>
              <a:defRPr sz="1050" b="1">
                <a:solidFill>
                  <a:srgbClr val="28369F"/>
                </a:solidFill>
                <a:latin typeface="Arial"/>
                <a:ea typeface="Arial"/>
                <a:cs typeface="Arial"/>
              </a:defRPr>
            </a:lvl6pPr>
            <a:lvl7pPr>
              <a:defRPr sz="1050" b="1">
                <a:solidFill>
                  <a:srgbClr val="28369F"/>
                </a:solidFill>
                <a:latin typeface="Arial"/>
                <a:ea typeface="Arial"/>
                <a:cs typeface="Arial"/>
              </a:defRPr>
            </a:lvl7pPr>
            <a:lvl8pPr>
              <a:defRPr sz="1050" b="1">
                <a:solidFill>
                  <a:srgbClr val="28369F"/>
                </a:solidFill>
                <a:latin typeface="Arial"/>
                <a:ea typeface="Arial"/>
                <a:cs typeface="Arial"/>
              </a:defRPr>
            </a:lvl8pPr>
            <a:lvl9pPr>
              <a:defRPr sz="1050" b="1">
                <a:solidFill>
                  <a:srgbClr val="28369F"/>
                </a:solidFill>
                <a:latin typeface="Arial"/>
                <a:ea typeface="Arial"/>
                <a:cs typeface="Arial"/>
              </a:defRPr>
            </a:lvl9pPr>
          </a:lstStyle>
          <a:p xmlns:a="http://schemas.openxmlformats.org/drawingml/2006/main">
            <a:pPr>
              <a:defRPr sz="1050" b="1">
                <a:solidFill>
                  <a:srgbClr val="28369F"/>
                </a:solidFill>
                <a:latin typeface="Arial"/>
                <a:ea typeface="Arial"/>
                <a:cs typeface="Arial"/>
              </a:defRPr>
            </a:pPr>
            <a:r>
              <a:rPr sz="1050" b="1">
                <a:solidFill>
                  <a:srgbClr val="28369F"/>
                </a:solidFill>
                <a:latin typeface="Arial"/>
                <a:ea typeface="Arial"/>
                <a:cs typeface="Arial"/>
              </a:rPr>
              <a:t>03 / HELP PEOPLE MAKE THE NEXT DECISION</a:t>
            </a:r>
          </a:p>
        </p:txBody>
      </p:sp>
      <p:sp>
        <p:nvSpPr>
          <p:cNvPr id="2" name="">
            <a:extLst xmlns:a="http://schemas.openxmlformats.org/drawingml/2006/main">
              <a:ext uri="{FF2B5EF4-FFF2-40B4-BE49-F238E27FC236}">
                <a16:creationId xmlns:a16="http://schemas.microsoft.com/office/drawing/2014/main" id="{DAC41BA2-0771-481A-A71C-A1EF5F28C139}"/>
              </a:ext>
            </a:extLst>
          </p:cNvPr>
          <p:cNvSpPr>
            <a:spLocks xmlns:a="http://schemas.openxmlformats.org/drawingml/2006/main" noGrp="1"/>
          </p:cNvSpPr>
          <p:nvPr/>
        </p:nvSpPr>
        <p:spPr>
          <a:xfrm xmlns:a="http://schemas.openxmlformats.org/drawingml/2006/main">
            <a:off x="590550" y="74295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75" b="1">
                <a:solidFill>
                  <a:srgbClr val="17263E"/>
                </a:solidFill>
                <a:latin typeface="Arial"/>
                <a:ea typeface="Arial"/>
                <a:cs typeface="Arial"/>
              </a:defRPr>
            </a:defPPr>
            <a:lvl1pPr>
              <a:defRPr sz="3075" b="1">
                <a:solidFill>
                  <a:srgbClr val="17263E"/>
                </a:solidFill>
                <a:latin typeface="Arial"/>
                <a:ea typeface="Arial"/>
                <a:cs typeface="Arial"/>
              </a:defRPr>
            </a:lvl1pPr>
            <a:lvl2pPr>
              <a:defRPr sz="3075" b="1">
                <a:solidFill>
                  <a:srgbClr val="17263E"/>
                </a:solidFill>
                <a:latin typeface="Arial"/>
                <a:ea typeface="Arial"/>
                <a:cs typeface="Arial"/>
              </a:defRPr>
            </a:lvl2pPr>
            <a:lvl3pPr>
              <a:defRPr sz="3075" b="1">
                <a:solidFill>
                  <a:srgbClr val="17263E"/>
                </a:solidFill>
                <a:latin typeface="Arial"/>
                <a:ea typeface="Arial"/>
                <a:cs typeface="Arial"/>
              </a:defRPr>
            </a:lvl3pPr>
            <a:lvl4pPr>
              <a:defRPr sz="3075" b="1">
                <a:solidFill>
                  <a:srgbClr val="17263E"/>
                </a:solidFill>
                <a:latin typeface="Arial"/>
                <a:ea typeface="Arial"/>
                <a:cs typeface="Arial"/>
              </a:defRPr>
            </a:lvl4pPr>
            <a:lvl5pPr>
              <a:defRPr sz="3075" b="1">
                <a:solidFill>
                  <a:srgbClr val="17263E"/>
                </a:solidFill>
                <a:latin typeface="Arial"/>
                <a:ea typeface="Arial"/>
                <a:cs typeface="Arial"/>
              </a:defRPr>
            </a:lvl5pPr>
            <a:lvl6pPr>
              <a:defRPr sz="3075" b="1">
                <a:solidFill>
                  <a:srgbClr val="17263E"/>
                </a:solidFill>
                <a:latin typeface="Arial"/>
                <a:ea typeface="Arial"/>
                <a:cs typeface="Arial"/>
              </a:defRPr>
            </a:lvl6pPr>
            <a:lvl7pPr>
              <a:defRPr sz="3075" b="1">
                <a:solidFill>
                  <a:srgbClr val="17263E"/>
                </a:solidFill>
                <a:latin typeface="Arial"/>
                <a:ea typeface="Arial"/>
                <a:cs typeface="Arial"/>
              </a:defRPr>
            </a:lvl7pPr>
            <a:lvl8pPr>
              <a:defRPr sz="3075" b="1">
                <a:solidFill>
                  <a:srgbClr val="17263E"/>
                </a:solidFill>
                <a:latin typeface="Arial"/>
                <a:ea typeface="Arial"/>
                <a:cs typeface="Arial"/>
              </a:defRPr>
            </a:lvl8pPr>
            <a:lvl9pPr>
              <a:defRPr sz="3075" b="1">
                <a:solidFill>
                  <a:srgbClr val="17263E"/>
                </a:solidFill>
                <a:latin typeface="Arial"/>
                <a:ea typeface="Arial"/>
                <a:cs typeface="Arial"/>
              </a:defRPr>
            </a:lvl9pPr>
          </a:lstStyle>
          <a:p xmlns:a="http://schemas.openxmlformats.org/drawingml/2006/main">
            <a:pPr>
              <a:defRPr sz="3075" b="1">
                <a:solidFill>
                  <a:srgbClr val="17263E"/>
                </a:solidFill>
                <a:latin typeface="Arial"/>
                <a:ea typeface="Arial"/>
                <a:cs typeface="Arial"/>
              </a:defRPr>
            </a:pPr>
            <a:r>
              <a:rPr sz="3075" b="1">
                <a:solidFill>
                  <a:srgbClr val="17263E"/>
                </a:solidFill>
                <a:latin typeface="Arial"/>
                <a:ea typeface="Arial"/>
                <a:cs typeface="Arial"/>
              </a:rPr>
              <a:t>Give the facts before asking for commitment</a:t>
            </a:r>
          </a:p>
        </p:txBody>
      </p:sp>
      <p:sp>
        <p:nvSpPr>
          <p:cNvPr id="3" name="">
            <a:extLst xmlns:a="http://schemas.openxmlformats.org/drawingml/2006/main">
              <a:ext uri="{FF2B5EF4-FFF2-40B4-BE49-F238E27FC236}">
                <a16:creationId xmlns:a16="http://schemas.microsoft.com/office/drawing/2014/main" id="{E6C5796C-DCBF-454C-9593-79F7075D3D69}"/>
              </a:ext>
            </a:extLst>
          </p:cNvPr>
          <p:cNvSpPr>
            <a:spLocks xmlns:a="http://schemas.openxmlformats.org/drawingml/2006/main" noGrp="1"/>
          </p:cNvSpPr>
          <p:nvPr/>
        </p:nvSpPr>
        <p:spPr>
          <a:xfrm xmlns:a="http://schemas.openxmlformats.org/drawingml/2006/main">
            <a:off x="590550" y="1762125"/>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C38D36"/>
                </a:solidFill>
                <a:latin typeface="Arial"/>
                <a:ea typeface="Arial"/>
                <a:cs typeface="Arial"/>
              </a:defRPr>
            </a:defPPr>
            <a:lvl1pPr>
              <a:defRPr sz="1725" b="1">
                <a:solidFill>
                  <a:srgbClr val="C38D36"/>
                </a:solidFill>
                <a:latin typeface="Arial"/>
                <a:ea typeface="Arial"/>
                <a:cs typeface="Arial"/>
              </a:defRPr>
            </a:lvl1pPr>
            <a:lvl2pPr>
              <a:defRPr sz="1725" b="1">
                <a:solidFill>
                  <a:srgbClr val="C38D36"/>
                </a:solidFill>
                <a:latin typeface="Arial"/>
                <a:ea typeface="Arial"/>
                <a:cs typeface="Arial"/>
              </a:defRPr>
            </a:lvl2pPr>
            <a:lvl3pPr>
              <a:defRPr sz="1725" b="1">
                <a:solidFill>
                  <a:srgbClr val="C38D36"/>
                </a:solidFill>
                <a:latin typeface="Arial"/>
                <a:ea typeface="Arial"/>
                <a:cs typeface="Arial"/>
              </a:defRPr>
            </a:lvl3pPr>
            <a:lvl4pPr>
              <a:defRPr sz="1725" b="1">
                <a:solidFill>
                  <a:srgbClr val="C38D36"/>
                </a:solidFill>
                <a:latin typeface="Arial"/>
                <a:ea typeface="Arial"/>
                <a:cs typeface="Arial"/>
              </a:defRPr>
            </a:lvl4pPr>
            <a:lvl5pPr>
              <a:defRPr sz="1725" b="1">
                <a:solidFill>
                  <a:srgbClr val="C38D36"/>
                </a:solidFill>
                <a:latin typeface="Arial"/>
                <a:ea typeface="Arial"/>
                <a:cs typeface="Arial"/>
              </a:defRPr>
            </a:lvl5pPr>
            <a:lvl6pPr>
              <a:defRPr sz="1725" b="1">
                <a:solidFill>
                  <a:srgbClr val="C38D36"/>
                </a:solidFill>
                <a:latin typeface="Arial"/>
                <a:ea typeface="Arial"/>
                <a:cs typeface="Arial"/>
              </a:defRPr>
            </a:lvl6pPr>
            <a:lvl7pPr>
              <a:defRPr sz="1725" b="1">
                <a:solidFill>
                  <a:srgbClr val="C38D36"/>
                </a:solidFill>
                <a:latin typeface="Arial"/>
                <a:ea typeface="Arial"/>
                <a:cs typeface="Arial"/>
              </a:defRPr>
            </a:lvl7pPr>
            <a:lvl8pPr>
              <a:defRPr sz="1725" b="1">
                <a:solidFill>
                  <a:srgbClr val="C38D36"/>
                </a:solidFill>
                <a:latin typeface="Arial"/>
                <a:ea typeface="Arial"/>
                <a:cs typeface="Arial"/>
              </a:defRPr>
            </a:lvl8pPr>
            <a:lvl9pPr>
              <a:defRPr sz="1725" b="1">
                <a:solidFill>
                  <a:srgbClr val="C38D36"/>
                </a:solidFill>
                <a:latin typeface="Arial"/>
                <a:ea typeface="Arial"/>
                <a:cs typeface="Arial"/>
              </a:defRPr>
            </a:lvl9pPr>
          </a:lstStyle>
          <a:p xmlns:a="http://schemas.openxmlformats.org/drawingml/2006/main">
            <a:pPr>
              <a:defRPr sz="1725" b="1">
                <a:solidFill>
                  <a:srgbClr val="C38D36"/>
                </a:solidFill>
                <a:latin typeface="Arial"/>
                <a:ea typeface="Arial"/>
                <a:cs typeface="Arial"/>
              </a:defRPr>
            </a:pPr>
            <a:r>
              <a:rPr sz="1725" b="1">
                <a:solidFill>
                  <a:srgbClr val="C38D36"/>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313B2EF7-D195-4D8A-84DA-E69F6EB1506D}"/>
              </a:ext>
            </a:extLst>
          </p:cNvPr>
          <p:cNvSpPr>
            <a:spLocks xmlns:a="http://schemas.openxmlformats.org/drawingml/2006/main" noGrp="1"/>
          </p:cNvSpPr>
          <p:nvPr/>
        </p:nvSpPr>
        <p:spPr>
          <a:xfrm xmlns:a="http://schemas.openxmlformats.org/drawingml/2006/main">
            <a:off x="1066800" y="17621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263E"/>
                </a:solidFill>
                <a:latin typeface="Arial"/>
                <a:ea typeface="Arial"/>
                <a:cs typeface="Arial"/>
              </a:defRPr>
            </a:defPPr>
            <a:lvl1pPr>
              <a:defRPr sz="1950" b="1">
                <a:solidFill>
                  <a:srgbClr val="17263E"/>
                </a:solidFill>
                <a:latin typeface="Arial"/>
                <a:ea typeface="Arial"/>
                <a:cs typeface="Arial"/>
              </a:defRPr>
            </a:lvl1pPr>
            <a:lvl2pPr>
              <a:defRPr sz="1950" b="1">
                <a:solidFill>
                  <a:srgbClr val="17263E"/>
                </a:solidFill>
                <a:latin typeface="Arial"/>
                <a:ea typeface="Arial"/>
                <a:cs typeface="Arial"/>
              </a:defRPr>
            </a:lvl2pPr>
            <a:lvl3pPr>
              <a:defRPr sz="1950" b="1">
                <a:solidFill>
                  <a:srgbClr val="17263E"/>
                </a:solidFill>
                <a:latin typeface="Arial"/>
                <a:ea typeface="Arial"/>
                <a:cs typeface="Arial"/>
              </a:defRPr>
            </a:lvl3pPr>
            <a:lvl4pPr>
              <a:defRPr sz="1950" b="1">
                <a:solidFill>
                  <a:srgbClr val="17263E"/>
                </a:solidFill>
                <a:latin typeface="Arial"/>
                <a:ea typeface="Arial"/>
                <a:cs typeface="Arial"/>
              </a:defRPr>
            </a:lvl4pPr>
            <a:lvl5pPr>
              <a:defRPr sz="1950" b="1">
                <a:solidFill>
                  <a:srgbClr val="17263E"/>
                </a:solidFill>
                <a:latin typeface="Arial"/>
                <a:ea typeface="Arial"/>
                <a:cs typeface="Arial"/>
              </a:defRPr>
            </a:lvl5pPr>
            <a:lvl6pPr>
              <a:defRPr sz="1950" b="1">
                <a:solidFill>
                  <a:srgbClr val="17263E"/>
                </a:solidFill>
                <a:latin typeface="Arial"/>
                <a:ea typeface="Arial"/>
                <a:cs typeface="Arial"/>
              </a:defRPr>
            </a:lvl6pPr>
            <a:lvl7pPr>
              <a:defRPr sz="1950" b="1">
                <a:solidFill>
                  <a:srgbClr val="17263E"/>
                </a:solidFill>
                <a:latin typeface="Arial"/>
                <a:ea typeface="Arial"/>
                <a:cs typeface="Arial"/>
              </a:defRPr>
            </a:lvl7pPr>
            <a:lvl8pPr>
              <a:defRPr sz="1950" b="1">
                <a:solidFill>
                  <a:srgbClr val="17263E"/>
                </a:solidFill>
                <a:latin typeface="Arial"/>
                <a:ea typeface="Arial"/>
                <a:cs typeface="Arial"/>
              </a:defRPr>
            </a:lvl8pPr>
            <a:lvl9pPr>
              <a:defRPr sz="1950" b="1">
                <a:solidFill>
                  <a:srgbClr val="17263E"/>
                </a:solidFill>
                <a:latin typeface="Arial"/>
                <a:ea typeface="Arial"/>
                <a:cs typeface="Arial"/>
              </a:defRPr>
            </a:lvl9pPr>
          </a:lstStyle>
          <a:p xmlns:a="http://schemas.openxmlformats.org/drawingml/2006/main">
            <a:pPr>
              <a:defRPr sz="1950" b="1">
                <a:solidFill>
                  <a:srgbClr val="17263E"/>
                </a:solidFill>
                <a:latin typeface="Arial"/>
                <a:ea typeface="Arial"/>
                <a:cs typeface="Arial"/>
              </a:defRPr>
            </a:pPr>
            <a:r>
              <a:rPr sz="1950" b="1">
                <a:solidFill>
                  <a:srgbClr val="17263E"/>
                </a:solidFill>
                <a:latin typeface="Arial"/>
                <a:ea typeface="Arial"/>
                <a:cs typeface="Arial"/>
              </a:rPr>
              <a:t>Recognise and shortlist</a:t>
            </a:r>
          </a:p>
        </p:txBody>
      </p:sp>
      <p:sp>
        <p:nvSpPr>
          <p:cNvPr id="5" name="">
            <a:extLst xmlns:a="http://schemas.openxmlformats.org/drawingml/2006/main">
              <a:ext uri="{FF2B5EF4-FFF2-40B4-BE49-F238E27FC236}">
                <a16:creationId xmlns:a16="http://schemas.microsoft.com/office/drawing/2014/main" id="{4EC8B681-C80D-486A-A50E-267A4F079D72}"/>
              </a:ext>
            </a:extLst>
          </p:cNvPr>
          <p:cNvSpPr>
            <a:spLocks xmlns:a="http://schemas.openxmlformats.org/drawingml/2006/main" noGrp="1"/>
          </p:cNvSpPr>
          <p:nvPr/>
        </p:nvSpPr>
        <p:spPr>
          <a:xfrm xmlns:a="http://schemas.openxmlformats.org/drawingml/2006/main">
            <a:off x="1066800" y="22193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8677E"/>
                </a:solidFill>
                <a:latin typeface="Arial"/>
                <a:ea typeface="Arial"/>
                <a:cs typeface="Arial"/>
              </a:defRPr>
            </a:defPPr>
            <a:lvl1pPr>
              <a:defRPr sz="1650" b="0">
                <a:solidFill>
                  <a:srgbClr val="58677E"/>
                </a:solidFill>
                <a:latin typeface="Arial"/>
                <a:ea typeface="Arial"/>
                <a:cs typeface="Arial"/>
              </a:defRPr>
            </a:lvl1pPr>
            <a:lvl2pPr>
              <a:defRPr sz="1650" b="0">
                <a:solidFill>
                  <a:srgbClr val="58677E"/>
                </a:solidFill>
                <a:latin typeface="Arial"/>
                <a:ea typeface="Arial"/>
                <a:cs typeface="Arial"/>
              </a:defRPr>
            </a:lvl2pPr>
            <a:lvl3pPr>
              <a:defRPr sz="1650" b="0">
                <a:solidFill>
                  <a:srgbClr val="58677E"/>
                </a:solidFill>
                <a:latin typeface="Arial"/>
                <a:ea typeface="Arial"/>
                <a:cs typeface="Arial"/>
              </a:defRPr>
            </a:lvl3pPr>
            <a:lvl4pPr>
              <a:defRPr sz="1650" b="0">
                <a:solidFill>
                  <a:srgbClr val="58677E"/>
                </a:solidFill>
                <a:latin typeface="Arial"/>
                <a:ea typeface="Arial"/>
                <a:cs typeface="Arial"/>
              </a:defRPr>
            </a:lvl4pPr>
            <a:lvl5pPr>
              <a:defRPr sz="1650" b="0">
                <a:solidFill>
                  <a:srgbClr val="58677E"/>
                </a:solidFill>
                <a:latin typeface="Arial"/>
                <a:ea typeface="Arial"/>
                <a:cs typeface="Arial"/>
              </a:defRPr>
            </a:lvl5pPr>
            <a:lvl6pPr>
              <a:defRPr sz="1650" b="0">
                <a:solidFill>
                  <a:srgbClr val="58677E"/>
                </a:solidFill>
                <a:latin typeface="Arial"/>
                <a:ea typeface="Arial"/>
                <a:cs typeface="Arial"/>
              </a:defRPr>
            </a:lvl6pPr>
            <a:lvl7pPr>
              <a:defRPr sz="1650" b="0">
                <a:solidFill>
                  <a:srgbClr val="58677E"/>
                </a:solidFill>
                <a:latin typeface="Arial"/>
                <a:ea typeface="Arial"/>
                <a:cs typeface="Arial"/>
              </a:defRPr>
            </a:lvl7pPr>
            <a:lvl8pPr>
              <a:defRPr sz="1650" b="0">
                <a:solidFill>
                  <a:srgbClr val="58677E"/>
                </a:solidFill>
                <a:latin typeface="Arial"/>
                <a:ea typeface="Arial"/>
                <a:cs typeface="Arial"/>
              </a:defRPr>
            </a:lvl8pPr>
            <a:lvl9pPr>
              <a:defRPr sz="1650" b="0">
                <a:solidFill>
                  <a:srgbClr val="58677E"/>
                </a:solidFill>
                <a:latin typeface="Arial"/>
                <a:ea typeface="Arial"/>
                <a:cs typeface="Arial"/>
              </a:defRPr>
            </a:lvl9pPr>
          </a:lstStyle>
          <a:p xmlns:a="http://schemas.openxmlformats.org/drawingml/2006/main">
            <a:pPr>
              <a:defRPr sz="1650" b="0">
                <a:solidFill>
                  <a:srgbClr val="58677E"/>
                </a:solidFill>
                <a:latin typeface="Arial"/>
                <a:ea typeface="Arial"/>
                <a:cs typeface="Arial"/>
              </a:defRPr>
            </a:pPr>
            <a:r>
              <a:rPr sz="1650" b="0">
                <a:solidFill>
                  <a:srgbClr val="58677E"/>
                </a:solidFill>
                <a:latin typeface="Arial"/>
                <a:ea typeface="Arial"/>
                <a:cs typeface="Arial"/>
              </a:rPr>
              <a:t>Search a company, scan its price and daily change, then compare two options.</a:t>
            </a:r>
          </a:p>
        </p:txBody>
      </p:sp>
      <p:sp>
        <p:nvSpPr>
          <p:cNvPr id="6" name="">
            <a:extLst xmlns:a="http://schemas.openxmlformats.org/drawingml/2006/main">
              <a:ext uri="{FF2B5EF4-FFF2-40B4-BE49-F238E27FC236}">
                <a16:creationId xmlns:a16="http://schemas.microsoft.com/office/drawing/2014/main" id="{63A4199D-BF88-45A6-84FC-7CC424D433A0}"/>
              </a:ext>
            </a:extLst>
          </p:cNvPr>
          <p:cNvSpPr>
            <a:spLocks xmlns:a="http://schemas.openxmlformats.org/drawingml/2006/main" noGrp="1"/>
          </p:cNvSpPr>
          <p:nvPr/>
        </p:nvSpPr>
        <p:spPr>
          <a:xfrm xmlns:a="http://schemas.openxmlformats.org/drawingml/2006/main">
            <a:off x="590550" y="3228975"/>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C38D36"/>
                </a:solidFill>
                <a:latin typeface="Arial"/>
                <a:ea typeface="Arial"/>
                <a:cs typeface="Arial"/>
              </a:defRPr>
            </a:defPPr>
            <a:lvl1pPr>
              <a:defRPr sz="1725" b="1">
                <a:solidFill>
                  <a:srgbClr val="C38D36"/>
                </a:solidFill>
                <a:latin typeface="Arial"/>
                <a:ea typeface="Arial"/>
                <a:cs typeface="Arial"/>
              </a:defRPr>
            </a:lvl1pPr>
            <a:lvl2pPr>
              <a:defRPr sz="1725" b="1">
                <a:solidFill>
                  <a:srgbClr val="C38D36"/>
                </a:solidFill>
                <a:latin typeface="Arial"/>
                <a:ea typeface="Arial"/>
                <a:cs typeface="Arial"/>
              </a:defRPr>
            </a:lvl2pPr>
            <a:lvl3pPr>
              <a:defRPr sz="1725" b="1">
                <a:solidFill>
                  <a:srgbClr val="C38D36"/>
                </a:solidFill>
                <a:latin typeface="Arial"/>
                <a:ea typeface="Arial"/>
                <a:cs typeface="Arial"/>
              </a:defRPr>
            </a:lvl3pPr>
            <a:lvl4pPr>
              <a:defRPr sz="1725" b="1">
                <a:solidFill>
                  <a:srgbClr val="C38D36"/>
                </a:solidFill>
                <a:latin typeface="Arial"/>
                <a:ea typeface="Arial"/>
                <a:cs typeface="Arial"/>
              </a:defRPr>
            </a:lvl4pPr>
            <a:lvl5pPr>
              <a:defRPr sz="1725" b="1">
                <a:solidFill>
                  <a:srgbClr val="C38D36"/>
                </a:solidFill>
                <a:latin typeface="Arial"/>
                <a:ea typeface="Arial"/>
                <a:cs typeface="Arial"/>
              </a:defRPr>
            </a:lvl5pPr>
            <a:lvl6pPr>
              <a:defRPr sz="1725" b="1">
                <a:solidFill>
                  <a:srgbClr val="C38D36"/>
                </a:solidFill>
                <a:latin typeface="Arial"/>
                <a:ea typeface="Arial"/>
                <a:cs typeface="Arial"/>
              </a:defRPr>
            </a:lvl6pPr>
            <a:lvl7pPr>
              <a:defRPr sz="1725" b="1">
                <a:solidFill>
                  <a:srgbClr val="C38D36"/>
                </a:solidFill>
                <a:latin typeface="Arial"/>
                <a:ea typeface="Arial"/>
                <a:cs typeface="Arial"/>
              </a:defRPr>
            </a:lvl7pPr>
            <a:lvl8pPr>
              <a:defRPr sz="1725" b="1">
                <a:solidFill>
                  <a:srgbClr val="C38D36"/>
                </a:solidFill>
                <a:latin typeface="Arial"/>
                <a:ea typeface="Arial"/>
                <a:cs typeface="Arial"/>
              </a:defRPr>
            </a:lvl8pPr>
            <a:lvl9pPr>
              <a:defRPr sz="1725" b="1">
                <a:solidFill>
                  <a:srgbClr val="C38D36"/>
                </a:solidFill>
                <a:latin typeface="Arial"/>
                <a:ea typeface="Arial"/>
                <a:cs typeface="Arial"/>
              </a:defRPr>
            </a:lvl9pPr>
          </a:lstStyle>
          <a:p xmlns:a="http://schemas.openxmlformats.org/drawingml/2006/main">
            <a:pPr>
              <a:defRPr sz="1725" b="1">
                <a:solidFill>
                  <a:srgbClr val="C38D36"/>
                </a:solidFill>
                <a:latin typeface="Arial"/>
                <a:ea typeface="Arial"/>
                <a:cs typeface="Arial"/>
              </a:defRPr>
            </a:pPr>
            <a:r>
              <a:rPr sz="1725" b="1">
                <a:solidFill>
                  <a:srgbClr val="C38D36"/>
                </a:solidFill>
                <a:latin typeface="Arial"/>
                <a:ea typeface="Arial"/>
                <a:cs typeface="Arial"/>
              </a:rPr>
              <a:t>2</a:t>
            </a:r>
          </a:p>
        </p:txBody>
      </p:sp>
      <p:sp>
        <p:nvSpPr>
          <p:cNvPr id="7" name="">
            <a:extLst xmlns:a="http://schemas.openxmlformats.org/drawingml/2006/main">
              <a:ext uri="{FF2B5EF4-FFF2-40B4-BE49-F238E27FC236}">
                <a16:creationId xmlns:a16="http://schemas.microsoft.com/office/drawing/2014/main" id="{AA923AB8-8DA4-49C3-BB02-A29C13EE10BF}"/>
              </a:ext>
            </a:extLst>
          </p:cNvPr>
          <p:cNvSpPr>
            <a:spLocks xmlns:a="http://schemas.openxmlformats.org/drawingml/2006/main" noGrp="1"/>
          </p:cNvSpPr>
          <p:nvPr/>
        </p:nvSpPr>
        <p:spPr>
          <a:xfrm xmlns:a="http://schemas.openxmlformats.org/drawingml/2006/main">
            <a:off x="1066800" y="322897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263E"/>
                </a:solidFill>
                <a:latin typeface="Arial"/>
                <a:ea typeface="Arial"/>
                <a:cs typeface="Arial"/>
              </a:defRPr>
            </a:defPPr>
            <a:lvl1pPr>
              <a:defRPr sz="1950" b="1">
                <a:solidFill>
                  <a:srgbClr val="17263E"/>
                </a:solidFill>
                <a:latin typeface="Arial"/>
                <a:ea typeface="Arial"/>
                <a:cs typeface="Arial"/>
              </a:defRPr>
            </a:lvl1pPr>
            <a:lvl2pPr>
              <a:defRPr sz="1950" b="1">
                <a:solidFill>
                  <a:srgbClr val="17263E"/>
                </a:solidFill>
                <a:latin typeface="Arial"/>
                <a:ea typeface="Arial"/>
                <a:cs typeface="Arial"/>
              </a:defRPr>
            </a:lvl2pPr>
            <a:lvl3pPr>
              <a:defRPr sz="1950" b="1">
                <a:solidFill>
                  <a:srgbClr val="17263E"/>
                </a:solidFill>
                <a:latin typeface="Arial"/>
                <a:ea typeface="Arial"/>
                <a:cs typeface="Arial"/>
              </a:defRPr>
            </a:lvl3pPr>
            <a:lvl4pPr>
              <a:defRPr sz="1950" b="1">
                <a:solidFill>
                  <a:srgbClr val="17263E"/>
                </a:solidFill>
                <a:latin typeface="Arial"/>
                <a:ea typeface="Arial"/>
                <a:cs typeface="Arial"/>
              </a:defRPr>
            </a:lvl4pPr>
            <a:lvl5pPr>
              <a:defRPr sz="1950" b="1">
                <a:solidFill>
                  <a:srgbClr val="17263E"/>
                </a:solidFill>
                <a:latin typeface="Arial"/>
                <a:ea typeface="Arial"/>
                <a:cs typeface="Arial"/>
              </a:defRPr>
            </a:lvl5pPr>
            <a:lvl6pPr>
              <a:defRPr sz="1950" b="1">
                <a:solidFill>
                  <a:srgbClr val="17263E"/>
                </a:solidFill>
                <a:latin typeface="Arial"/>
                <a:ea typeface="Arial"/>
                <a:cs typeface="Arial"/>
              </a:defRPr>
            </a:lvl6pPr>
            <a:lvl7pPr>
              <a:defRPr sz="1950" b="1">
                <a:solidFill>
                  <a:srgbClr val="17263E"/>
                </a:solidFill>
                <a:latin typeface="Arial"/>
                <a:ea typeface="Arial"/>
                <a:cs typeface="Arial"/>
              </a:defRPr>
            </a:lvl7pPr>
            <a:lvl8pPr>
              <a:defRPr sz="1950" b="1">
                <a:solidFill>
                  <a:srgbClr val="17263E"/>
                </a:solidFill>
                <a:latin typeface="Arial"/>
                <a:ea typeface="Arial"/>
                <a:cs typeface="Arial"/>
              </a:defRPr>
            </a:lvl8pPr>
            <a:lvl9pPr>
              <a:defRPr sz="1950" b="1">
                <a:solidFill>
                  <a:srgbClr val="17263E"/>
                </a:solidFill>
                <a:latin typeface="Arial"/>
                <a:ea typeface="Arial"/>
                <a:cs typeface="Arial"/>
              </a:defRPr>
            </a:lvl9pPr>
          </a:lstStyle>
          <a:p xmlns:a="http://schemas.openxmlformats.org/drawingml/2006/main">
            <a:pPr>
              <a:defRPr sz="1950" b="1">
                <a:solidFill>
                  <a:srgbClr val="17263E"/>
                </a:solidFill>
                <a:latin typeface="Arial"/>
                <a:ea typeface="Arial"/>
                <a:cs typeface="Arial"/>
              </a:defRPr>
            </a:pPr>
            <a:r>
              <a:rPr sz="1950" b="1">
                <a:solidFill>
                  <a:srgbClr val="17263E"/>
                </a:solidFill>
                <a:latin typeface="Arial"/>
                <a:ea typeface="Arial"/>
                <a:cs typeface="Arial"/>
              </a:rPr>
              <a:t>Understand the investment</a:t>
            </a:r>
          </a:p>
        </p:txBody>
      </p:sp>
      <p:sp>
        <p:nvSpPr>
          <p:cNvPr id="8" name="">
            <a:extLst xmlns:a="http://schemas.openxmlformats.org/drawingml/2006/main">
              <a:ext uri="{FF2B5EF4-FFF2-40B4-BE49-F238E27FC236}">
                <a16:creationId xmlns:a16="http://schemas.microsoft.com/office/drawing/2014/main" id="{092E2405-EB3F-44B2-A5B5-6410CA33ACFA}"/>
              </a:ext>
            </a:extLst>
          </p:cNvPr>
          <p:cNvSpPr>
            <a:spLocks xmlns:a="http://schemas.openxmlformats.org/drawingml/2006/main" noGrp="1"/>
          </p:cNvSpPr>
          <p:nvPr/>
        </p:nvSpPr>
        <p:spPr>
          <a:xfrm xmlns:a="http://schemas.openxmlformats.org/drawingml/2006/main">
            <a:off x="1066800" y="368617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8677E"/>
                </a:solidFill>
                <a:latin typeface="Arial"/>
                <a:ea typeface="Arial"/>
                <a:cs typeface="Arial"/>
              </a:defRPr>
            </a:defPPr>
            <a:lvl1pPr>
              <a:defRPr sz="1650" b="0">
                <a:solidFill>
                  <a:srgbClr val="58677E"/>
                </a:solidFill>
                <a:latin typeface="Arial"/>
                <a:ea typeface="Arial"/>
                <a:cs typeface="Arial"/>
              </a:defRPr>
            </a:lvl1pPr>
            <a:lvl2pPr>
              <a:defRPr sz="1650" b="0">
                <a:solidFill>
                  <a:srgbClr val="58677E"/>
                </a:solidFill>
                <a:latin typeface="Arial"/>
                <a:ea typeface="Arial"/>
                <a:cs typeface="Arial"/>
              </a:defRPr>
            </a:lvl2pPr>
            <a:lvl3pPr>
              <a:defRPr sz="1650" b="0">
                <a:solidFill>
                  <a:srgbClr val="58677E"/>
                </a:solidFill>
                <a:latin typeface="Arial"/>
                <a:ea typeface="Arial"/>
                <a:cs typeface="Arial"/>
              </a:defRPr>
            </a:lvl3pPr>
            <a:lvl4pPr>
              <a:defRPr sz="1650" b="0">
                <a:solidFill>
                  <a:srgbClr val="58677E"/>
                </a:solidFill>
                <a:latin typeface="Arial"/>
                <a:ea typeface="Arial"/>
                <a:cs typeface="Arial"/>
              </a:defRPr>
            </a:lvl4pPr>
            <a:lvl5pPr>
              <a:defRPr sz="1650" b="0">
                <a:solidFill>
                  <a:srgbClr val="58677E"/>
                </a:solidFill>
                <a:latin typeface="Arial"/>
                <a:ea typeface="Arial"/>
                <a:cs typeface="Arial"/>
              </a:defRPr>
            </a:lvl5pPr>
            <a:lvl6pPr>
              <a:defRPr sz="1650" b="0">
                <a:solidFill>
                  <a:srgbClr val="58677E"/>
                </a:solidFill>
                <a:latin typeface="Arial"/>
                <a:ea typeface="Arial"/>
                <a:cs typeface="Arial"/>
              </a:defRPr>
            </a:lvl6pPr>
            <a:lvl7pPr>
              <a:defRPr sz="1650" b="0">
                <a:solidFill>
                  <a:srgbClr val="58677E"/>
                </a:solidFill>
                <a:latin typeface="Arial"/>
                <a:ea typeface="Arial"/>
                <a:cs typeface="Arial"/>
              </a:defRPr>
            </a:lvl7pPr>
            <a:lvl8pPr>
              <a:defRPr sz="1650" b="0">
                <a:solidFill>
                  <a:srgbClr val="58677E"/>
                </a:solidFill>
                <a:latin typeface="Arial"/>
                <a:ea typeface="Arial"/>
                <a:cs typeface="Arial"/>
              </a:defRPr>
            </a:lvl8pPr>
            <a:lvl9pPr>
              <a:defRPr sz="1650" b="0">
                <a:solidFill>
                  <a:srgbClr val="58677E"/>
                </a:solidFill>
                <a:latin typeface="Arial"/>
                <a:ea typeface="Arial"/>
                <a:cs typeface="Arial"/>
              </a:defRPr>
            </a:lvl9pPr>
          </a:lstStyle>
          <a:p xmlns:a="http://schemas.openxmlformats.org/drawingml/2006/main">
            <a:pPr>
              <a:defRPr sz="1650" b="0">
                <a:solidFill>
                  <a:srgbClr val="58677E"/>
                </a:solidFill>
                <a:latin typeface="Arial"/>
                <a:ea typeface="Arial"/>
                <a:cs typeface="Arial"/>
              </a:defRPr>
            </a:pPr>
            <a:r>
              <a:rPr sz="1650" b="0">
                <a:solidFill>
                  <a:srgbClr val="58677E"/>
                </a:solidFill>
                <a:latin typeface="Arial"/>
                <a:ea typeface="Arial"/>
                <a:cs typeface="Arial"/>
              </a:rPr>
              <a:t>Keep ownership, minimum, currency, costs and risks together in the detail sheet.</a:t>
            </a:r>
          </a:p>
        </p:txBody>
      </p:sp>
      <p:sp>
        <p:nvSpPr>
          <p:cNvPr id="9" name="">
            <a:extLst xmlns:a="http://schemas.openxmlformats.org/drawingml/2006/main">
              <a:ext uri="{FF2B5EF4-FFF2-40B4-BE49-F238E27FC236}">
                <a16:creationId xmlns:a16="http://schemas.microsoft.com/office/drawing/2014/main" id="{EBB5C689-99DD-41B8-9B68-97EEF750B1B5}"/>
              </a:ext>
            </a:extLst>
          </p:cNvPr>
          <p:cNvSpPr>
            <a:spLocks xmlns:a="http://schemas.openxmlformats.org/drawingml/2006/main" noGrp="1"/>
          </p:cNvSpPr>
          <p:nvPr/>
        </p:nvSpPr>
        <p:spPr>
          <a:xfrm xmlns:a="http://schemas.openxmlformats.org/drawingml/2006/main">
            <a:off x="590550" y="4695825"/>
            <a:ext cx="38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C38D36"/>
                </a:solidFill>
                <a:latin typeface="Arial"/>
                <a:ea typeface="Arial"/>
                <a:cs typeface="Arial"/>
              </a:defRPr>
            </a:defPPr>
            <a:lvl1pPr>
              <a:defRPr sz="1725" b="1">
                <a:solidFill>
                  <a:srgbClr val="C38D36"/>
                </a:solidFill>
                <a:latin typeface="Arial"/>
                <a:ea typeface="Arial"/>
                <a:cs typeface="Arial"/>
              </a:defRPr>
            </a:lvl1pPr>
            <a:lvl2pPr>
              <a:defRPr sz="1725" b="1">
                <a:solidFill>
                  <a:srgbClr val="C38D36"/>
                </a:solidFill>
                <a:latin typeface="Arial"/>
                <a:ea typeface="Arial"/>
                <a:cs typeface="Arial"/>
              </a:defRPr>
            </a:lvl2pPr>
            <a:lvl3pPr>
              <a:defRPr sz="1725" b="1">
                <a:solidFill>
                  <a:srgbClr val="C38D36"/>
                </a:solidFill>
                <a:latin typeface="Arial"/>
                <a:ea typeface="Arial"/>
                <a:cs typeface="Arial"/>
              </a:defRPr>
            </a:lvl3pPr>
            <a:lvl4pPr>
              <a:defRPr sz="1725" b="1">
                <a:solidFill>
                  <a:srgbClr val="C38D36"/>
                </a:solidFill>
                <a:latin typeface="Arial"/>
                <a:ea typeface="Arial"/>
                <a:cs typeface="Arial"/>
              </a:defRPr>
            </a:lvl4pPr>
            <a:lvl5pPr>
              <a:defRPr sz="1725" b="1">
                <a:solidFill>
                  <a:srgbClr val="C38D36"/>
                </a:solidFill>
                <a:latin typeface="Arial"/>
                <a:ea typeface="Arial"/>
                <a:cs typeface="Arial"/>
              </a:defRPr>
            </a:lvl5pPr>
            <a:lvl6pPr>
              <a:defRPr sz="1725" b="1">
                <a:solidFill>
                  <a:srgbClr val="C38D36"/>
                </a:solidFill>
                <a:latin typeface="Arial"/>
                <a:ea typeface="Arial"/>
                <a:cs typeface="Arial"/>
              </a:defRPr>
            </a:lvl6pPr>
            <a:lvl7pPr>
              <a:defRPr sz="1725" b="1">
                <a:solidFill>
                  <a:srgbClr val="C38D36"/>
                </a:solidFill>
                <a:latin typeface="Arial"/>
                <a:ea typeface="Arial"/>
                <a:cs typeface="Arial"/>
              </a:defRPr>
            </a:lvl7pPr>
            <a:lvl8pPr>
              <a:defRPr sz="1725" b="1">
                <a:solidFill>
                  <a:srgbClr val="C38D36"/>
                </a:solidFill>
                <a:latin typeface="Arial"/>
                <a:ea typeface="Arial"/>
                <a:cs typeface="Arial"/>
              </a:defRPr>
            </a:lvl8pPr>
            <a:lvl9pPr>
              <a:defRPr sz="1725" b="1">
                <a:solidFill>
                  <a:srgbClr val="C38D36"/>
                </a:solidFill>
                <a:latin typeface="Arial"/>
                <a:ea typeface="Arial"/>
                <a:cs typeface="Arial"/>
              </a:defRPr>
            </a:lvl9pPr>
          </a:lstStyle>
          <a:p xmlns:a="http://schemas.openxmlformats.org/drawingml/2006/main">
            <a:pPr>
              <a:defRPr sz="1725" b="1">
                <a:solidFill>
                  <a:srgbClr val="C38D36"/>
                </a:solidFill>
                <a:latin typeface="Arial"/>
                <a:ea typeface="Arial"/>
                <a:cs typeface="Arial"/>
              </a:defRPr>
            </a:pPr>
            <a:r>
              <a:rPr sz="1725" b="1">
                <a:solidFill>
                  <a:srgbClr val="C38D36"/>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7E938ADE-31A6-4A11-856F-BB72E5D498DA}"/>
              </a:ext>
            </a:extLst>
          </p:cNvPr>
          <p:cNvSpPr>
            <a:spLocks xmlns:a="http://schemas.openxmlformats.org/drawingml/2006/main" noGrp="1"/>
          </p:cNvSpPr>
          <p:nvPr/>
        </p:nvSpPr>
        <p:spPr>
          <a:xfrm xmlns:a="http://schemas.openxmlformats.org/drawingml/2006/main">
            <a:off x="1066800" y="46958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263E"/>
                </a:solidFill>
                <a:latin typeface="Arial"/>
                <a:ea typeface="Arial"/>
                <a:cs typeface="Arial"/>
              </a:defRPr>
            </a:defPPr>
            <a:lvl1pPr>
              <a:defRPr sz="1950" b="1">
                <a:solidFill>
                  <a:srgbClr val="17263E"/>
                </a:solidFill>
                <a:latin typeface="Arial"/>
                <a:ea typeface="Arial"/>
                <a:cs typeface="Arial"/>
              </a:defRPr>
            </a:lvl1pPr>
            <a:lvl2pPr>
              <a:defRPr sz="1950" b="1">
                <a:solidFill>
                  <a:srgbClr val="17263E"/>
                </a:solidFill>
                <a:latin typeface="Arial"/>
                <a:ea typeface="Arial"/>
                <a:cs typeface="Arial"/>
              </a:defRPr>
            </a:lvl2pPr>
            <a:lvl3pPr>
              <a:defRPr sz="1950" b="1">
                <a:solidFill>
                  <a:srgbClr val="17263E"/>
                </a:solidFill>
                <a:latin typeface="Arial"/>
                <a:ea typeface="Arial"/>
                <a:cs typeface="Arial"/>
              </a:defRPr>
            </a:lvl3pPr>
            <a:lvl4pPr>
              <a:defRPr sz="1950" b="1">
                <a:solidFill>
                  <a:srgbClr val="17263E"/>
                </a:solidFill>
                <a:latin typeface="Arial"/>
                <a:ea typeface="Arial"/>
                <a:cs typeface="Arial"/>
              </a:defRPr>
            </a:lvl4pPr>
            <a:lvl5pPr>
              <a:defRPr sz="1950" b="1">
                <a:solidFill>
                  <a:srgbClr val="17263E"/>
                </a:solidFill>
                <a:latin typeface="Arial"/>
                <a:ea typeface="Arial"/>
                <a:cs typeface="Arial"/>
              </a:defRPr>
            </a:lvl5pPr>
            <a:lvl6pPr>
              <a:defRPr sz="1950" b="1">
                <a:solidFill>
                  <a:srgbClr val="17263E"/>
                </a:solidFill>
                <a:latin typeface="Arial"/>
                <a:ea typeface="Arial"/>
                <a:cs typeface="Arial"/>
              </a:defRPr>
            </a:lvl6pPr>
            <a:lvl7pPr>
              <a:defRPr sz="1950" b="1">
                <a:solidFill>
                  <a:srgbClr val="17263E"/>
                </a:solidFill>
                <a:latin typeface="Arial"/>
                <a:ea typeface="Arial"/>
                <a:cs typeface="Arial"/>
              </a:defRPr>
            </a:lvl7pPr>
            <a:lvl8pPr>
              <a:defRPr sz="1950" b="1">
                <a:solidFill>
                  <a:srgbClr val="17263E"/>
                </a:solidFill>
                <a:latin typeface="Arial"/>
                <a:ea typeface="Arial"/>
                <a:cs typeface="Arial"/>
              </a:defRPr>
            </a:lvl8pPr>
            <a:lvl9pPr>
              <a:defRPr sz="1950" b="1">
                <a:solidFill>
                  <a:srgbClr val="17263E"/>
                </a:solidFill>
                <a:latin typeface="Arial"/>
                <a:ea typeface="Arial"/>
                <a:cs typeface="Arial"/>
              </a:defRPr>
            </a:lvl9pPr>
          </a:lstStyle>
          <a:p xmlns:a="http://schemas.openxmlformats.org/drawingml/2006/main">
            <a:pPr>
              <a:defRPr sz="1950" b="1">
                <a:solidFill>
                  <a:srgbClr val="17263E"/>
                </a:solidFill>
                <a:latin typeface="Arial"/>
                <a:ea typeface="Arial"/>
                <a:cs typeface="Arial"/>
              </a:defRPr>
            </a:pPr>
            <a:r>
              <a:rPr sz="1950" b="1">
                <a:solidFill>
                  <a:srgbClr val="17263E"/>
                </a:solidFill>
                <a:latin typeface="Arial"/>
                <a:ea typeface="Arial"/>
                <a:cs typeface="Arial"/>
              </a:rPr>
              <a:t>Know what happens next</a:t>
            </a:r>
          </a:p>
        </p:txBody>
      </p:sp>
      <p:sp>
        <p:nvSpPr>
          <p:cNvPr id="11" name="">
            <a:extLst xmlns:a="http://schemas.openxmlformats.org/drawingml/2006/main">
              <a:ext uri="{FF2B5EF4-FFF2-40B4-BE49-F238E27FC236}">
                <a16:creationId xmlns:a16="http://schemas.microsoft.com/office/drawing/2014/main" id="{6F3D51D3-7C78-4D14-A258-6FF8B0E84D64}"/>
              </a:ext>
            </a:extLst>
          </p:cNvPr>
          <p:cNvSpPr>
            <a:spLocks xmlns:a="http://schemas.openxmlformats.org/drawingml/2006/main" noGrp="1"/>
          </p:cNvSpPr>
          <p:nvPr/>
        </p:nvSpPr>
        <p:spPr>
          <a:xfrm xmlns:a="http://schemas.openxmlformats.org/drawingml/2006/main">
            <a:off x="1066800" y="51530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8677E"/>
                </a:solidFill>
                <a:latin typeface="Arial"/>
                <a:ea typeface="Arial"/>
                <a:cs typeface="Arial"/>
              </a:defRPr>
            </a:defPPr>
            <a:lvl1pPr>
              <a:defRPr sz="1650" b="0">
                <a:solidFill>
                  <a:srgbClr val="58677E"/>
                </a:solidFill>
                <a:latin typeface="Arial"/>
                <a:ea typeface="Arial"/>
                <a:cs typeface="Arial"/>
              </a:defRPr>
            </a:lvl1pPr>
            <a:lvl2pPr>
              <a:defRPr sz="1650" b="0">
                <a:solidFill>
                  <a:srgbClr val="58677E"/>
                </a:solidFill>
                <a:latin typeface="Arial"/>
                <a:ea typeface="Arial"/>
                <a:cs typeface="Arial"/>
              </a:defRPr>
            </a:lvl2pPr>
            <a:lvl3pPr>
              <a:defRPr sz="1650" b="0">
                <a:solidFill>
                  <a:srgbClr val="58677E"/>
                </a:solidFill>
                <a:latin typeface="Arial"/>
                <a:ea typeface="Arial"/>
                <a:cs typeface="Arial"/>
              </a:defRPr>
            </a:lvl3pPr>
            <a:lvl4pPr>
              <a:defRPr sz="1650" b="0">
                <a:solidFill>
                  <a:srgbClr val="58677E"/>
                </a:solidFill>
                <a:latin typeface="Arial"/>
                <a:ea typeface="Arial"/>
                <a:cs typeface="Arial"/>
              </a:defRPr>
            </a:lvl4pPr>
            <a:lvl5pPr>
              <a:defRPr sz="1650" b="0">
                <a:solidFill>
                  <a:srgbClr val="58677E"/>
                </a:solidFill>
                <a:latin typeface="Arial"/>
                <a:ea typeface="Arial"/>
                <a:cs typeface="Arial"/>
              </a:defRPr>
            </a:lvl5pPr>
            <a:lvl6pPr>
              <a:defRPr sz="1650" b="0">
                <a:solidFill>
                  <a:srgbClr val="58677E"/>
                </a:solidFill>
                <a:latin typeface="Arial"/>
                <a:ea typeface="Arial"/>
                <a:cs typeface="Arial"/>
              </a:defRPr>
            </a:lvl6pPr>
            <a:lvl7pPr>
              <a:defRPr sz="1650" b="0">
                <a:solidFill>
                  <a:srgbClr val="58677E"/>
                </a:solidFill>
                <a:latin typeface="Arial"/>
                <a:ea typeface="Arial"/>
                <a:cs typeface="Arial"/>
              </a:defRPr>
            </a:lvl7pPr>
            <a:lvl8pPr>
              <a:defRPr sz="1650" b="0">
                <a:solidFill>
                  <a:srgbClr val="58677E"/>
                </a:solidFill>
                <a:latin typeface="Arial"/>
                <a:ea typeface="Arial"/>
                <a:cs typeface="Arial"/>
              </a:defRPr>
            </a:lvl8pPr>
            <a:lvl9pPr>
              <a:defRPr sz="1650" b="0">
                <a:solidFill>
                  <a:srgbClr val="58677E"/>
                </a:solidFill>
                <a:latin typeface="Arial"/>
                <a:ea typeface="Arial"/>
                <a:cs typeface="Arial"/>
              </a:defRPr>
            </a:lvl9pPr>
          </a:lstStyle>
          <a:p xmlns:a="http://schemas.openxmlformats.org/drawingml/2006/main">
            <a:pPr>
              <a:defRPr sz="1650" b="0">
                <a:solidFill>
                  <a:srgbClr val="58677E"/>
                </a:solidFill>
                <a:latin typeface="Arial"/>
                <a:ea typeface="Arial"/>
                <a:cs typeface="Arial"/>
              </a:defRPr>
            </a:pPr>
            <a:r>
              <a:rPr sz="1650" b="0">
                <a:solidFill>
                  <a:srgbClr val="58677E"/>
                </a:solidFill>
                <a:latin typeface="Arial"/>
                <a:ea typeface="Arial"/>
                <a:cs typeface="Arial"/>
              </a:rPr>
              <a:t>Explain account verification, funding and order review before the provider handoff.</a:t>
            </a:r>
          </a:p>
        </p:txBody>
      </p:sp>
      <p:pic>
        <p:nvPicPr>
          <p:cNvPr id="12" name="">
            <a:extLst xmlns:a="http://schemas.openxmlformats.org/drawingml/2006/main">
              <a:ext uri="{FF2B5EF4-FFF2-40B4-BE49-F238E27FC236}">
                <a16:creationId xmlns:a16="http://schemas.microsoft.com/office/drawing/2014/main" id="{DE7EDE16-56D3-40B6-8734-190659462EFB}"/>
              </a:ext>
            </a:extLst>
          </p:cNvPr>
          <p:cNvPicPr>
            <a:picLocks xmlns:a="http://schemas.openxmlformats.org/drawingml/2006/main" noChangeAspect="1"/>
          </p:cNvPicPr>
          <p:nvPr/>
        </p:nvPicPr>
        <p:blipFill>
          <a:blip xmlns:r="http://schemas.openxmlformats.org/officeDocument/2006/relationships" xmlns:a="http://schemas.openxmlformats.org/drawingml/2006/main" r:embed="Rb2aab452299a48ae"/>
          <a:stretch xmlns:a="http://schemas.openxmlformats.org/drawingml/2006/main"/>
        </p:blipFill>
        <p:spPr>
          <a:xfrm xmlns:a="http://schemas.openxmlformats.org/drawingml/2006/main">
            <a:off x="8210550" y="1629996"/>
            <a:ext cx="2190750" cy="4741008"/>
          </a:xfrm>
          <a:prstGeom xmlns:a="http://schemas.openxmlformats.org/drawingml/2006/main" prst="rect">
            <a:avLst/>
          </a:prstGeom>
        </p:spPr>
      </p:pic>
    </p:spTree>
    <p:extLst>
      <p:ext uri="{BB962C8B-B14F-4D97-AF65-F5344CB8AC3E}">
        <p14:creationId xmlns:p14="http://schemas.microsoft.com/office/powerpoint/2010/main" val="593318971"/>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FC86D30-102F-4542-8154-61484D5F7F3B}"/>
              </a:ext>
            </a:extLst>
          </p:cNvPr>
          <p:cNvSpPr>
            <a:spLocks xmlns:a="http://schemas.openxmlformats.org/drawingml/2006/main" noGrp="1"/>
          </p:cNvSpPr>
          <p:nvPr/>
        </p:nvSpPr>
        <p:spPr>
          <a:xfrm xmlns:a="http://schemas.openxmlformats.org/drawingml/2006/main">
            <a:off x="590550" y="2857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28369F"/>
                </a:solidFill>
                <a:latin typeface="Arial"/>
                <a:ea typeface="Arial"/>
                <a:cs typeface="Arial"/>
              </a:defRPr>
            </a:defPPr>
            <a:lvl1pPr>
              <a:defRPr sz="1050" b="1">
                <a:solidFill>
                  <a:srgbClr val="28369F"/>
                </a:solidFill>
                <a:latin typeface="Arial"/>
                <a:ea typeface="Arial"/>
                <a:cs typeface="Arial"/>
              </a:defRPr>
            </a:lvl1pPr>
            <a:lvl2pPr>
              <a:defRPr sz="1050" b="1">
                <a:solidFill>
                  <a:srgbClr val="28369F"/>
                </a:solidFill>
                <a:latin typeface="Arial"/>
                <a:ea typeface="Arial"/>
                <a:cs typeface="Arial"/>
              </a:defRPr>
            </a:lvl2pPr>
            <a:lvl3pPr>
              <a:defRPr sz="1050" b="1">
                <a:solidFill>
                  <a:srgbClr val="28369F"/>
                </a:solidFill>
                <a:latin typeface="Arial"/>
                <a:ea typeface="Arial"/>
                <a:cs typeface="Arial"/>
              </a:defRPr>
            </a:lvl3pPr>
            <a:lvl4pPr>
              <a:defRPr sz="1050" b="1">
                <a:solidFill>
                  <a:srgbClr val="28369F"/>
                </a:solidFill>
                <a:latin typeface="Arial"/>
                <a:ea typeface="Arial"/>
                <a:cs typeface="Arial"/>
              </a:defRPr>
            </a:lvl4pPr>
            <a:lvl5pPr>
              <a:defRPr sz="1050" b="1">
                <a:solidFill>
                  <a:srgbClr val="28369F"/>
                </a:solidFill>
                <a:latin typeface="Arial"/>
                <a:ea typeface="Arial"/>
                <a:cs typeface="Arial"/>
              </a:defRPr>
            </a:lvl5pPr>
            <a:lvl6pPr>
              <a:defRPr sz="1050" b="1">
                <a:solidFill>
                  <a:srgbClr val="28369F"/>
                </a:solidFill>
                <a:latin typeface="Arial"/>
                <a:ea typeface="Arial"/>
                <a:cs typeface="Arial"/>
              </a:defRPr>
            </a:lvl6pPr>
            <a:lvl7pPr>
              <a:defRPr sz="1050" b="1">
                <a:solidFill>
                  <a:srgbClr val="28369F"/>
                </a:solidFill>
                <a:latin typeface="Arial"/>
                <a:ea typeface="Arial"/>
                <a:cs typeface="Arial"/>
              </a:defRPr>
            </a:lvl7pPr>
            <a:lvl8pPr>
              <a:defRPr sz="1050" b="1">
                <a:solidFill>
                  <a:srgbClr val="28369F"/>
                </a:solidFill>
                <a:latin typeface="Arial"/>
                <a:ea typeface="Arial"/>
                <a:cs typeface="Arial"/>
              </a:defRPr>
            </a:lvl8pPr>
            <a:lvl9pPr>
              <a:defRPr sz="1050" b="1">
                <a:solidFill>
                  <a:srgbClr val="28369F"/>
                </a:solidFill>
                <a:latin typeface="Arial"/>
                <a:ea typeface="Arial"/>
                <a:cs typeface="Arial"/>
              </a:defRPr>
            </a:lvl9pPr>
          </a:lstStyle>
          <a:p xmlns:a="http://schemas.openxmlformats.org/drawingml/2006/main">
            <a:pPr>
              <a:defRPr sz="1050" b="1">
                <a:solidFill>
                  <a:srgbClr val="28369F"/>
                </a:solidFill>
                <a:latin typeface="Arial"/>
                <a:ea typeface="Arial"/>
                <a:cs typeface="Arial"/>
              </a:defRPr>
            </a:pPr>
            <a:r>
              <a:rPr sz="1050" b="1">
                <a:solidFill>
                  <a:srgbClr val="28369F"/>
                </a:solidFill>
                <a:latin typeface="Arial"/>
                <a:ea typeface="Arial"/>
                <a:cs typeface="Arial"/>
              </a:rPr>
              <a:t>APPENDIX / HYPOTHESIS &amp; EVIDENCE</a:t>
            </a:r>
          </a:p>
        </p:txBody>
      </p:sp>
      <p:sp>
        <p:nvSpPr>
          <p:cNvPr id="2" name="">
            <a:extLst xmlns:a="http://schemas.openxmlformats.org/drawingml/2006/main">
              <a:ext uri="{FF2B5EF4-FFF2-40B4-BE49-F238E27FC236}">
                <a16:creationId xmlns:a16="http://schemas.microsoft.com/office/drawing/2014/main" id="{226BAE0C-0580-4E60-9656-4DA87CD2788E}"/>
              </a:ext>
            </a:extLst>
          </p:cNvPr>
          <p:cNvSpPr>
            <a:spLocks xmlns:a="http://schemas.openxmlformats.org/drawingml/2006/main" noGrp="1"/>
          </p:cNvSpPr>
          <p:nvPr/>
        </p:nvSpPr>
        <p:spPr>
          <a:xfrm xmlns:a="http://schemas.openxmlformats.org/drawingml/2006/main">
            <a:off x="590550" y="7429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63E"/>
                </a:solidFill>
                <a:latin typeface="Arial"/>
                <a:ea typeface="Arial"/>
                <a:cs typeface="Arial"/>
              </a:defRPr>
            </a:defPPr>
            <a:lvl1pPr>
              <a:defRPr sz="3150" b="1">
                <a:solidFill>
                  <a:srgbClr val="17263E"/>
                </a:solidFill>
                <a:latin typeface="Arial"/>
                <a:ea typeface="Arial"/>
                <a:cs typeface="Arial"/>
              </a:defRPr>
            </a:lvl1pPr>
            <a:lvl2pPr>
              <a:defRPr sz="3150" b="1">
                <a:solidFill>
                  <a:srgbClr val="17263E"/>
                </a:solidFill>
                <a:latin typeface="Arial"/>
                <a:ea typeface="Arial"/>
                <a:cs typeface="Arial"/>
              </a:defRPr>
            </a:lvl2pPr>
            <a:lvl3pPr>
              <a:defRPr sz="3150" b="1">
                <a:solidFill>
                  <a:srgbClr val="17263E"/>
                </a:solidFill>
                <a:latin typeface="Arial"/>
                <a:ea typeface="Arial"/>
                <a:cs typeface="Arial"/>
              </a:defRPr>
            </a:lvl3pPr>
            <a:lvl4pPr>
              <a:defRPr sz="3150" b="1">
                <a:solidFill>
                  <a:srgbClr val="17263E"/>
                </a:solidFill>
                <a:latin typeface="Arial"/>
                <a:ea typeface="Arial"/>
                <a:cs typeface="Arial"/>
              </a:defRPr>
            </a:lvl4pPr>
            <a:lvl5pPr>
              <a:defRPr sz="3150" b="1">
                <a:solidFill>
                  <a:srgbClr val="17263E"/>
                </a:solidFill>
                <a:latin typeface="Arial"/>
                <a:ea typeface="Arial"/>
                <a:cs typeface="Arial"/>
              </a:defRPr>
            </a:lvl5pPr>
            <a:lvl6pPr>
              <a:defRPr sz="3150" b="1">
                <a:solidFill>
                  <a:srgbClr val="17263E"/>
                </a:solidFill>
                <a:latin typeface="Arial"/>
                <a:ea typeface="Arial"/>
                <a:cs typeface="Arial"/>
              </a:defRPr>
            </a:lvl6pPr>
            <a:lvl7pPr>
              <a:defRPr sz="3150" b="1">
                <a:solidFill>
                  <a:srgbClr val="17263E"/>
                </a:solidFill>
                <a:latin typeface="Arial"/>
                <a:ea typeface="Arial"/>
                <a:cs typeface="Arial"/>
              </a:defRPr>
            </a:lvl7pPr>
            <a:lvl8pPr>
              <a:defRPr sz="3150" b="1">
                <a:solidFill>
                  <a:srgbClr val="17263E"/>
                </a:solidFill>
                <a:latin typeface="Arial"/>
                <a:ea typeface="Arial"/>
                <a:cs typeface="Arial"/>
              </a:defRPr>
            </a:lvl8pPr>
            <a:lvl9pPr>
              <a:defRPr sz="3150" b="1">
                <a:solidFill>
                  <a:srgbClr val="17263E"/>
                </a:solidFill>
                <a:latin typeface="Arial"/>
                <a:ea typeface="Arial"/>
                <a:cs typeface="Arial"/>
              </a:defRPr>
            </a:lvl9pPr>
          </a:lstStyle>
          <a:p xmlns:a="http://schemas.openxmlformats.org/drawingml/2006/main">
            <a:pPr>
              <a:defRPr sz="3150" b="1">
                <a:solidFill>
                  <a:srgbClr val="17263E"/>
                </a:solidFill>
                <a:latin typeface="Arial"/>
                <a:ea typeface="Arial"/>
                <a:cs typeface="Arial"/>
              </a:defRPr>
            </a:pPr>
            <a:r>
              <a:rPr sz="3150" b="1">
                <a:solidFill>
                  <a:srgbClr val="17263E"/>
                </a:solidFill>
                <a:latin typeface="Arial"/>
                <a:ea typeface="Arial"/>
                <a:cs typeface="Arial"/>
              </a:rPr>
              <a:t>A discovery problem we can test</a:t>
            </a:r>
          </a:p>
        </p:txBody>
      </p:sp>
      <p:sp>
        <p:nvSpPr>
          <p:cNvPr id="3" name="">
            <a:extLst xmlns:a="http://schemas.openxmlformats.org/drawingml/2006/main">
              <a:ext uri="{FF2B5EF4-FFF2-40B4-BE49-F238E27FC236}">
                <a16:creationId xmlns:a16="http://schemas.microsoft.com/office/drawing/2014/main" id="{7D70FB3B-F388-4EE3-BD5E-68EA001BFBC9}"/>
              </a:ext>
            </a:extLst>
          </p:cNvPr>
          <p:cNvSpPr>
            <a:spLocks xmlns:a="http://schemas.openxmlformats.org/drawingml/2006/main" noGrp="1"/>
          </p:cNvSpPr>
          <p:nvPr/>
        </p:nvSpPr>
        <p:spPr>
          <a:xfrm xmlns:a="http://schemas.openxmlformats.org/drawingml/2006/main">
            <a:off x="590550" y="1476375"/>
            <a:ext cx="10906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263E"/>
                </a:solidFill>
                <a:latin typeface="Arial"/>
                <a:ea typeface="Arial"/>
                <a:cs typeface="Arial"/>
              </a:defRPr>
            </a:defPPr>
            <a:lvl1pPr>
              <a:defRPr sz="2100" b="1">
                <a:solidFill>
                  <a:srgbClr val="17263E"/>
                </a:solidFill>
                <a:latin typeface="Arial"/>
                <a:ea typeface="Arial"/>
                <a:cs typeface="Arial"/>
              </a:defRPr>
            </a:lvl1pPr>
            <a:lvl2pPr>
              <a:defRPr sz="2100" b="1">
                <a:solidFill>
                  <a:srgbClr val="17263E"/>
                </a:solidFill>
                <a:latin typeface="Arial"/>
                <a:ea typeface="Arial"/>
                <a:cs typeface="Arial"/>
              </a:defRPr>
            </a:lvl2pPr>
            <a:lvl3pPr>
              <a:defRPr sz="2100" b="1">
                <a:solidFill>
                  <a:srgbClr val="17263E"/>
                </a:solidFill>
                <a:latin typeface="Arial"/>
                <a:ea typeface="Arial"/>
                <a:cs typeface="Arial"/>
              </a:defRPr>
            </a:lvl3pPr>
            <a:lvl4pPr>
              <a:defRPr sz="2100" b="1">
                <a:solidFill>
                  <a:srgbClr val="17263E"/>
                </a:solidFill>
                <a:latin typeface="Arial"/>
                <a:ea typeface="Arial"/>
                <a:cs typeface="Arial"/>
              </a:defRPr>
            </a:lvl4pPr>
            <a:lvl5pPr>
              <a:defRPr sz="2100" b="1">
                <a:solidFill>
                  <a:srgbClr val="17263E"/>
                </a:solidFill>
                <a:latin typeface="Arial"/>
                <a:ea typeface="Arial"/>
                <a:cs typeface="Arial"/>
              </a:defRPr>
            </a:lvl5pPr>
            <a:lvl6pPr>
              <a:defRPr sz="2100" b="1">
                <a:solidFill>
                  <a:srgbClr val="17263E"/>
                </a:solidFill>
                <a:latin typeface="Arial"/>
                <a:ea typeface="Arial"/>
                <a:cs typeface="Arial"/>
              </a:defRPr>
            </a:lvl6pPr>
            <a:lvl7pPr>
              <a:defRPr sz="2100" b="1">
                <a:solidFill>
                  <a:srgbClr val="17263E"/>
                </a:solidFill>
                <a:latin typeface="Arial"/>
                <a:ea typeface="Arial"/>
                <a:cs typeface="Arial"/>
              </a:defRPr>
            </a:lvl7pPr>
            <a:lvl8pPr>
              <a:defRPr sz="2100" b="1">
                <a:solidFill>
                  <a:srgbClr val="17263E"/>
                </a:solidFill>
                <a:latin typeface="Arial"/>
                <a:ea typeface="Arial"/>
                <a:cs typeface="Arial"/>
              </a:defRPr>
            </a:lvl8pPr>
            <a:lvl9pPr>
              <a:defRPr sz="2100" b="1">
                <a:solidFill>
                  <a:srgbClr val="17263E"/>
                </a:solidFill>
                <a:latin typeface="Arial"/>
                <a:ea typeface="Arial"/>
                <a:cs typeface="Arial"/>
              </a:defRPr>
            </a:lvl9pPr>
          </a:lstStyle>
          <a:p xmlns:a="http://schemas.openxmlformats.org/drawingml/2006/main">
            <a:pPr>
              <a:defRPr sz="2100" b="1">
                <a:solidFill>
                  <a:srgbClr val="17263E"/>
                </a:solidFill>
                <a:latin typeface="Arial"/>
                <a:ea typeface="Arial"/>
                <a:cs typeface="Arial"/>
              </a:defRPr>
            </a:pPr>
            <a:r>
              <a:rPr sz="2100" b="1">
                <a:solidFill>
                  <a:srgbClr val="17263E"/>
                </a:solidFill>
                <a:latin typeface="Arial"/>
                <a:ea typeface="Arial"/>
                <a:cs typeface="Arial"/>
              </a:rPr>
              <a:t>If eligible first-time investors can find and compare accessible products near the top, with costs and risks together, more should reach a first unassisted investment.</a:t>
            </a:r>
          </a:p>
        </p:txBody>
      </p:sp>
      <p:sp>
        <p:nvSpPr>
          <p:cNvPr id="4" name="">
            <a:extLst xmlns:a="http://schemas.openxmlformats.org/drawingml/2006/main">
              <a:ext uri="{FF2B5EF4-FFF2-40B4-BE49-F238E27FC236}">
                <a16:creationId xmlns:a16="http://schemas.microsoft.com/office/drawing/2014/main" id="{5B0D5E4E-25ED-4E7E-9C67-A8E396981FCF}"/>
              </a:ext>
            </a:extLst>
          </p:cNvPr>
          <p:cNvSpPr>
            <a:spLocks xmlns:a="http://schemas.openxmlformats.org/drawingml/2006/main" noGrp="1"/>
          </p:cNvSpPr>
          <p:nvPr/>
        </p:nvSpPr>
        <p:spPr>
          <a:xfrm xmlns:a="http://schemas.openxmlformats.org/drawingml/2006/main">
            <a:off x="590550" y="2686050"/>
            <a:ext cx="5191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Android: reading and scrolling</a:t>
            </a:r>
          </a:p>
        </p:txBody>
      </p:sp>
      <p:sp>
        <p:nvSpPr>
          <p:cNvPr id="5" name="">
            <a:extLst xmlns:a="http://schemas.openxmlformats.org/drawingml/2006/main">
              <a:ext uri="{FF2B5EF4-FFF2-40B4-BE49-F238E27FC236}">
                <a16:creationId xmlns:a16="http://schemas.microsoft.com/office/drawing/2014/main" id="{DD8DF98B-B589-45AD-8E06-AF040AB1777A}"/>
              </a:ext>
            </a:extLst>
          </p:cNvPr>
          <p:cNvSpPr>
            <a:spLocks xmlns:a="http://schemas.openxmlformats.org/drawingml/2006/main" noGrp="1"/>
          </p:cNvSpPr>
          <p:nvPr/>
        </p:nvSpPr>
        <p:spPr>
          <a:xfrm xmlns:a="http://schemas.openxmlformats.org/drawingml/2006/main">
            <a:off x="590550" y="3105150"/>
            <a:ext cx="5048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145 participants; Android 10 phone/tablet. Paging produced more strategic backtracking than scrolling. Supports easier revisiting and comparison.</a:t>
            </a:r>
          </a:p>
        </p:txBody>
      </p:sp>
      <p:sp>
        <p:nvSpPr>
          <p:cNvPr id="6" name="">
            <a:extLst xmlns:a="http://schemas.openxmlformats.org/drawingml/2006/main">
              <a:ext uri="{FF2B5EF4-FFF2-40B4-BE49-F238E27FC236}">
                <a16:creationId xmlns:a16="http://schemas.microsoft.com/office/drawing/2014/main" id="{52DF02FF-8248-49EF-8EC7-8DA6045D3D44}"/>
              </a:ext>
            </a:extLst>
          </p:cNvPr>
          <p:cNvSpPr>
            <a:spLocks xmlns:a="http://schemas.openxmlformats.org/drawingml/2006/main" noGrp="1"/>
          </p:cNvSpPr>
          <p:nvPr/>
        </p:nvSpPr>
        <p:spPr>
          <a:xfrm xmlns:a="http://schemas.openxmlformats.org/drawingml/2006/main">
            <a:off x="590550" y="4210050"/>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8677E"/>
                </a:solidFill>
                <a:latin typeface="Arial"/>
                <a:ea typeface="Arial"/>
                <a:cs typeface="Arial"/>
              </a:defRPr>
            </a:defPPr>
            <a:lvl1pPr>
              <a:defRPr sz="1350" b="0">
                <a:solidFill>
                  <a:srgbClr val="58677E"/>
                </a:solidFill>
                <a:latin typeface="Arial"/>
                <a:ea typeface="Arial"/>
                <a:cs typeface="Arial"/>
              </a:defRPr>
            </a:lvl1pPr>
            <a:lvl2pPr>
              <a:defRPr sz="1350" b="0">
                <a:solidFill>
                  <a:srgbClr val="58677E"/>
                </a:solidFill>
                <a:latin typeface="Arial"/>
                <a:ea typeface="Arial"/>
                <a:cs typeface="Arial"/>
              </a:defRPr>
            </a:lvl2pPr>
            <a:lvl3pPr>
              <a:defRPr sz="1350" b="0">
                <a:solidFill>
                  <a:srgbClr val="58677E"/>
                </a:solidFill>
                <a:latin typeface="Arial"/>
                <a:ea typeface="Arial"/>
                <a:cs typeface="Arial"/>
              </a:defRPr>
            </a:lvl3pPr>
            <a:lvl4pPr>
              <a:defRPr sz="1350" b="0">
                <a:solidFill>
                  <a:srgbClr val="58677E"/>
                </a:solidFill>
                <a:latin typeface="Arial"/>
                <a:ea typeface="Arial"/>
                <a:cs typeface="Arial"/>
              </a:defRPr>
            </a:lvl4pPr>
            <a:lvl5pPr>
              <a:defRPr sz="1350" b="0">
                <a:solidFill>
                  <a:srgbClr val="58677E"/>
                </a:solidFill>
                <a:latin typeface="Arial"/>
                <a:ea typeface="Arial"/>
                <a:cs typeface="Arial"/>
              </a:defRPr>
            </a:lvl5pPr>
            <a:lvl6pPr>
              <a:defRPr sz="1350" b="0">
                <a:solidFill>
                  <a:srgbClr val="58677E"/>
                </a:solidFill>
                <a:latin typeface="Arial"/>
                <a:ea typeface="Arial"/>
                <a:cs typeface="Arial"/>
              </a:defRPr>
            </a:lvl6pPr>
            <a:lvl7pPr>
              <a:defRPr sz="1350" b="0">
                <a:solidFill>
                  <a:srgbClr val="58677E"/>
                </a:solidFill>
                <a:latin typeface="Arial"/>
                <a:ea typeface="Arial"/>
                <a:cs typeface="Arial"/>
              </a:defRPr>
            </a:lvl7pPr>
            <a:lvl8pPr>
              <a:defRPr sz="1350" b="0">
                <a:solidFill>
                  <a:srgbClr val="58677E"/>
                </a:solidFill>
                <a:latin typeface="Arial"/>
                <a:ea typeface="Arial"/>
                <a:cs typeface="Arial"/>
              </a:defRPr>
            </a:lvl8pPr>
            <a:lvl9pPr>
              <a:defRPr sz="1350" b="0">
                <a:solidFill>
                  <a:srgbClr val="58677E"/>
                </a:solidFill>
                <a:latin typeface="Arial"/>
                <a:ea typeface="Arial"/>
                <a:cs typeface="Arial"/>
              </a:defRPr>
            </a:lvl9pPr>
          </a:lstStyle>
          <a:p xmlns:a="http://schemas.openxmlformats.org/drawingml/2006/main">
            <a:pPr>
              <a:defRPr sz="1350" b="0">
                <a:solidFill>
                  <a:srgbClr val="58677E"/>
                </a:solidFill>
                <a:latin typeface="Arial"/>
                <a:ea typeface="Arial"/>
                <a:cs typeface="Arial"/>
              </a:defRPr>
            </a:pPr>
            <a:r>
              <a:rPr sz="1350" b="0">
                <a:solidFill>
                  <a:srgbClr val="58677E"/>
                </a:solidFill>
                <a:latin typeface="Arial"/>
                <a:ea typeface="Arial"/>
                <a:cs typeface="Arial"/>
              </a:rPr>
              <a:t>Scope: informational reading—not investing. No universal two-screen abandonment threshold.</a:t>
            </a:r>
          </a:p>
        </p:txBody>
      </p:sp>
      <p:sp>
        <p:nvSpPr>
          <p:cNvPr id="7" name="">
            <a:extLst xmlns:a="http://schemas.openxmlformats.org/drawingml/2006/main">
              <a:ext uri="{FF2B5EF4-FFF2-40B4-BE49-F238E27FC236}">
                <a16:creationId xmlns:a16="http://schemas.microsoft.com/office/drawing/2014/main" id="{B697CE27-2D64-44FF-ABA6-08ABD7C30196}"/>
              </a:ext>
            </a:extLst>
          </p:cNvPr>
          <p:cNvSpPr>
            <a:spLocks xmlns:a="http://schemas.openxmlformats.org/drawingml/2006/main" noGrp="1"/>
          </p:cNvSpPr>
          <p:nvPr/>
        </p:nvSpPr>
        <p:spPr>
          <a:xfrm xmlns:a="http://schemas.openxmlformats.org/drawingml/2006/main">
            <a:off x="6572250" y="268605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Choice and investment decisions</a:t>
            </a:r>
          </a:p>
        </p:txBody>
      </p:sp>
      <p:sp>
        <p:nvSpPr>
          <p:cNvPr id="8" name="">
            <a:extLst xmlns:a="http://schemas.openxmlformats.org/drawingml/2006/main">
              <a:ext uri="{FF2B5EF4-FFF2-40B4-BE49-F238E27FC236}">
                <a16:creationId xmlns:a16="http://schemas.microsoft.com/office/drawing/2014/main" id="{66201E49-3048-4147-B18B-C9CA94687265}"/>
              </a:ext>
            </a:extLst>
          </p:cNvPr>
          <p:cNvSpPr>
            <a:spLocks xmlns:a="http://schemas.openxmlformats.org/drawingml/2006/main" noGrp="1"/>
          </p:cNvSpPr>
          <p:nvPr/>
        </p:nvSpPr>
        <p:spPr>
          <a:xfrm xmlns:a="http://schemas.openxmlformats.org/drawingml/2006/main">
            <a:off x="6572250" y="31051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Iyengar &amp; Kamenica: larger choice sets increased preference for simpler options in experiments and 401(k) records.</a:t>
            </a:r>
          </a:p>
        </p:txBody>
      </p:sp>
      <p:sp>
        <p:nvSpPr>
          <p:cNvPr id="9" name="">
            <a:extLst xmlns:a="http://schemas.openxmlformats.org/drawingml/2006/main">
              <a:ext uri="{FF2B5EF4-FFF2-40B4-BE49-F238E27FC236}">
                <a16:creationId xmlns:a16="http://schemas.microsoft.com/office/drawing/2014/main" id="{A14AE071-ABEB-4D41-B500-0674C8495EE9}"/>
              </a:ext>
            </a:extLst>
          </p:cNvPr>
          <p:cNvSpPr>
            <a:spLocks xmlns:a="http://schemas.openxmlformats.org/drawingml/2006/main" noGrp="1"/>
          </p:cNvSpPr>
          <p:nvPr/>
        </p:nvSpPr>
        <p:spPr>
          <a:xfrm xmlns:a="http://schemas.openxmlformats.org/drawingml/2006/main">
            <a:off x="6572250" y="42100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8677E"/>
                </a:solidFill>
                <a:latin typeface="Arial"/>
                <a:ea typeface="Arial"/>
                <a:cs typeface="Arial"/>
              </a:defRPr>
            </a:defPPr>
            <a:lvl1pPr>
              <a:defRPr sz="1350" b="0">
                <a:solidFill>
                  <a:srgbClr val="58677E"/>
                </a:solidFill>
                <a:latin typeface="Arial"/>
                <a:ea typeface="Arial"/>
                <a:cs typeface="Arial"/>
              </a:defRPr>
            </a:lvl1pPr>
            <a:lvl2pPr>
              <a:defRPr sz="1350" b="0">
                <a:solidFill>
                  <a:srgbClr val="58677E"/>
                </a:solidFill>
                <a:latin typeface="Arial"/>
                <a:ea typeface="Arial"/>
                <a:cs typeface="Arial"/>
              </a:defRPr>
            </a:lvl2pPr>
            <a:lvl3pPr>
              <a:defRPr sz="1350" b="0">
                <a:solidFill>
                  <a:srgbClr val="58677E"/>
                </a:solidFill>
                <a:latin typeface="Arial"/>
                <a:ea typeface="Arial"/>
                <a:cs typeface="Arial"/>
              </a:defRPr>
            </a:lvl3pPr>
            <a:lvl4pPr>
              <a:defRPr sz="1350" b="0">
                <a:solidFill>
                  <a:srgbClr val="58677E"/>
                </a:solidFill>
                <a:latin typeface="Arial"/>
                <a:ea typeface="Arial"/>
                <a:cs typeface="Arial"/>
              </a:defRPr>
            </a:lvl4pPr>
            <a:lvl5pPr>
              <a:defRPr sz="1350" b="0">
                <a:solidFill>
                  <a:srgbClr val="58677E"/>
                </a:solidFill>
                <a:latin typeface="Arial"/>
                <a:ea typeface="Arial"/>
                <a:cs typeface="Arial"/>
              </a:defRPr>
            </a:lvl5pPr>
            <a:lvl6pPr>
              <a:defRPr sz="1350" b="0">
                <a:solidFill>
                  <a:srgbClr val="58677E"/>
                </a:solidFill>
                <a:latin typeface="Arial"/>
                <a:ea typeface="Arial"/>
                <a:cs typeface="Arial"/>
              </a:defRPr>
            </a:lvl6pPr>
            <a:lvl7pPr>
              <a:defRPr sz="1350" b="0">
                <a:solidFill>
                  <a:srgbClr val="58677E"/>
                </a:solidFill>
                <a:latin typeface="Arial"/>
                <a:ea typeface="Arial"/>
                <a:cs typeface="Arial"/>
              </a:defRPr>
            </a:lvl7pPr>
            <a:lvl8pPr>
              <a:defRPr sz="1350" b="0">
                <a:solidFill>
                  <a:srgbClr val="58677E"/>
                </a:solidFill>
                <a:latin typeface="Arial"/>
                <a:ea typeface="Arial"/>
                <a:cs typeface="Arial"/>
              </a:defRPr>
            </a:lvl8pPr>
            <a:lvl9pPr>
              <a:defRPr sz="1350" b="0">
                <a:solidFill>
                  <a:srgbClr val="58677E"/>
                </a:solidFill>
                <a:latin typeface="Arial"/>
                <a:ea typeface="Arial"/>
                <a:cs typeface="Arial"/>
              </a:defRPr>
            </a:lvl9pPr>
          </a:lstStyle>
          <a:p xmlns:a="http://schemas.openxmlformats.org/drawingml/2006/main">
            <a:pPr>
              <a:defRPr sz="1350" b="0">
                <a:solidFill>
                  <a:srgbClr val="58677E"/>
                </a:solidFill>
                <a:latin typeface="Arial"/>
                <a:ea typeface="Arial"/>
                <a:cs typeface="Arial"/>
              </a:defRPr>
            </a:pPr>
            <a:r>
              <a:rPr sz="1350" b="0">
                <a:solidFill>
                  <a:srgbClr val="58677E"/>
                </a:solidFill>
                <a:latin typeface="Arial"/>
                <a:ea typeface="Arial"/>
                <a:cs typeface="Arial"/>
              </a:rPr>
              <a:t>Scope: US retirement choices—not Indian HNI mobile conversion.</a:t>
            </a:r>
          </a:p>
        </p:txBody>
      </p:sp>
      <p:sp>
        <p:nvSpPr>
          <p:cNvPr id="10" name="">
            <a:extLst xmlns:a="http://schemas.openxmlformats.org/drawingml/2006/main">
              <a:ext uri="{FF2B5EF4-FFF2-40B4-BE49-F238E27FC236}">
                <a16:creationId xmlns:a16="http://schemas.microsoft.com/office/drawing/2014/main" id="{79385BF2-68EE-446F-BD83-6DB69EB970B8}"/>
              </a:ext>
            </a:extLst>
          </p:cNvPr>
          <p:cNvSpPr>
            <a:spLocks xmlns:a="http://schemas.openxmlformats.org/drawingml/2006/main" noGrp="1"/>
          </p:cNvSpPr>
          <p:nvPr/>
        </p:nvSpPr>
        <p:spPr>
          <a:xfrm xmlns:a="http://schemas.openxmlformats.org/drawingml/2006/main">
            <a:off x="590550" y="50958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still needs evidence</a:t>
            </a:r>
          </a:p>
        </p:txBody>
      </p:sp>
      <p:sp>
        <p:nvSpPr>
          <p:cNvPr id="11" name="">
            <a:extLst xmlns:a="http://schemas.openxmlformats.org/drawingml/2006/main">
              <a:ext uri="{FF2B5EF4-FFF2-40B4-BE49-F238E27FC236}">
                <a16:creationId xmlns:a16="http://schemas.microsoft.com/office/drawing/2014/main" id="{E68ADB8C-03DA-4F02-9900-20D1DBC2F7B9}"/>
              </a:ext>
            </a:extLst>
          </p:cNvPr>
          <p:cNvSpPr>
            <a:spLocks xmlns:a="http://schemas.openxmlformats.org/drawingml/2006/main" noGrp="1"/>
          </p:cNvSpPr>
          <p:nvPr/>
        </p:nvSpPr>
        <p:spPr>
          <a:xfrm xmlns:a="http://schemas.openxmlformats.org/drawingml/2006/main">
            <a:off x="590550" y="5495925"/>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Measure visibility → detail → funding → first investment, split by Android/iOS. Test motion separately. No Ionic NPS, scroll-drop-off rate or causal uplift is established.</a:t>
            </a:r>
          </a:p>
        </p:txBody>
      </p:sp>
      <p:sp>
        <p:nvSpPr>
          <p:cNvPr id="12" name="">
            <a:extLst xmlns:a="http://schemas.openxmlformats.org/drawingml/2006/main">
              <a:ext uri="{FF2B5EF4-FFF2-40B4-BE49-F238E27FC236}">
                <a16:creationId xmlns:a16="http://schemas.microsoft.com/office/drawing/2014/main" id="{2C1AD12C-B316-4E72-8F5F-7E0D17B520F9}"/>
              </a:ext>
            </a:extLst>
          </p:cNvPr>
          <p:cNvSpPr>
            <a:spLocks xmlns:a="http://schemas.openxmlformats.org/drawingml/2006/main" noGrp="1"/>
          </p:cNvSpPr>
          <p:nvPr/>
        </p:nvSpPr>
        <p:spPr>
          <a:xfrm xmlns:a="http://schemas.openxmlformats.org/drawingml/2006/main">
            <a:off x="590550" y="6381750"/>
            <a:ext cx="3600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a:hlinkClick xmlns:r="http://schemas.openxmlformats.org/officeDocument/2006/relationships" r:id="Raa09aba6ba0b494a"/>
              </a:rPr>
              <a:t>Android study · Haverkamp et al.</a:t>
            </a:r>
          </a:p>
        </p:txBody>
      </p:sp>
      <p:sp>
        <p:nvSpPr>
          <p:cNvPr id="13" name="">
            <a:extLst xmlns:a="http://schemas.openxmlformats.org/drawingml/2006/main">
              <a:ext uri="{FF2B5EF4-FFF2-40B4-BE49-F238E27FC236}">
                <a16:creationId xmlns:a16="http://schemas.microsoft.com/office/drawing/2014/main" id="{E6BA05D0-0329-4668-BCD9-5EC28A4FD29E}"/>
              </a:ext>
            </a:extLst>
          </p:cNvPr>
          <p:cNvSpPr>
            <a:spLocks xmlns:a="http://schemas.openxmlformats.org/drawingml/2006/main" noGrp="1"/>
          </p:cNvSpPr>
          <p:nvPr/>
        </p:nvSpPr>
        <p:spPr>
          <a:xfrm xmlns:a="http://schemas.openxmlformats.org/drawingml/2006/main">
            <a:off x="4305300" y="6381750"/>
            <a:ext cx="3600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a:hlinkClick xmlns:r="http://schemas.openxmlformats.org/officeDocument/2006/relationships" r:id="R2dc4a5c55cd04f8f"/>
              </a:rPr>
              <a:t>Choice study · Iyengar &amp; Kamenica</a:t>
            </a:r>
          </a:p>
        </p:txBody>
      </p:sp>
      <p:sp>
        <p:nvSpPr>
          <p:cNvPr id="14" name="">
            <a:extLst xmlns:a="http://schemas.openxmlformats.org/drawingml/2006/main">
              <a:ext uri="{FF2B5EF4-FFF2-40B4-BE49-F238E27FC236}">
                <a16:creationId xmlns:a16="http://schemas.microsoft.com/office/drawing/2014/main" id="{A681EEA3-D482-4620-9EDE-5ECAB0BFB4BD}"/>
              </a:ext>
            </a:extLst>
          </p:cNvPr>
          <p:cNvSpPr>
            <a:spLocks xmlns:a="http://schemas.openxmlformats.org/drawingml/2006/main" noGrp="1"/>
          </p:cNvSpPr>
          <p:nvPr/>
        </p:nvSpPr>
        <p:spPr>
          <a:xfrm xmlns:a="http://schemas.openxmlformats.org/drawingml/2006/main">
            <a:off x="8020050" y="6381750"/>
            <a:ext cx="36004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28369F"/>
                </a:solidFill>
                <a:latin typeface="Arial"/>
                <a:ea typeface="Arial"/>
                <a:cs typeface="Arial"/>
              </a:defRPr>
            </a:defPPr>
            <a:lvl1pPr>
              <a:defRPr sz="975" b="0">
                <a:solidFill>
                  <a:srgbClr val="28369F"/>
                </a:solidFill>
                <a:latin typeface="Arial"/>
                <a:ea typeface="Arial"/>
                <a:cs typeface="Arial"/>
              </a:defRPr>
            </a:lvl1pPr>
            <a:lvl2pPr>
              <a:defRPr sz="975" b="0">
                <a:solidFill>
                  <a:srgbClr val="28369F"/>
                </a:solidFill>
                <a:latin typeface="Arial"/>
                <a:ea typeface="Arial"/>
                <a:cs typeface="Arial"/>
              </a:defRPr>
            </a:lvl2pPr>
            <a:lvl3pPr>
              <a:defRPr sz="975" b="0">
                <a:solidFill>
                  <a:srgbClr val="28369F"/>
                </a:solidFill>
                <a:latin typeface="Arial"/>
                <a:ea typeface="Arial"/>
                <a:cs typeface="Arial"/>
              </a:defRPr>
            </a:lvl3pPr>
            <a:lvl4pPr>
              <a:defRPr sz="975" b="0">
                <a:solidFill>
                  <a:srgbClr val="28369F"/>
                </a:solidFill>
                <a:latin typeface="Arial"/>
                <a:ea typeface="Arial"/>
                <a:cs typeface="Arial"/>
              </a:defRPr>
            </a:lvl4pPr>
            <a:lvl5pPr>
              <a:defRPr sz="975" b="0">
                <a:solidFill>
                  <a:srgbClr val="28369F"/>
                </a:solidFill>
                <a:latin typeface="Arial"/>
                <a:ea typeface="Arial"/>
                <a:cs typeface="Arial"/>
              </a:defRPr>
            </a:lvl5pPr>
            <a:lvl6pPr>
              <a:defRPr sz="975" b="0">
                <a:solidFill>
                  <a:srgbClr val="28369F"/>
                </a:solidFill>
                <a:latin typeface="Arial"/>
                <a:ea typeface="Arial"/>
                <a:cs typeface="Arial"/>
              </a:defRPr>
            </a:lvl6pPr>
            <a:lvl7pPr>
              <a:defRPr sz="975" b="0">
                <a:solidFill>
                  <a:srgbClr val="28369F"/>
                </a:solidFill>
                <a:latin typeface="Arial"/>
                <a:ea typeface="Arial"/>
                <a:cs typeface="Arial"/>
              </a:defRPr>
            </a:lvl7pPr>
            <a:lvl8pPr>
              <a:defRPr sz="975" b="0">
                <a:solidFill>
                  <a:srgbClr val="28369F"/>
                </a:solidFill>
                <a:latin typeface="Arial"/>
                <a:ea typeface="Arial"/>
                <a:cs typeface="Arial"/>
              </a:defRPr>
            </a:lvl8pPr>
            <a:lvl9pPr>
              <a:defRPr sz="975" b="0">
                <a:solidFill>
                  <a:srgbClr val="28369F"/>
                </a:solidFill>
                <a:latin typeface="Arial"/>
                <a:ea typeface="Arial"/>
                <a:cs typeface="Arial"/>
              </a:defRPr>
            </a:lvl9pPr>
          </a:lstStyle>
          <a:p xmlns:a="http://schemas.openxmlformats.org/drawingml/2006/main">
            <a:pPr>
              <a:defRPr sz="975" b="0">
                <a:solidFill>
                  <a:srgbClr val="28369F"/>
                </a:solidFill>
                <a:latin typeface="Arial"/>
                <a:ea typeface="Arial"/>
                <a:cs typeface="Arial"/>
              </a:defRPr>
            </a:pPr>
            <a:r>
              <a:rPr>
                <a:hlinkClick xmlns:r="http://schemas.openxmlformats.org/officeDocument/2006/relationships" r:id="R04349f083a414eb4"/>
              </a:rPr>
              <a:t>Motion accessibility · W3C</a:t>
            </a:r>
          </a:p>
        </p:txBody>
      </p:sp>
    </p:spTree>
    <p:extLst>
      <p:ext uri="{BB962C8B-B14F-4D97-AF65-F5344CB8AC3E}">
        <p14:creationId xmlns:p14="http://schemas.microsoft.com/office/powerpoint/2010/main" val="15336526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2026-10-18T09:23:00.3810000Z</dcterms:created>
  <dcterms:modified xsi:type="dcterms:W3CDTF">2026-10-18T09:23:00.3810000Z</dcterms:modified>
</coreProperties>
</file>