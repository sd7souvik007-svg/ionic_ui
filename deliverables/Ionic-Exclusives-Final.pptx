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d89f27b7a2b4d52" /><Relationship Type="http://schemas.openxmlformats.org/officeDocument/2006/relationships/extended-properties" Target="/docProps/app.xml" Id="Re9b4d100410047a0" /><Relationship Type="http://schemas.openxmlformats.org/officeDocument/2006/relationships/officeDocument" Target="/ppt/presentation.xml" Id="R345ef8915d36402f" /></Relationships>
</file>

<file path=ppt/presentation.xml><?xml version="1.0" encoding="utf-8"?>
<p:presentation xmlns:p="http://schemas.openxmlformats.org/presentationml/2006/main">
  <p:sldMasterIdLst>
    <p:sldMasterId xmlns:r="http://schemas.openxmlformats.org/officeDocument/2006/relationships" id="2147483648" r:id="Rce66caf59d164dc1"/>
  </p:sldMasterIdLst>
  <p:notesMasterIdLst>
    <p:notesMasterId xmlns:r="http://schemas.openxmlformats.org/officeDocument/2006/relationships" r:id="Rb6c91cf540294cfa"/>
  </p:notesMasterIdLst>
  <p:sldIdLst>
    <p:sldId xmlns:r="http://schemas.openxmlformats.org/officeDocument/2006/relationships" id="256" r:id="R45db3520b3ba4ae0"/>
    <p:sldId xmlns:r="http://schemas.openxmlformats.org/officeDocument/2006/relationships" id="257" r:id="R0d6954570f8b40cc"/>
    <p:sldId xmlns:r="http://schemas.openxmlformats.org/officeDocument/2006/relationships" id="258" r:id="R33a7004421fb4d72"/>
    <p:sldId xmlns:r="http://schemas.openxmlformats.org/officeDocument/2006/relationships" id="259" r:id="Re23279844126488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0b0a981e27b49e8" /><Relationship Type="http://schemas.openxmlformats.org/officeDocument/2006/relationships/slideMaster" Target="/ppt/slideMasters/slideMaster1.xml" Id="Rce66caf59d164dc1" /><Relationship Type="http://schemas.openxmlformats.org/officeDocument/2006/relationships/notesMaster" Target="/ppt/notesMasters/notesMaster1.xml" Id="Rb6c91cf540294cfa" /><Relationship Type="http://schemas.openxmlformats.org/officeDocument/2006/relationships/presProps" Target="/ppt/presProps.xml" Id="Rccedf55b95104487" /><Relationship Type="http://schemas.openxmlformats.org/officeDocument/2006/relationships/tableStyles" Target="/ppt/tableStyles.xml" Id="Rb1a7d312cd034c58" /><Relationship Type="http://schemas.openxmlformats.org/officeDocument/2006/relationships/slide" Target="/ppt/slides/slide1.xml" Id="R45db3520b3ba4ae0" /><Relationship Type="http://schemas.openxmlformats.org/officeDocument/2006/relationships/slide" Target="/ppt/slides/slide2.xml" Id="R0d6954570f8b40cc" /><Relationship Type="http://schemas.openxmlformats.org/officeDocument/2006/relationships/slide" Target="/ppt/slides/slide3.xml" Id="R33a7004421fb4d72" /><Relationship Type="http://schemas.openxmlformats.org/officeDocument/2006/relationships/slide" Target="/ppt/slides/slide4.xml" Id="Re23279844126488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0696be5b948416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8cb6d0337fb4f0d" /><Relationship Type="http://schemas.openxmlformats.org/officeDocument/2006/relationships/notesMaster" Target="/ppt/notesMasters/notesMaster1.xml" Id="Rf3f907c9769642ea" /></Relationships>
</file>

<file path=ppt/notesSlides/_rels/notesSlide2.xml.rels>&#65279;<?xml version="1.0" encoding="utf-8"?><Relationships xmlns="http://schemas.openxmlformats.org/package/2006/relationships"><Relationship Type="http://schemas.openxmlformats.org/officeDocument/2006/relationships/slide" Target="/ppt/slides/slide2.xml" Id="R44a080aee5a94a38" /><Relationship Type="http://schemas.openxmlformats.org/officeDocument/2006/relationships/notesMaster" Target="/ppt/notesMasters/notesMaster1.xml" Id="Rd00d818207d94ffe" /></Relationships>
</file>

<file path=ppt/notesSlides/_rels/notesSlide3.xml.rels>&#65279;<?xml version="1.0" encoding="utf-8"?><Relationships xmlns="http://schemas.openxmlformats.org/package/2006/relationships"><Relationship Type="http://schemas.openxmlformats.org/officeDocument/2006/relationships/slide" Target="/ppt/slides/slide3.xml" Id="Re04e112fe26c49a2" /><Relationship Type="http://schemas.openxmlformats.org/officeDocument/2006/relationships/notesMaster" Target="/ppt/notesMasters/notesMaster1.xml" Id="Rfe1cf13f32f54d77" /></Relationships>
</file>

<file path=ppt/notesSlides/_rels/notesSlide4.xml.rels>&#65279;<?xml version="1.0" encoding="utf-8"?><Relationships xmlns="http://schemas.openxmlformats.org/package/2006/relationships"><Relationship Type="http://schemas.openxmlformats.org/officeDocument/2006/relationships/slide" Target="/ppt/slides/slide4.xml" Id="Rd00dd87b75424342" /><Relationship Type="http://schemas.openxmlformats.org/officeDocument/2006/relationships/notesMaster" Target="/ppt/notesMasters/notesMaster1.xml" Id="R650d40f2a7c94e1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product lead supplied the observation about portfolio imports and assisted purchases. The app captures show the shelf structure. No production conversion baseline or NPS was provided. The screenshot is the captured Imported Portfolio experience inside the shared Android shell. The hypothesis and research limits are on page 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screenshots are from the working proposal. The category tabs and horizontal hero swipe update each other. Private Wealth has a Flagship badge outside and above its tab, with a slow pulse and reduced-motion support. It contains 9 PMS, 3 AIF and 6 SIF offerings. Each product has a working detail link. Stock rows move at 4 CSS pixels per second in opposite directions, with pause, mouse drag and stationary search/filter results. The 392px frame, header and navigation are shared with Portfolio. Product figures are captured fixtures, not live quotes.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prototype demonstrates discovery and decision support. It does not connect real account verification, funding or orders. The $1 figure is a captured fractional order minimum and does not describe total funding costs. Fund and strategy details use supplied facts and identify missing terms. Lower entry cost is not a suitability recommendation. The proposed flow should be tested with eligible first-time users before claiming a conversion improvement.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Android research: Haverkamp et al., Reading and Writing 36 (2023), 1589-1608, published online in 2022. DOI: 10.1007/s11145-022-10328-9. Participants: 145 Norwegian university students. Samsung Galaxy A02s phone and Lenovo Tab M10 tablet, both Android 10. Text: 1492 words. Paging led to more strategic backtracking; better integrated understanding was a tendency. This was a reading study, with no investing task or iOS scroll-depth measure. Choice research: Iyengar and Kamenica (2010), Journal of Public Economics 94, 530-539, DOI 10.1016/j.jpubeco.2010.03.006. Laboratory experiments and records of over 500,000 employees at 638 institutions. Evidence of simplicity seeking, not proof of Ionic conversion uplift. W3C carousel guidance supports user controls to pause moving content. Experiment: first unassisted completed investment within seven days divided by all eligible importers with no prior transaction assigned to each version. Record assistance consistently, and monitor costs, risk understanding, funding failures, cancellations and complaints. Set sample size from the measured baseline. Test static layout first, then motion.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5328c5c43b2449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4e7a9a27f25465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d8477425ecf478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f4fbbb7ef47403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c1a01aff5b7472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3552a25253046e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4B42641-C88F-41B5-9782-3A5AA1179FC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D86878F-89E8-4A77-BE75-CAA5C15A611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4308D8E-618D-4D09-BBA6-D1B6C1130F1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A5B8DCD-0E2F-4A98-A59D-4D633D0A2FE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469AC1F-B900-4AA9-A2F7-9C155B6699F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197F0D7-5C01-472A-90A5-E2D6CCC3957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E0F6820-2DA9-4EE1-9116-337EEF238A3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6019FBA-ADC5-476A-9DAE-E7D354E2254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F037667-514A-408F-A30B-6D704F248D5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877AA57-B3FF-48CD-988B-1E5A6AC0E4B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3a2ab8339b340aa" /><Relationship Type="http://schemas.openxmlformats.org/officeDocument/2006/relationships/slideLayout" Target="/ppt/slideLayouts/slideLayout1.xml" Id="R0c951b8e29f5497e" /><Relationship Type="http://schemas.openxmlformats.org/officeDocument/2006/relationships/slideLayout" Target="/ppt/slideLayouts/slideLayout2.xml" Id="Ra93dd469523c427c" /><Relationship Type="http://schemas.openxmlformats.org/officeDocument/2006/relationships/slideLayout" Target="/ppt/slideLayouts/slideLayout3.xml" Id="Re3774386547340c2" /><Relationship Type="http://schemas.openxmlformats.org/officeDocument/2006/relationships/slideLayout" Target="/ppt/slideLayouts/slideLayout4.xml" Id="R68f8a1d1b77e473b" /><Relationship Type="http://schemas.openxmlformats.org/officeDocument/2006/relationships/slideLayout" Target="/ppt/slideLayouts/slideLayout5.xml" Id="Ra7ce76c607134cef" /><Relationship Type="http://schemas.openxmlformats.org/officeDocument/2006/relationships/slideLayout" Target="/ppt/slideLayouts/slideLayout6.xml" Id="Rdef86e0a415044d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c951b8e29f5497e"/>
    <p:sldLayoutId xmlns:r="http://schemas.openxmlformats.org/officeDocument/2006/relationships" id="2147483650" r:id="Ra93dd469523c427c"/>
    <p:sldLayoutId xmlns:r="http://schemas.openxmlformats.org/officeDocument/2006/relationships" id="2147483651" r:id="Re3774386547340c2"/>
    <p:sldLayoutId xmlns:r="http://schemas.openxmlformats.org/officeDocument/2006/relationships" id="2147483652" r:id="R68f8a1d1b77e473b"/>
    <p:sldLayoutId xmlns:r="http://schemas.openxmlformats.org/officeDocument/2006/relationships" id="2147483653" r:id="Ra7ce76c607134cef"/>
    <p:sldLayoutId xmlns:r="http://schemas.openxmlformats.org/officeDocument/2006/relationships" id="2147483654" r:id="Rdef86e0a415044d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4fc359b21e249d1" /><Relationship Type="http://schemas.openxmlformats.org/officeDocument/2006/relationships/image" Target="/ppt/media/image.png" Id="R5a0b8cba0a014fd0" /><Relationship Type="http://schemas.openxmlformats.org/officeDocument/2006/relationships/notesSlide" Target="/ppt/notesSlides/notesSlide1.xml" Id="R69305f90f5464ba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2d166187dc54991" /><Relationship Type="http://schemas.openxmlformats.org/officeDocument/2006/relationships/image" Target="/ppt/media/image2.png" Id="Rbcd0b3e35543471e" /><Relationship Type="http://schemas.openxmlformats.org/officeDocument/2006/relationships/image" Target="/ppt/media/image3.png" Id="R9b009a87770e4c0a" /><Relationship Type="http://schemas.openxmlformats.org/officeDocument/2006/relationships/image" Target="/ppt/media/image4.png" Id="R6ab59f9af3054840" /><Relationship Type="http://schemas.openxmlformats.org/officeDocument/2006/relationships/notesSlide" Target="/ppt/notesSlides/notesSlide2.xml" Id="R7b13e5fa9212464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9a7b7062ddd4941" /><Relationship Type="http://schemas.openxmlformats.org/officeDocument/2006/relationships/image" Target="/ppt/media/image5.png" Id="Rfa54769571b343e2" /><Relationship Type="http://schemas.openxmlformats.org/officeDocument/2006/relationships/notesSlide" Target="/ppt/notesSlides/notesSlide3.xml" Id="Rd91b0be79e634fc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b76789b3f7d4e8e" /><Relationship Type="http://schemas.openxmlformats.org/officeDocument/2006/relationships/hyperlink" Target="https://doi.org/10.1007/s11145-022-10328-9" TargetMode="External" Id="Rc75e4736badc434b" /><Relationship Type="http://schemas.openxmlformats.org/officeDocument/2006/relationships/hyperlink" Target="https://business.columbia.edu/sites/default/files-efs/pubfiles/4519/simplicitySeeking.pdf" TargetMode="External" Id="R0bc8162fe41a4d50" /><Relationship Type="http://schemas.openxmlformats.org/officeDocument/2006/relationships/hyperlink" Target="https://www.w3.org/WAI/tutorials/carousels/" TargetMode="External" Id="Rcb5db6eb4315428f" /><Relationship Type="http://schemas.openxmlformats.org/officeDocument/2006/relationships/notesSlide" Target="/ppt/notesSlides/notesSlide4.xml" Id="R25217e28bb244471" /></Relationships>
</file>

<file path=ppt/slides/slide1.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D67F971-74E5-472B-96CF-A9F8B43000D7}"/>
              </a:ext>
            </a:extLst>
          </p:cNvPr>
          <p:cNvSpPr>
            <a:spLocks xmlns:a="http://schemas.openxmlformats.org/drawingml/2006/main" noGrp="1"/>
          </p:cNvSpPr>
          <p:nvPr/>
        </p:nvSpPr>
        <p:spPr>
          <a:xfrm xmlns:a="http://schemas.openxmlformats.org/drawingml/2006/main">
            <a:off x="590550" y="276225"/>
            <a:ext cx="10858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28369F"/>
                </a:solidFill>
                <a:latin typeface="Arial"/>
                <a:ea typeface="Arial"/>
                <a:cs typeface="Arial"/>
              </a:defRPr>
            </a:defPPr>
            <a:lvl1pPr>
              <a:defRPr sz="975" b="1">
                <a:solidFill>
                  <a:srgbClr val="28369F"/>
                </a:solidFill>
                <a:latin typeface="Arial"/>
                <a:ea typeface="Arial"/>
                <a:cs typeface="Arial"/>
              </a:defRPr>
            </a:lvl1pPr>
            <a:lvl2pPr>
              <a:defRPr sz="975" b="1">
                <a:solidFill>
                  <a:srgbClr val="28369F"/>
                </a:solidFill>
                <a:latin typeface="Arial"/>
                <a:ea typeface="Arial"/>
                <a:cs typeface="Arial"/>
              </a:defRPr>
            </a:lvl2pPr>
            <a:lvl3pPr>
              <a:defRPr sz="975" b="1">
                <a:solidFill>
                  <a:srgbClr val="28369F"/>
                </a:solidFill>
                <a:latin typeface="Arial"/>
                <a:ea typeface="Arial"/>
                <a:cs typeface="Arial"/>
              </a:defRPr>
            </a:lvl3pPr>
            <a:lvl4pPr>
              <a:defRPr sz="975" b="1">
                <a:solidFill>
                  <a:srgbClr val="28369F"/>
                </a:solidFill>
                <a:latin typeface="Arial"/>
                <a:ea typeface="Arial"/>
                <a:cs typeface="Arial"/>
              </a:defRPr>
            </a:lvl4pPr>
            <a:lvl5pPr>
              <a:defRPr sz="975" b="1">
                <a:solidFill>
                  <a:srgbClr val="28369F"/>
                </a:solidFill>
                <a:latin typeface="Arial"/>
                <a:ea typeface="Arial"/>
                <a:cs typeface="Arial"/>
              </a:defRPr>
            </a:lvl5pPr>
            <a:lvl6pPr>
              <a:defRPr sz="975" b="1">
                <a:solidFill>
                  <a:srgbClr val="28369F"/>
                </a:solidFill>
                <a:latin typeface="Arial"/>
                <a:ea typeface="Arial"/>
                <a:cs typeface="Arial"/>
              </a:defRPr>
            </a:lvl6pPr>
            <a:lvl7pPr>
              <a:defRPr sz="975" b="1">
                <a:solidFill>
                  <a:srgbClr val="28369F"/>
                </a:solidFill>
                <a:latin typeface="Arial"/>
                <a:ea typeface="Arial"/>
                <a:cs typeface="Arial"/>
              </a:defRPr>
            </a:lvl7pPr>
            <a:lvl8pPr>
              <a:defRPr sz="975" b="1">
                <a:solidFill>
                  <a:srgbClr val="28369F"/>
                </a:solidFill>
                <a:latin typeface="Arial"/>
                <a:ea typeface="Arial"/>
                <a:cs typeface="Arial"/>
              </a:defRPr>
            </a:lvl8pPr>
            <a:lvl9pPr>
              <a:defRPr sz="975" b="1">
                <a:solidFill>
                  <a:srgbClr val="28369F"/>
                </a:solidFill>
                <a:latin typeface="Arial"/>
                <a:ea typeface="Arial"/>
                <a:cs typeface="Arial"/>
              </a:defRPr>
            </a:lvl9pPr>
          </a:lstStyle>
          <a:p xmlns:a="http://schemas.openxmlformats.org/drawingml/2006/main">
            <a:pPr>
              <a:defRPr sz="975" b="1">
                <a:solidFill>
                  <a:srgbClr val="28369F"/>
                </a:solidFill>
                <a:latin typeface="Arial"/>
                <a:ea typeface="Arial"/>
                <a:cs typeface="Arial"/>
              </a:defRPr>
            </a:pPr>
            <a:r>
              <a:rPr sz="975" b="1">
                <a:solidFill>
                  <a:srgbClr val="28369F"/>
                </a:solidFill>
                <a:latin typeface="Arial"/>
                <a:ea typeface="Arial"/>
                <a:cs typeface="Arial"/>
              </a:rPr>
              <a:t>1 / Why change Exclusives?</a:t>
            </a:r>
          </a:p>
        </p:txBody>
      </p:sp>
      <p:sp>
        <p:nvSpPr>
          <p:cNvPr id="2" name="">
            <a:extLst xmlns:a="http://schemas.openxmlformats.org/drawingml/2006/main">
              <a:ext uri="{FF2B5EF4-FFF2-40B4-BE49-F238E27FC236}">
                <a16:creationId xmlns:a16="http://schemas.microsoft.com/office/drawing/2014/main" id="{1C426BEE-9C79-41E2-9A7C-27024FB65EB7}"/>
              </a:ext>
            </a:extLst>
          </p:cNvPr>
          <p:cNvSpPr>
            <a:spLocks xmlns:a="http://schemas.openxmlformats.org/drawingml/2006/main" noGrp="1"/>
          </p:cNvSpPr>
          <p:nvPr/>
        </p:nvSpPr>
        <p:spPr>
          <a:xfrm xmlns:a="http://schemas.openxmlformats.org/drawingml/2006/main">
            <a:off x="590550" y="742950"/>
            <a:ext cx="10953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63E"/>
                </a:solidFill>
                <a:latin typeface="Arial"/>
                <a:ea typeface="Arial"/>
                <a:cs typeface="Arial"/>
              </a:defRPr>
            </a:defPPr>
            <a:lvl1pPr>
              <a:defRPr sz="2850" b="1">
                <a:solidFill>
                  <a:srgbClr val="17263E"/>
                </a:solidFill>
                <a:latin typeface="Arial"/>
                <a:ea typeface="Arial"/>
                <a:cs typeface="Arial"/>
              </a:defRPr>
            </a:lvl1pPr>
            <a:lvl2pPr>
              <a:defRPr sz="2850" b="1">
                <a:solidFill>
                  <a:srgbClr val="17263E"/>
                </a:solidFill>
                <a:latin typeface="Arial"/>
                <a:ea typeface="Arial"/>
                <a:cs typeface="Arial"/>
              </a:defRPr>
            </a:lvl2pPr>
            <a:lvl3pPr>
              <a:defRPr sz="2850" b="1">
                <a:solidFill>
                  <a:srgbClr val="17263E"/>
                </a:solidFill>
                <a:latin typeface="Arial"/>
                <a:ea typeface="Arial"/>
                <a:cs typeface="Arial"/>
              </a:defRPr>
            </a:lvl3pPr>
            <a:lvl4pPr>
              <a:defRPr sz="2850" b="1">
                <a:solidFill>
                  <a:srgbClr val="17263E"/>
                </a:solidFill>
                <a:latin typeface="Arial"/>
                <a:ea typeface="Arial"/>
                <a:cs typeface="Arial"/>
              </a:defRPr>
            </a:lvl4pPr>
            <a:lvl5pPr>
              <a:defRPr sz="2850" b="1">
                <a:solidFill>
                  <a:srgbClr val="17263E"/>
                </a:solidFill>
                <a:latin typeface="Arial"/>
                <a:ea typeface="Arial"/>
                <a:cs typeface="Arial"/>
              </a:defRPr>
            </a:lvl5pPr>
            <a:lvl6pPr>
              <a:defRPr sz="2850" b="1">
                <a:solidFill>
                  <a:srgbClr val="17263E"/>
                </a:solidFill>
                <a:latin typeface="Arial"/>
                <a:ea typeface="Arial"/>
                <a:cs typeface="Arial"/>
              </a:defRPr>
            </a:lvl6pPr>
            <a:lvl7pPr>
              <a:defRPr sz="2850" b="1">
                <a:solidFill>
                  <a:srgbClr val="17263E"/>
                </a:solidFill>
                <a:latin typeface="Arial"/>
                <a:ea typeface="Arial"/>
                <a:cs typeface="Arial"/>
              </a:defRPr>
            </a:lvl7pPr>
            <a:lvl8pPr>
              <a:defRPr sz="2850" b="1">
                <a:solidFill>
                  <a:srgbClr val="17263E"/>
                </a:solidFill>
                <a:latin typeface="Arial"/>
                <a:ea typeface="Arial"/>
                <a:cs typeface="Arial"/>
              </a:defRPr>
            </a:lvl8pPr>
            <a:lvl9pPr>
              <a:defRPr sz="2850" b="1">
                <a:solidFill>
                  <a:srgbClr val="17263E"/>
                </a:solidFill>
                <a:latin typeface="Arial"/>
                <a:ea typeface="Arial"/>
                <a:cs typeface="Arial"/>
              </a:defRPr>
            </a:lvl9pPr>
          </a:lstStyle>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The portfolio review is useful.</a:t>
            </a:r>
          </a:p>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The first purchase needs a clearer path.</a:t>
            </a:r>
          </a:p>
        </p:txBody>
      </p:sp>
      <p:sp>
        <p:nvSpPr>
          <p:cNvPr id="3" name="">
            <a:extLst xmlns:a="http://schemas.openxmlformats.org/drawingml/2006/main">
              <a:ext uri="{FF2B5EF4-FFF2-40B4-BE49-F238E27FC236}">
                <a16:creationId xmlns:a16="http://schemas.microsoft.com/office/drawing/2014/main" id="{AD930A36-F557-4A78-9CD9-B1BD1BCE1237}"/>
              </a:ext>
            </a:extLst>
          </p:cNvPr>
          <p:cNvSpPr>
            <a:spLocks xmlns:a="http://schemas.openxmlformats.org/drawingml/2006/main" noGrp="1"/>
          </p:cNvSpPr>
          <p:nvPr/>
        </p:nvSpPr>
        <p:spPr>
          <a:xfrm xmlns:a="http://schemas.openxmlformats.org/drawingml/2006/main">
            <a:off x="590550" y="2095500"/>
            <a:ext cx="619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What seems to be happening</a:t>
            </a:r>
          </a:p>
        </p:txBody>
      </p:sp>
      <p:sp>
        <p:nvSpPr>
          <p:cNvPr id="4" name="">
            <a:extLst xmlns:a="http://schemas.openxmlformats.org/drawingml/2006/main">
              <a:ext uri="{FF2B5EF4-FFF2-40B4-BE49-F238E27FC236}">
                <a16:creationId xmlns:a16="http://schemas.microsoft.com/office/drawing/2014/main" id="{30AB0FF3-8832-46C5-8AE9-A4C82C935A11}"/>
              </a:ext>
            </a:extLst>
          </p:cNvPr>
          <p:cNvSpPr>
            <a:spLocks xmlns:a="http://schemas.openxmlformats.org/drawingml/2006/main" noGrp="1"/>
          </p:cNvSpPr>
          <p:nvPr/>
        </p:nvSpPr>
        <p:spPr>
          <a:xfrm xmlns:a="http://schemas.openxmlformats.org/drawingml/2006/main">
            <a:off x="590550" y="2533650"/>
            <a:ext cx="6000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7263E"/>
                </a:solidFill>
                <a:latin typeface="Arial"/>
                <a:ea typeface="Arial"/>
                <a:cs typeface="Arial"/>
              </a:defRPr>
            </a:defPPr>
            <a:lvl1pPr>
              <a:defRPr sz="1800" b="0">
                <a:solidFill>
                  <a:srgbClr val="17263E"/>
                </a:solidFill>
                <a:latin typeface="Arial"/>
                <a:ea typeface="Arial"/>
                <a:cs typeface="Arial"/>
              </a:defRPr>
            </a:lvl1pPr>
            <a:lvl2pPr>
              <a:defRPr sz="1800" b="0">
                <a:solidFill>
                  <a:srgbClr val="17263E"/>
                </a:solidFill>
                <a:latin typeface="Arial"/>
                <a:ea typeface="Arial"/>
                <a:cs typeface="Arial"/>
              </a:defRPr>
            </a:lvl2pPr>
            <a:lvl3pPr>
              <a:defRPr sz="1800" b="0">
                <a:solidFill>
                  <a:srgbClr val="17263E"/>
                </a:solidFill>
                <a:latin typeface="Arial"/>
                <a:ea typeface="Arial"/>
                <a:cs typeface="Arial"/>
              </a:defRPr>
            </a:lvl3pPr>
            <a:lvl4pPr>
              <a:defRPr sz="1800" b="0">
                <a:solidFill>
                  <a:srgbClr val="17263E"/>
                </a:solidFill>
                <a:latin typeface="Arial"/>
                <a:ea typeface="Arial"/>
                <a:cs typeface="Arial"/>
              </a:defRPr>
            </a:lvl4pPr>
            <a:lvl5pPr>
              <a:defRPr sz="1800" b="0">
                <a:solidFill>
                  <a:srgbClr val="17263E"/>
                </a:solidFill>
                <a:latin typeface="Arial"/>
                <a:ea typeface="Arial"/>
                <a:cs typeface="Arial"/>
              </a:defRPr>
            </a:lvl5pPr>
            <a:lvl6pPr>
              <a:defRPr sz="1800" b="0">
                <a:solidFill>
                  <a:srgbClr val="17263E"/>
                </a:solidFill>
                <a:latin typeface="Arial"/>
                <a:ea typeface="Arial"/>
                <a:cs typeface="Arial"/>
              </a:defRPr>
            </a:lvl6pPr>
            <a:lvl7pPr>
              <a:defRPr sz="1800" b="0">
                <a:solidFill>
                  <a:srgbClr val="17263E"/>
                </a:solidFill>
                <a:latin typeface="Arial"/>
                <a:ea typeface="Arial"/>
                <a:cs typeface="Arial"/>
              </a:defRPr>
            </a:lvl7pPr>
            <a:lvl8pPr>
              <a:defRPr sz="1800" b="0">
                <a:solidFill>
                  <a:srgbClr val="17263E"/>
                </a:solidFill>
                <a:latin typeface="Arial"/>
                <a:ea typeface="Arial"/>
                <a:cs typeface="Arial"/>
              </a:defRPr>
            </a:lvl8pPr>
            <a:lvl9pPr>
              <a:defRPr sz="1800" b="0">
                <a:solidFill>
                  <a:srgbClr val="17263E"/>
                </a:solidFill>
                <a:latin typeface="Arial"/>
                <a:ea typeface="Arial"/>
                <a:cs typeface="Arial"/>
              </a:defRPr>
            </a:lvl9pPr>
          </a:lstStyle>
          <a:p xmlns:a="http://schemas.openxmlformats.org/drawingml/2006/main">
            <a:pPr>
              <a:defRPr sz="1800" b="0">
                <a:solidFill>
                  <a:srgbClr val="17263E"/>
                </a:solidFill>
                <a:latin typeface="Arial"/>
                <a:ea typeface="Arial"/>
                <a:cs typeface="Arial"/>
              </a:defRPr>
            </a:pPr>
            <a:r>
              <a:rPr sz="1800" b="0">
                <a:solidFill>
                  <a:srgbClr val="17263E"/>
                </a:solidFill>
                <a:latin typeface="Arial"/>
                <a:ea typeface="Arial"/>
                <a:cs typeface="Arial"/>
              </a:rPr>
              <a:t>The product lead reports that people import their holdings for insights, but often need guidance before making their first purchase.</a:t>
            </a:r>
          </a:p>
        </p:txBody>
      </p:sp>
      <p:sp>
        <p:nvSpPr>
          <p:cNvPr id="5" name="">
            <a:extLst xmlns:a="http://schemas.openxmlformats.org/drawingml/2006/main">
              <a:ext uri="{FF2B5EF4-FFF2-40B4-BE49-F238E27FC236}">
                <a16:creationId xmlns:a16="http://schemas.microsoft.com/office/drawing/2014/main" id="{70CF7155-2787-47DC-9C1D-07635C5CCFD4}"/>
              </a:ext>
            </a:extLst>
          </p:cNvPr>
          <p:cNvSpPr>
            <a:spLocks xmlns:a="http://schemas.openxmlformats.org/drawingml/2006/main" noGrp="1"/>
          </p:cNvSpPr>
          <p:nvPr/>
        </p:nvSpPr>
        <p:spPr>
          <a:xfrm xmlns:a="http://schemas.openxmlformats.org/drawingml/2006/main">
            <a:off x="590550" y="3590925"/>
            <a:ext cx="6000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7263E"/>
                </a:solidFill>
                <a:latin typeface="Arial"/>
                <a:ea typeface="Arial"/>
                <a:cs typeface="Arial"/>
              </a:defRPr>
            </a:defPPr>
            <a:lvl1pPr>
              <a:defRPr sz="1800" b="0">
                <a:solidFill>
                  <a:srgbClr val="17263E"/>
                </a:solidFill>
                <a:latin typeface="Arial"/>
                <a:ea typeface="Arial"/>
                <a:cs typeface="Arial"/>
              </a:defRPr>
            </a:lvl1pPr>
            <a:lvl2pPr>
              <a:defRPr sz="1800" b="0">
                <a:solidFill>
                  <a:srgbClr val="17263E"/>
                </a:solidFill>
                <a:latin typeface="Arial"/>
                <a:ea typeface="Arial"/>
                <a:cs typeface="Arial"/>
              </a:defRPr>
            </a:lvl2pPr>
            <a:lvl3pPr>
              <a:defRPr sz="1800" b="0">
                <a:solidFill>
                  <a:srgbClr val="17263E"/>
                </a:solidFill>
                <a:latin typeface="Arial"/>
                <a:ea typeface="Arial"/>
                <a:cs typeface="Arial"/>
              </a:defRPr>
            </a:lvl3pPr>
            <a:lvl4pPr>
              <a:defRPr sz="1800" b="0">
                <a:solidFill>
                  <a:srgbClr val="17263E"/>
                </a:solidFill>
                <a:latin typeface="Arial"/>
                <a:ea typeface="Arial"/>
                <a:cs typeface="Arial"/>
              </a:defRPr>
            </a:lvl4pPr>
            <a:lvl5pPr>
              <a:defRPr sz="1800" b="0">
                <a:solidFill>
                  <a:srgbClr val="17263E"/>
                </a:solidFill>
                <a:latin typeface="Arial"/>
                <a:ea typeface="Arial"/>
                <a:cs typeface="Arial"/>
              </a:defRPr>
            </a:lvl5pPr>
            <a:lvl6pPr>
              <a:defRPr sz="1800" b="0">
                <a:solidFill>
                  <a:srgbClr val="17263E"/>
                </a:solidFill>
                <a:latin typeface="Arial"/>
                <a:ea typeface="Arial"/>
                <a:cs typeface="Arial"/>
              </a:defRPr>
            </a:lvl6pPr>
            <a:lvl7pPr>
              <a:defRPr sz="1800" b="0">
                <a:solidFill>
                  <a:srgbClr val="17263E"/>
                </a:solidFill>
                <a:latin typeface="Arial"/>
                <a:ea typeface="Arial"/>
                <a:cs typeface="Arial"/>
              </a:defRPr>
            </a:lvl7pPr>
            <a:lvl8pPr>
              <a:defRPr sz="1800" b="0">
                <a:solidFill>
                  <a:srgbClr val="17263E"/>
                </a:solidFill>
                <a:latin typeface="Arial"/>
                <a:ea typeface="Arial"/>
                <a:cs typeface="Arial"/>
              </a:defRPr>
            </a:lvl8pPr>
            <a:lvl9pPr>
              <a:defRPr sz="1800" b="0">
                <a:solidFill>
                  <a:srgbClr val="17263E"/>
                </a:solidFill>
                <a:latin typeface="Arial"/>
                <a:ea typeface="Arial"/>
                <a:cs typeface="Arial"/>
              </a:defRPr>
            </a:lvl9pPr>
          </a:lstStyle>
          <a:p xmlns:a="http://schemas.openxmlformats.org/drawingml/2006/main">
            <a:pPr>
              <a:defRPr sz="1800" b="0">
                <a:solidFill>
                  <a:srgbClr val="17263E"/>
                </a:solidFill>
                <a:latin typeface="Arial"/>
                <a:ea typeface="Arial"/>
                <a:cs typeface="Arial"/>
              </a:defRPr>
            </a:pPr>
            <a:r>
              <a:rPr sz="1800" b="0">
                <a:solidFill>
                  <a:srgbClr val="17263E"/>
                </a:solidFill>
                <a:latin typeface="Arial"/>
                <a:ea typeface="Arial"/>
                <a:cs typeface="Arial"/>
              </a:rPr>
              <a:t>The existing Exclusives page asks them to browse long product shelves before finding an option with a smaller entry amount. They then still have to work out what to buy and how to begin.</a:t>
            </a:r>
          </a:p>
        </p:txBody>
      </p:sp>
      <p:sp>
        <p:nvSpPr>
          <p:cNvPr id="6" name="">
            <a:extLst xmlns:a="http://schemas.openxmlformats.org/drawingml/2006/main">
              <a:ext uri="{FF2B5EF4-FFF2-40B4-BE49-F238E27FC236}">
                <a16:creationId xmlns:a16="http://schemas.microsoft.com/office/drawing/2014/main" id="{AAADF7AD-23B1-40B0-8C7B-A3B0CE29E24A}"/>
              </a:ext>
            </a:extLst>
          </p:cNvPr>
          <p:cNvSpPr>
            <a:spLocks xmlns:a="http://schemas.openxmlformats.org/drawingml/2006/main" noGrp="1"/>
          </p:cNvSpPr>
          <p:nvPr/>
        </p:nvSpPr>
        <p:spPr>
          <a:xfrm xmlns:a="http://schemas.openxmlformats.org/drawingml/2006/main">
            <a:off x="590550" y="5143500"/>
            <a:ext cx="6191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Move the first useful choice up</a:t>
            </a:r>
          </a:p>
        </p:txBody>
      </p:sp>
      <p:sp>
        <p:nvSpPr>
          <p:cNvPr id="7" name="">
            <a:extLst xmlns:a="http://schemas.openxmlformats.org/drawingml/2006/main">
              <a:ext uri="{FF2B5EF4-FFF2-40B4-BE49-F238E27FC236}">
                <a16:creationId xmlns:a16="http://schemas.microsoft.com/office/drawing/2014/main" id="{AC1FEEA6-C0AB-41E6-965B-360E2F8A66BC}"/>
              </a:ext>
            </a:extLst>
          </p:cNvPr>
          <p:cNvSpPr>
            <a:spLocks xmlns:a="http://schemas.openxmlformats.org/drawingml/2006/main" noGrp="1"/>
          </p:cNvSpPr>
          <p:nvPr/>
        </p:nvSpPr>
        <p:spPr>
          <a:xfrm xmlns:a="http://schemas.openxmlformats.org/drawingml/2006/main">
            <a:off x="590550" y="5581650"/>
            <a:ext cx="600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7263E"/>
                </a:solidFill>
                <a:latin typeface="Arial"/>
                <a:ea typeface="Arial"/>
                <a:cs typeface="Arial"/>
              </a:defRPr>
            </a:defPPr>
            <a:lvl1pPr>
              <a:defRPr sz="1725" b="0">
                <a:solidFill>
                  <a:srgbClr val="17263E"/>
                </a:solidFill>
                <a:latin typeface="Arial"/>
                <a:ea typeface="Arial"/>
                <a:cs typeface="Arial"/>
              </a:defRPr>
            </a:lvl1pPr>
            <a:lvl2pPr>
              <a:defRPr sz="1725" b="0">
                <a:solidFill>
                  <a:srgbClr val="17263E"/>
                </a:solidFill>
                <a:latin typeface="Arial"/>
                <a:ea typeface="Arial"/>
                <a:cs typeface="Arial"/>
              </a:defRPr>
            </a:lvl2pPr>
            <a:lvl3pPr>
              <a:defRPr sz="1725" b="0">
                <a:solidFill>
                  <a:srgbClr val="17263E"/>
                </a:solidFill>
                <a:latin typeface="Arial"/>
                <a:ea typeface="Arial"/>
                <a:cs typeface="Arial"/>
              </a:defRPr>
            </a:lvl3pPr>
            <a:lvl4pPr>
              <a:defRPr sz="1725" b="0">
                <a:solidFill>
                  <a:srgbClr val="17263E"/>
                </a:solidFill>
                <a:latin typeface="Arial"/>
                <a:ea typeface="Arial"/>
                <a:cs typeface="Arial"/>
              </a:defRPr>
            </a:lvl4pPr>
            <a:lvl5pPr>
              <a:defRPr sz="1725" b="0">
                <a:solidFill>
                  <a:srgbClr val="17263E"/>
                </a:solidFill>
                <a:latin typeface="Arial"/>
                <a:ea typeface="Arial"/>
                <a:cs typeface="Arial"/>
              </a:defRPr>
            </a:lvl5pPr>
            <a:lvl6pPr>
              <a:defRPr sz="1725" b="0">
                <a:solidFill>
                  <a:srgbClr val="17263E"/>
                </a:solidFill>
                <a:latin typeface="Arial"/>
                <a:ea typeface="Arial"/>
                <a:cs typeface="Arial"/>
              </a:defRPr>
            </a:lvl6pPr>
            <a:lvl7pPr>
              <a:defRPr sz="1725" b="0">
                <a:solidFill>
                  <a:srgbClr val="17263E"/>
                </a:solidFill>
                <a:latin typeface="Arial"/>
                <a:ea typeface="Arial"/>
                <a:cs typeface="Arial"/>
              </a:defRPr>
            </a:lvl7pPr>
            <a:lvl8pPr>
              <a:defRPr sz="1725" b="0">
                <a:solidFill>
                  <a:srgbClr val="17263E"/>
                </a:solidFill>
                <a:latin typeface="Arial"/>
                <a:ea typeface="Arial"/>
                <a:cs typeface="Arial"/>
              </a:defRPr>
            </a:lvl8pPr>
            <a:lvl9pPr>
              <a:defRPr sz="1725" b="0">
                <a:solidFill>
                  <a:srgbClr val="17263E"/>
                </a:solidFill>
                <a:latin typeface="Arial"/>
                <a:ea typeface="Arial"/>
                <a:cs typeface="Arial"/>
              </a:defRPr>
            </a:lvl9pPr>
          </a:lstStyle>
          <a:p xmlns:a="http://schemas.openxmlformats.org/drawingml/2006/main">
            <a:pPr>
              <a:defRPr sz="1725" b="0">
                <a:solidFill>
                  <a:srgbClr val="17263E"/>
                </a:solidFill>
                <a:latin typeface="Arial"/>
                <a:ea typeface="Arial"/>
                <a:cs typeface="Arial"/>
              </a:defRPr>
            </a:pPr>
            <a:r>
              <a:rPr sz="1725" b="0">
                <a:solidFill>
                  <a:srgbClr val="17263E"/>
                </a:solidFill>
                <a:latin typeface="Arial"/>
                <a:ea typeface="Arial"/>
                <a:cs typeface="Arial"/>
              </a:rPr>
              <a:t>Keep the hero. Put US stocks, funds and Private Wealth just below it, with enough product information to make an initial comparison.</a:t>
            </a:r>
          </a:p>
        </p:txBody>
      </p:sp>
      <p:pic>
        <p:nvPicPr>
          <p:cNvPr id="8" name="">
            <a:extLst xmlns:a="http://schemas.openxmlformats.org/drawingml/2006/main">
              <a:ext uri="{FF2B5EF4-FFF2-40B4-BE49-F238E27FC236}">
                <a16:creationId xmlns:a16="http://schemas.microsoft.com/office/drawing/2014/main" id="{0C758800-E133-4E7C-A714-821B2D10DE82}"/>
              </a:ext>
            </a:extLst>
          </p:cNvPr>
          <p:cNvPicPr>
            <a:picLocks xmlns:a="http://schemas.openxmlformats.org/drawingml/2006/main" noChangeAspect="1"/>
          </p:cNvPicPr>
          <p:nvPr/>
        </p:nvPicPr>
        <p:blipFill>
          <a:blip xmlns:r="http://schemas.openxmlformats.org/officeDocument/2006/relationships" xmlns:a="http://schemas.openxmlformats.org/drawingml/2006/main" r:embed="R5a0b8cba0a014fd0"/>
          <a:stretch xmlns:a="http://schemas.openxmlformats.org/drawingml/2006/main"/>
        </p:blipFill>
        <p:spPr>
          <a:xfrm xmlns:a="http://schemas.openxmlformats.org/drawingml/2006/main">
            <a:off x="8305800" y="1745796"/>
            <a:ext cx="1933575" cy="4537982"/>
          </a:xfrm>
          <a:prstGeom xmlns:a="http://schemas.openxmlformats.org/drawingml/2006/main" prst="rect">
            <a:avLst/>
          </a:prstGeom>
        </p:spPr>
      </p:pic>
    </p:spTree>
    <p:extLst>
      <p:ext uri="{BB962C8B-B14F-4D97-AF65-F5344CB8AC3E}">
        <p14:creationId xmlns:p14="http://schemas.microsoft.com/office/powerpoint/2010/main" val="1618733976"/>
      </p:ext>
    </p:extLst>
  </p:cSld>
</p:sld>
</file>

<file path=ppt/slides/slide2.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D02C14B-7291-48FA-BE3E-A1E168AF0C3D}"/>
              </a:ext>
            </a:extLst>
          </p:cNvPr>
          <p:cNvSpPr>
            <a:spLocks xmlns:a="http://schemas.openxmlformats.org/drawingml/2006/main" noGrp="1"/>
          </p:cNvSpPr>
          <p:nvPr/>
        </p:nvSpPr>
        <p:spPr>
          <a:xfrm xmlns:a="http://schemas.openxmlformats.org/drawingml/2006/main">
            <a:off x="590550" y="276225"/>
            <a:ext cx="10858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28369F"/>
                </a:solidFill>
                <a:latin typeface="Arial"/>
                <a:ea typeface="Arial"/>
                <a:cs typeface="Arial"/>
              </a:defRPr>
            </a:defPPr>
            <a:lvl1pPr>
              <a:defRPr sz="975" b="1">
                <a:solidFill>
                  <a:srgbClr val="28369F"/>
                </a:solidFill>
                <a:latin typeface="Arial"/>
                <a:ea typeface="Arial"/>
                <a:cs typeface="Arial"/>
              </a:defRPr>
            </a:lvl1pPr>
            <a:lvl2pPr>
              <a:defRPr sz="975" b="1">
                <a:solidFill>
                  <a:srgbClr val="28369F"/>
                </a:solidFill>
                <a:latin typeface="Arial"/>
                <a:ea typeface="Arial"/>
                <a:cs typeface="Arial"/>
              </a:defRPr>
            </a:lvl2pPr>
            <a:lvl3pPr>
              <a:defRPr sz="975" b="1">
                <a:solidFill>
                  <a:srgbClr val="28369F"/>
                </a:solidFill>
                <a:latin typeface="Arial"/>
                <a:ea typeface="Arial"/>
                <a:cs typeface="Arial"/>
              </a:defRPr>
            </a:lvl3pPr>
            <a:lvl4pPr>
              <a:defRPr sz="975" b="1">
                <a:solidFill>
                  <a:srgbClr val="28369F"/>
                </a:solidFill>
                <a:latin typeface="Arial"/>
                <a:ea typeface="Arial"/>
                <a:cs typeface="Arial"/>
              </a:defRPr>
            </a:lvl4pPr>
            <a:lvl5pPr>
              <a:defRPr sz="975" b="1">
                <a:solidFill>
                  <a:srgbClr val="28369F"/>
                </a:solidFill>
                <a:latin typeface="Arial"/>
                <a:ea typeface="Arial"/>
                <a:cs typeface="Arial"/>
              </a:defRPr>
            </a:lvl5pPr>
            <a:lvl6pPr>
              <a:defRPr sz="975" b="1">
                <a:solidFill>
                  <a:srgbClr val="28369F"/>
                </a:solidFill>
                <a:latin typeface="Arial"/>
                <a:ea typeface="Arial"/>
                <a:cs typeface="Arial"/>
              </a:defRPr>
            </a:lvl6pPr>
            <a:lvl7pPr>
              <a:defRPr sz="975" b="1">
                <a:solidFill>
                  <a:srgbClr val="28369F"/>
                </a:solidFill>
                <a:latin typeface="Arial"/>
                <a:ea typeface="Arial"/>
                <a:cs typeface="Arial"/>
              </a:defRPr>
            </a:lvl7pPr>
            <a:lvl8pPr>
              <a:defRPr sz="975" b="1">
                <a:solidFill>
                  <a:srgbClr val="28369F"/>
                </a:solidFill>
                <a:latin typeface="Arial"/>
                <a:ea typeface="Arial"/>
                <a:cs typeface="Arial"/>
              </a:defRPr>
            </a:lvl8pPr>
            <a:lvl9pPr>
              <a:defRPr sz="975" b="1">
                <a:solidFill>
                  <a:srgbClr val="28369F"/>
                </a:solidFill>
                <a:latin typeface="Arial"/>
                <a:ea typeface="Arial"/>
                <a:cs typeface="Arial"/>
              </a:defRPr>
            </a:lvl9pPr>
          </a:lstStyle>
          <a:p xmlns:a="http://schemas.openxmlformats.org/drawingml/2006/main">
            <a:pPr>
              <a:defRPr sz="975" b="1">
                <a:solidFill>
                  <a:srgbClr val="28369F"/>
                </a:solidFill>
                <a:latin typeface="Arial"/>
                <a:ea typeface="Arial"/>
                <a:cs typeface="Arial"/>
              </a:defRPr>
            </a:pPr>
            <a:r>
              <a:rPr sz="975" b="1">
                <a:solidFill>
                  <a:srgbClr val="28369F"/>
                </a:solidFill>
                <a:latin typeface="Arial"/>
                <a:ea typeface="Arial"/>
                <a:cs typeface="Arial"/>
              </a:rPr>
              <a:t>2 / What changes on the screen?</a:t>
            </a:r>
          </a:p>
        </p:txBody>
      </p:sp>
      <p:sp>
        <p:nvSpPr>
          <p:cNvPr id="2" name="">
            <a:extLst xmlns:a="http://schemas.openxmlformats.org/drawingml/2006/main">
              <a:ext uri="{FF2B5EF4-FFF2-40B4-BE49-F238E27FC236}">
                <a16:creationId xmlns:a16="http://schemas.microsoft.com/office/drawing/2014/main" id="{80F0E088-8572-4D86-9190-4B2DA16EDE64}"/>
              </a:ext>
            </a:extLst>
          </p:cNvPr>
          <p:cNvSpPr>
            <a:spLocks xmlns:a="http://schemas.openxmlformats.org/drawingml/2006/main" noGrp="1"/>
          </p:cNvSpPr>
          <p:nvPr/>
        </p:nvSpPr>
        <p:spPr>
          <a:xfrm xmlns:a="http://schemas.openxmlformats.org/drawingml/2006/main">
            <a:off x="590550" y="742950"/>
            <a:ext cx="10953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63E"/>
                </a:solidFill>
                <a:latin typeface="Arial"/>
                <a:ea typeface="Arial"/>
                <a:cs typeface="Arial"/>
              </a:defRPr>
            </a:defPPr>
            <a:lvl1pPr>
              <a:defRPr sz="2850" b="1">
                <a:solidFill>
                  <a:srgbClr val="17263E"/>
                </a:solidFill>
                <a:latin typeface="Arial"/>
                <a:ea typeface="Arial"/>
                <a:cs typeface="Arial"/>
              </a:defRPr>
            </a:lvl1pPr>
            <a:lvl2pPr>
              <a:defRPr sz="2850" b="1">
                <a:solidFill>
                  <a:srgbClr val="17263E"/>
                </a:solidFill>
                <a:latin typeface="Arial"/>
                <a:ea typeface="Arial"/>
                <a:cs typeface="Arial"/>
              </a:defRPr>
            </a:lvl2pPr>
            <a:lvl3pPr>
              <a:defRPr sz="2850" b="1">
                <a:solidFill>
                  <a:srgbClr val="17263E"/>
                </a:solidFill>
                <a:latin typeface="Arial"/>
                <a:ea typeface="Arial"/>
                <a:cs typeface="Arial"/>
              </a:defRPr>
            </a:lvl3pPr>
            <a:lvl4pPr>
              <a:defRPr sz="2850" b="1">
                <a:solidFill>
                  <a:srgbClr val="17263E"/>
                </a:solidFill>
                <a:latin typeface="Arial"/>
                <a:ea typeface="Arial"/>
                <a:cs typeface="Arial"/>
              </a:defRPr>
            </a:lvl4pPr>
            <a:lvl5pPr>
              <a:defRPr sz="2850" b="1">
                <a:solidFill>
                  <a:srgbClr val="17263E"/>
                </a:solidFill>
                <a:latin typeface="Arial"/>
                <a:ea typeface="Arial"/>
                <a:cs typeface="Arial"/>
              </a:defRPr>
            </a:lvl5pPr>
            <a:lvl6pPr>
              <a:defRPr sz="2850" b="1">
                <a:solidFill>
                  <a:srgbClr val="17263E"/>
                </a:solidFill>
                <a:latin typeface="Arial"/>
                <a:ea typeface="Arial"/>
                <a:cs typeface="Arial"/>
              </a:defRPr>
            </a:lvl6pPr>
            <a:lvl7pPr>
              <a:defRPr sz="2850" b="1">
                <a:solidFill>
                  <a:srgbClr val="17263E"/>
                </a:solidFill>
                <a:latin typeface="Arial"/>
                <a:ea typeface="Arial"/>
                <a:cs typeface="Arial"/>
              </a:defRPr>
            </a:lvl7pPr>
            <a:lvl8pPr>
              <a:defRPr sz="2850" b="1">
                <a:solidFill>
                  <a:srgbClr val="17263E"/>
                </a:solidFill>
                <a:latin typeface="Arial"/>
                <a:ea typeface="Arial"/>
                <a:cs typeface="Arial"/>
              </a:defRPr>
            </a:lvl8pPr>
            <a:lvl9pPr>
              <a:defRPr sz="2850" b="1">
                <a:solidFill>
                  <a:srgbClr val="17263E"/>
                </a:solidFill>
                <a:latin typeface="Arial"/>
                <a:ea typeface="Arial"/>
                <a:cs typeface="Arial"/>
              </a:defRPr>
            </a:lvl9pPr>
          </a:lstStyle>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Three clear routes, without losing the full catalogue.</a:t>
            </a:r>
          </a:p>
        </p:txBody>
      </p:sp>
      <p:pic>
        <p:nvPicPr>
          <p:cNvPr id="3" name="">
            <a:extLst xmlns:a="http://schemas.openxmlformats.org/drawingml/2006/main">
              <a:ext uri="{FF2B5EF4-FFF2-40B4-BE49-F238E27FC236}">
                <a16:creationId xmlns:a16="http://schemas.microsoft.com/office/drawing/2014/main" id="{177F9A1C-8D7E-4E96-A4F4-3748BD8D16F9}"/>
              </a:ext>
            </a:extLst>
          </p:cNvPr>
          <p:cNvPicPr>
            <a:picLocks xmlns:a="http://schemas.openxmlformats.org/drawingml/2006/main" noChangeAspect="1"/>
          </p:cNvPicPr>
          <p:nvPr/>
        </p:nvPicPr>
        <p:blipFill>
          <a:blip xmlns:r="http://schemas.openxmlformats.org/officeDocument/2006/relationships" xmlns:a="http://schemas.openxmlformats.org/drawingml/2006/main" r:embed="Rbcd0b3e35543471e"/>
          <a:stretch xmlns:a="http://schemas.openxmlformats.org/drawingml/2006/main"/>
        </p:blipFill>
        <p:spPr>
          <a:xfrm xmlns:a="http://schemas.openxmlformats.org/drawingml/2006/main">
            <a:off x="971685" y="1685925"/>
            <a:ext cx="1628504" cy="35242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6B02AF58-4C79-43FB-9F27-B9FA040C38F3}"/>
              </a:ext>
            </a:extLst>
          </p:cNvPr>
          <p:cNvPicPr>
            <a:picLocks xmlns:a="http://schemas.openxmlformats.org/drawingml/2006/main" noChangeAspect="1"/>
          </p:cNvPicPr>
          <p:nvPr/>
        </p:nvPicPr>
        <p:blipFill>
          <a:blip xmlns:r="http://schemas.openxmlformats.org/officeDocument/2006/relationships" xmlns:a="http://schemas.openxmlformats.org/drawingml/2006/main" r:embed="R9b009a87770e4c0a"/>
          <a:stretch xmlns:a="http://schemas.openxmlformats.org/drawingml/2006/main"/>
        </p:blipFill>
        <p:spPr>
          <a:xfrm xmlns:a="http://schemas.openxmlformats.org/drawingml/2006/main">
            <a:off x="5096010" y="1685925"/>
            <a:ext cx="1628504" cy="352425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5B7DCA62-6E65-4F55-A10C-80B1F6E746B4}"/>
              </a:ext>
            </a:extLst>
          </p:cNvPr>
          <p:cNvPicPr>
            <a:picLocks xmlns:a="http://schemas.openxmlformats.org/drawingml/2006/main" noChangeAspect="1"/>
          </p:cNvPicPr>
          <p:nvPr/>
        </p:nvPicPr>
        <p:blipFill>
          <a:blip xmlns:r="http://schemas.openxmlformats.org/officeDocument/2006/relationships" xmlns:a="http://schemas.openxmlformats.org/drawingml/2006/main" r:embed="R6ab59f9af3054840"/>
          <a:stretch xmlns:a="http://schemas.openxmlformats.org/drawingml/2006/main"/>
        </p:blipFill>
        <p:spPr>
          <a:xfrm xmlns:a="http://schemas.openxmlformats.org/drawingml/2006/main">
            <a:off x="9220335" y="1685925"/>
            <a:ext cx="1628504" cy="3524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ACA371F6-93E8-4C81-979A-0E4307C599B5}"/>
              </a:ext>
            </a:extLst>
          </p:cNvPr>
          <p:cNvSpPr>
            <a:spLocks xmlns:a="http://schemas.openxmlformats.org/drawingml/2006/main" noGrp="1"/>
          </p:cNvSpPr>
          <p:nvPr/>
        </p:nvSpPr>
        <p:spPr>
          <a:xfrm xmlns:a="http://schemas.openxmlformats.org/drawingml/2006/main">
            <a:off x="590550" y="53911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US stocks</a:t>
            </a:r>
          </a:p>
        </p:txBody>
      </p:sp>
      <p:sp>
        <p:nvSpPr>
          <p:cNvPr id="7" name="">
            <a:extLst xmlns:a="http://schemas.openxmlformats.org/drawingml/2006/main">
              <a:ext uri="{FF2B5EF4-FFF2-40B4-BE49-F238E27FC236}">
                <a16:creationId xmlns:a16="http://schemas.microsoft.com/office/drawing/2014/main" id="{FD451ACB-D5E0-442E-AF8C-99E495FE466E}"/>
              </a:ext>
            </a:extLst>
          </p:cNvPr>
          <p:cNvSpPr>
            <a:spLocks xmlns:a="http://schemas.openxmlformats.org/drawingml/2006/main" noGrp="1"/>
          </p:cNvSpPr>
          <p:nvPr/>
        </p:nvSpPr>
        <p:spPr>
          <a:xfrm xmlns:a="http://schemas.openxmlformats.org/drawingml/2006/main">
            <a:off x="590550" y="5791200"/>
            <a:ext cx="285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263E"/>
                </a:solidFill>
                <a:latin typeface="Arial"/>
                <a:ea typeface="Arial"/>
                <a:cs typeface="Arial"/>
              </a:defRPr>
            </a:defPPr>
            <a:lvl1pPr>
              <a:defRPr sz="1275" b="0">
                <a:solidFill>
                  <a:srgbClr val="17263E"/>
                </a:solidFill>
                <a:latin typeface="Arial"/>
                <a:ea typeface="Arial"/>
                <a:cs typeface="Arial"/>
              </a:defRPr>
            </a:lvl1pPr>
            <a:lvl2pPr>
              <a:defRPr sz="1275" b="0">
                <a:solidFill>
                  <a:srgbClr val="17263E"/>
                </a:solidFill>
                <a:latin typeface="Arial"/>
                <a:ea typeface="Arial"/>
                <a:cs typeface="Arial"/>
              </a:defRPr>
            </a:lvl2pPr>
            <a:lvl3pPr>
              <a:defRPr sz="1275" b="0">
                <a:solidFill>
                  <a:srgbClr val="17263E"/>
                </a:solidFill>
                <a:latin typeface="Arial"/>
                <a:ea typeface="Arial"/>
                <a:cs typeface="Arial"/>
              </a:defRPr>
            </a:lvl3pPr>
            <a:lvl4pPr>
              <a:defRPr sz="1275" b="0">
                <a:solidFill>
                  <a:srgbClr val="17263E"/>
                </a:solidFill>
                <a:latin typeface="Arial"/>
                <a:ea typeface="Arial"/>
                <a:cs typeface="Arial"/>
              </a:defRPr>
            </a:lvl4pPr>
            <a:lvl5pPr>
              <a:defRPr sz="1275" b="0">
                <a:solidFill>
                  <a:srgbClr val="17263E"/>
                </a:solidFill>
                <a:latin typeface="Arial"/>
                <a:ea typeface="Arial"/>
                <a:cs typeface="Arial"/>
              </a:defRPr>
            </a:lvl5pPr>
            <a:lvl6pPr>
              <a:defRPr sz="1275" b="0">
                <a:solidFill>
                  <a:srgbClr val="17263E"/>
                </a:solidFill>
                <a:latin typeface="Arial"/>
                <a:ea typeface="Arial"/>
                <a:cs typeface="Arial"/>
              </a:defRPr>
            </a:lvl6pPr>
            <a:lvl7pPr>
              <a:defRPr sz="1275" b="0">
                <a:solidFill>
                  <a:srgbClr val="17263E"/>
                </a:solidFill>
                <a:latin typeface="Arial"/>
                <a:ea typeface="Arial"/>
                <a:cs typeface="Arial"/>
              </a:defRPr>
            </a:lvl7pPr>
            <a:lvl8pPr>
              <a:defRPr sz="1275" b="0">
                <a:solidFill>
                  <a:srgbClr val="17263E"/>
                </a:solidFill>
                <a:latin typeface="Arial"/>
                <a:ea typeface="Arial"/>
                <a:cs typeface="Arial"/>
              </a:defRPr>
            </a:lvl8pPr>
            <a:lvl9pPr>
              <a:defRPr sz="1275" b="0">
                <a:solidFill>
                  <a:srgbClr val="17263E"/>
                </a:solidFill>
                <a:latin typeface="Arial"/>
                <a:ea typeface="Arial"/>
                <a:cs typeface="Arial"/>
              </a:defRPr>
            </a:lvl9pPr>
          </a:lstStyle>
          <a:p xmlns:a="http://schemas.openxmlformats.org/drawingml/2006/main">
            <a:pPr>
              <a:defRPr sz="1275" b="0">
                <a:solidFill>
                  <a:srgbClr val="17263E"/>
                </a:solidFill>
                <a:latin typeface="Arial"/>
                <a:ea typeface="Arial"/>
                <a:cs typeface="Arial"/>
              </a:defRPr>
            </a:pPr>
            <a:r>
              <a:rPr sz="1275" b="0">
                <a:solidFill>
                  <a:srgbClr val="17263E"/>
                </a:solidFill>
                <a:latin typeface="Arial"/>
                <a:ea typeface="Arial"/>
                <a:cs typeface="Arial"/>
              </a:rPr>
              <a:t>Search familiar companies. See the share price and daily change before opening a product.</a:t>
            </a:r>
          </a:p>
        </p:txBody>
      </p:sp>
      <p:sp>
        <p:nvSpPr>
          <p:cNvPr id="8" name="">
            <a:extLst xmlns:a="http://schemas.openxmlformats.org/drawingml/2006/main">
              <a:ext uri="{FF2B5EF4-FFF2-40B4-BE49-F238E27FC236}">
                <a16:creationId xmlns:a16="http://schemas.microsoft.com/office/drawing/2014/main" id="{55B10A19-1988-43F5-AD55-A0B70C23E92C}"/>
              </a:ext>
            </a:extLst>
          </p:cNvPr>
          <p:cNvSpPr>
            <a:spLocks xmlns:a="http://schemas.openxmlformats.org/drawingml/2006/main" noGrp="1"/>
          </p:cNvSpPr>
          <p:nvPr/>
        </p:nvSpPr>
        <p:spPr>
          <a:xfrm xmlns:a="http://schemas.openxmlformats.org/drawingml/2006/main">
            <a:off x="4714875" y="53911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Funds &amp; baskets</a:t>
            </a:r>
          </a:p>
        </p:txBody>
      </p:sp>
      <p:sp>
        <p:nvSpPr>
          <p:cNvPr id="9" name="">
            <a:extLst xmlns:a="http://schemas.openxmlformats.org/drawingml/2006/main">
              <a:ext uri="{FF2B5EF4-FFF2-40B4-BE49-F238E27FC236}">
                <a16:creationId xmlns:a16="http://schemas.microsoft.com/office/drawing/2014/main" id="{9668BFFB-9330-4954-83BE-51CA7155EF62}"/>
              </a:ext>
            </a:extLst>
          </p:cNvPr>
          <p:cNvSpPr>
            <a:spLocks xmlns:a="http://schemas.openxmlformats.org/drawingml/2006/main" noGrp="1"/>
          </p:cNvSpPr>
          <p:nvPr/>
        </p:nvSpPr>
        <p:spPr>
          <a:xfrm xmlns:a="http://schemas.openxmlformats.org/drawingml/2006/main">
            <a:off x="4714875" y="5791200"/>
            <a:ext cx="285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263E"/>
                </a:solidFill>
                <a:latin typeface="Arial"/>
                <a:ea typeface="Arial"/>
                <a:cs typeface="Arial"/>
              </a:defRPr>
            </a:defPPr>
            <a:lvl1pPr>
              <a:defRPr sz="1275" b="0">
                <a:solidFill>
                  <a:srgbClr val="17263E"/>
                </a:solidFill>
                <a:latin typeface="Arial"/>
                <a:ea typeface="Arial"/>
                <a:cs typeface="Arial"/>
              </a:defRPr>
            </a:lvl1pPr>
            <a:lvl2pPr>
              <a:defRPr sz="1275" b="0">
                <a:solidFill>
                  <a:srgbClr val="17263E"/>
                </a:solidFill>
                <a:latin typeface="Arial"/>
                <a:ea typeface="Arial"/>
                <a:cs typeface="Arial"/>
              </a:defRPr>
            </a:lvl2pPr>
            <a:lvl3pPr>
              <a:defRPr sz="1275" b="0">
                <a:solidFill>
                  <a:srgbClr val="17263E"/>
                </a:solidFill>
                <a:latin typeface="Arial"/>
                <a:ea typeface="Arial"/>
                <a:cs typeface="Arial"/>
              </a:defRPr>
            </a:lvl3pPr>
            <a:lvl4pPr>
              <a:defRPr sz="1275" b="0">
                <a:solidFill>
                  <a:srgbClr val="17263E"/>
                </a:solidFill>
                <a:latin typeface="Arial"/>
                <a:ea typeface="Arial"/>
                <a:cs typeface="Arial"/>
              </a:defRPr>
            </a:lvl4pPr>
            <a:lvl5pPr>
              <a:defRPr sz="1275" b="0">
                <a:solidFill>
                  <a:srgbClr val="17263E"/>
                </a:solidFill>
                <a:latin typeface="Arial"/>
                <a:ea typeface="Arial"/>
                <a:cs typeface="Arial"/>
              </a:defRPr>
            </a:lvl5pPr>
            <a:lvl6pPr>
              <a:defRPr sz="1275" b="0">
                <a:solidFill>
                  <a:srgbClr val="17263E"/>
                </a:solidFill>
                <a:latin typeface="Arial"/>
                <a:ea typeface="Arial"/>
                <a:cs typeface="Arial"/>
              </a:defRPr>
            </a:lvl6pPr>
            <a:lvl7pPr>
              <a:defRPr sz="1275" b="0">
                <a:solidFill>
                  <a:srgbClr val="17263E"/>
                </a:solidFill>
                <a:latin typeface="Arial"/>
                <a:ea typeface="Arial"/>
                <a:cs typeface="Arial"/>
              </a:defRPr>
            </a:lvl7pPr>
            <a:lvl8pPr>
              <a:defRPr sz="1275" b="0">
                <a:solidFill>
                  <a:srgbClr val="17263E"/>
                </a:solidFill>
                <a:latin typeface="Arial"/>
                <a:ea typeface="Arial"/>
                <a:cs typeface="Arial"/>
              </a:defRPr>
            </a:lvl8pPr>
            <a:lvl9pPr>
              <a:defRPr sz="1275" b="0">
                <a:solidFill>
                  <a:srgbClr val="17263E"/>
                </a:solidFill>
                <a:latin typeface="Arial"/>
                <a:ea typeface="Arial"/>
                <a:cs typeface="Arial"/>
              </a:defRPr>
            </a:lvl9pPr>
          </a:lstStyle>
          <a:p xmlns:a="http://schemas.openxmlformats.org/drawingml/2006/main">
            <a:pPr>
              <a:defRPr sz="1275" b="0">
                <a:solidFill>
                  <a:srgbClr val="17263E"/>
                </a:solidFill>
                <a:latin typeface="Arial"/>
                <a:ea typeface="Arial"/>
                <a:cs typeface="Arial"/>
              </a:defRPr>
            </a:pPr>
            <a:r>
              <a:rPr sz="1275" b="0">
                <a:solidFill>
                  <a:srgbClr val="17263E"/>
                </a:solidFill>
                <a:latin typeface="Arial"/>
                <a:ea typeface="Arial"/>
                <a:cs typeface="Arial"/>
              </a:rPr>
              <a:t>Keep mutual funds, managed US portfolios and the Ionic stock basket together, with their key facts.</a:t>
            </a:r>
          </a:p>
        </p:txBody>
      </p:sp>
      <p:sp>
        <p:nvSpPr>
          <p:cNvPr id="10" name="">
            <a:extLst xmlns:a="http://schemas.openxmlformats.org/drawingml/2006/main">
              <a:ext uri="{FF2B5EF4-FFF2-40B4-BE49-F238E27FC236}">
                <a16:creationId xmlns:a16="http://schemas.microsoft.com/office/drawing/2014/main" id="{5423101C-66E2-49AC-9835-EB45EA38288D}"/>
              </a:ext>
            </a:extLst>
          </p:cNvPr>
          <p:cNvSpPr>
            <a:spLocks xmlns:a="http://schemas.openxmlformats.org/drawingml/2006/main" noGrp="1"/>
          </p:cNvSpPr>
          <p:nvPr/>
        </p:nvSpPr>
        <p:spPr>
          <a:xfrm xmlns:a="http://schemas.openxmlformats.org/drawingml/2006/main">
            <a:off x="8839200" y="53911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Private Wealth</a:t>
            </a:r>
          </a:p>
        </p:txBody>
      </p:sp>
      <p:sp>
        <p:nvSpPr>
          <p:cNvPr id="11" name="">
            <a:extLst xmlns:a="http://schemas.openxmlformats.org/drawingml/2006/main">
              <a:ext uri="{FF2B5EF4-FFF2-40B4-BE49-F238E27FC236}">
                <a16:creationId xmlns:a16="http://schemas.microsoft.com/office/drawing/2014/main" id="{D5F3E8A4-1825-4DE7-A85D-423AA0E5539A}"/>
              </a:ext>
            </a:extLst>
          </p:cNvPr>
          <p:cNvSpPr>
            <a:spLocks xmlns:a="http://schemas.openxmlformats.org/drawingml/2006/main" noGrp="1"/>
          </p:cNvSpPr>
          <p:nvPr/>
        </p:nvSpPr>
        <p:spPr>
          <a:xfrm xmlns:a="http://schemas.openxmlformats.org/drawingml/2006/main">
            <a:off x="8839200" y="5791200"/>
            <a:ext cx="285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263E"/>
                </a:solidFill>
                <a:latin typeface="Arial"/>
                <a:ea typeface="Arial"/>
                <a:cs typeface="Arial"/>
              </a:defRPr>
            </a:defPPr>
            <a:lvl1pPr>
              <a:defRPr sz="1275" b="0">
                <a:solidFill>
                  <a:srgbClr val="17263E"/>
                </a:solidFill>
                <a:latin typeface="Arial"/>
                <a:ea typeface="Arial"/>
                <a:cs typeface="Arial"/>
              </a:defRPr>
            </a:lvl1pPr>
            <a:lvl2pPr>
              <a:defRPr sz="1275" b="0">
                <a:solidFill>
                  <a:srgbClr val="17263E"/>
                </a:solidFill>
                <a:latin typeface="Arial"/>
                <a:ea typeface="Arial"/>
                <a:cs typeface="Arial"/>
              </a:defRPr>
            </a:lvl2pPr>
            <a:lvl3pPr>
              <a:defRPr sz="1275" b="0">
                <a:solidFill>
                  <a:srgbClr val="17263E"/>
                </a:solidFill>
                <a:latin typeface="Arial"/>
                <a:ea typeface="Arial"/>
                <a:cs typeface="Arial"/>
              </a:defRPr>
            </a:lvl3pPr>
            <a:lvl4pPr>
              <a:defRPr sz="1275" b="0">
                <a:solidFill>
                  <a:srgbClr val="17263E"/>
                </a:solidFill>
                <a:latin typeface="Arial"/>
                <a:ea typeface="Arial"/>
                <a:cs typeface="Arial"/>
              </a:defRPr>
            </a:lvl4pPr>
            <a:lvl5pPr>
              <a:defRPr sz="1275" b="0">
                <a:solidFill>
                  <a:srgbClr val="17263E"/>
                </a:solidFill>
                <a:latin typeface="Arial"/>
                <a:ea typeface="Arial"/>
                <a:cs typeface="Arial"/>
              </a:defRPr>
            </a:lvl5pPr>
            <a:lvl6pPr>
              <a:defRPr sz="1275" b="0">
                <a:solidFill>
                  <a:srgbClr val="17263E"/>
                </a:solidFill>
                <a:latin typeface="Arial"/>
                <a:ea typeface="Arial"/>
                <a:cs typeface="Arial"/>
              </a:defRPr>
            </a:lvl6pPr>
            <a:lvl7pPr>
              <a:defRPr sz="1275" b="0">
                <a:solidFill>
                  <a:srgbClr val="17263E"/>
                </a:solidFill>
                <a:latin typeface="Arial"/>
                <a:ea typeface="Arial"/>
                <a:cs typeface="Arial"/>
              </a:defRPr>
            </a:lvl7pPr>
            <a:lvl8pPr>
              <a:defRPr sz="1275" b="0">
                <a:solidFill>
                  <a:srgbClr val="17263E"/>
                </a:solidFill>
                <a:latin typeface="Arial"/>
                <a:ea typeface="Arial"/>
                <a:cs typeface="Arial"/>
              </a:defRPr>
            </a:lvl8pPr>
            <a:lvl9pPr>
              <a:defRPr sz="1275" b="0">
                <a:solidFill>
                  <a:srgbClr val="17263E"/>
                </a:solidFill>
                <a:latin typeface="Arial"/>
                <a:ea typeface="Arial"/>
                <a:cs typeface="Arial"/>
              </a:defRPr>
            </a:lvl9pPr>
          </a:lstStyle>
          <a:p xmlns:a="http://schemas.openxmlformats.org/drawingml/2006/main">
            <a:pPr>
              <a:defRPr sz="1275" b="0">
                <a:solidFill>
                  <a:srgbClr val="17263E"/>
                </a:solidFill>
                <a:latin typeface="Arial"/>
                <a:ea typeface="Arial"/>
                <a:cs typeface="Arial"/>
              </a:defRPr>
            </a:pPr>
            <a:r>
              <a:rPr sz="1275" b="0">
                <a:solidFill>
                  <a:srgbClr val="17263E"/>
                </a:solidFill>
                <a:latin typeface="Arial"/>
                <a:ea typeface="Arial"/>
                <a:cs typeface="Arial"/>
              </a:rPr>
              <a:t>Give PMS, AIF and SIF a visible place. One scroll shows all 18 offerings, with shortcuts to each section.</a:t>
            </a:r>
          </a:p>
        </p:txBody>
      </p:sp>
    </p:spTree>
    <p:extLst>
      <p:ext uri="{BB962C8B-B14F-4D97-AF65-F5344CB8AC3E}">
        <p14:creationId xmlns:p14="http://schemas.microsoft.com/office/powerpoint/2010/main" val="1727795398"/>
      </p:ext>
    </p:extLst>
  </p:cSld>
</p:sld>
</file>

<file path=ppt/slides/slide3.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F47BEF7-DA6F-45B4-A134-CA08AC1B3BC9}"/>
              </a:ext>
            </a:extLst>
          </p:cNvPr>
          <p:cNvSpPr>
            <a:spLocks xmlns:a="http://schemas.openxmlformats.org/drawingml/2006/main" noGrp="1"/>
          </p:cNvSpPr>
          <p:nvPr/>
        </p:nvSpPr>
        <p:spPr>
          <a:xfrm xmlns:a="http://schemas.openxmlformats.org/drawingml/2006/main">
            <a:off x="590550" y="276225"/>
            <a:ext cx="10858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28369F"/>
                </a:solidFill>
                <a:latin typeface="Arial"/>
                <a:ea typeface="Arial"/>
                <a:cs typeface="Arial"/>
              </a:defRPr>
            </a:defPPr>
            <a:lvl1pPr>
              <a:defRPr sz="975" b="1">
                <a:solidFill>
                  <a:srgbClr val="28369F"/>
                </a:solidFill>
                <a:latin typeface="Arial"/>
                <a:ea typeface="Arial"/>
                <a:cs typeface="Arial"/>
              </a:defRPr>
            </a:lvl1pPr>
            <a:lvl2pPr>
              <a:defRPr sz="975" b="1">
                <a:solidFill>
                  <a:srgbClr val="28369F"/>
                </a:solidFill>
                <a:latin typeface="Arial"/>
                <a:ea typeface="Arial"/>
                <a:cs typeface="Arial"/>
              </a:defRPr>
            </a:lvl2pPr>
            <a:lvl3pPr>
              <a:defRPr sz="975" b="1">
                <a:solidFill>
                  <a:srgbClr val="28369F"/>
                </a:solidFill>
                <a:latin typeface="Arial"/>
                <a:ea typeface="Arial"/>
                <a:cs typeface="Arial"/>
              </a:defRPr>
            </a:lvl3pPr>
            <a:lvl4pPr>
              <a:defRPr sz="975" b="1">
                <a:solidFill>
                  <a:srgbClr val="28369F"/>
                </a:solidFill>
                <a:latin typeface="Arial"/>
                <a:ea typeface="Arial"/>
                <a:cs typeface="Arial"/>
              </a:defRPr>
            </a:lvl4pPr>
            <a:lvl5pPr>
              <a:defRPr sz="975" b="1">
                <a:solidFill>
                  <a:srgbClr val="28369F"/>
                </a:solidFill>
                <a:latin typeface="Arial"/>
                <a:ea typeface="Arial"/>
                <a:cs typeface="Arial"/>
              </a:defRPr>
            </a:lvl5pPr>
            <a:lvl6pPr>
              <a:defRPr sz="975" b="1">
                <a:solidFill>
                  <a:srgbClr val="28369F"/>
                </a:solidFill>
                <a:latin typeface="Arial"/>
                <a:ea typeface="Arial"/>
                <a:cs typeface="Arial"/>
              </a:defRPr>
            </a:lvl6pPr>
            <a:lvl7pPr>
              <a:defRPr sz="975" b="1">
                <a:solidFill>
                  <a:srgbClr val="28369F"/>
                </a:solidFill>
                <a:latin typeface="Arial"/>
                <a:ea typeface="Arial"/>
                <a:cs typeface="Arial"/>
              </a:defRPr>
            </a:lvl7pPr>
            <a:lvl8pPr>
              <a:defRPr sz="975" b="1">
                <a:solidFill>
                  <a:srgbClr val="28369F"/>
                </a:solidFill>
                <a:latin typeface="Arial"/>
                <a:ea typeface="Arial"/>
                <a:cs typeface="Arial"/>
              </a:defRPr>
            </a:lvl8pPr>
            <a:lvl9pPr>
              <a:defRPr sz="975" b="1">
                <a:solidFill>
                  <a:srgbClr val="28369F"/>
                </a:solidFill>
                <a:latin typeface="Arial"/>
                <a:ea typeface="Arial"/>
                <a:cs typeface="Arial"/>
              </a:defRPr>
            </a:lvl9pPr>
          </a:lstStyle>
          <a:p xmlns:a="http://schemas.openxmlformats.org/drawingml/2006/main">
            <a:pPr>
              <a:defRPr sz="975" b="1">
                <a:solidFill>
                  <a:srgbClr val="28369F"/>
                </a:solidFill>
                <a:latin typeface="Arial"/>
                <a:ea typeface="Arial"/>
                <a:cs typeface="Arial"/>
              </a:defRPr>
            </a:pPr>
            <a:r>
              <a:rPr sz="975" b="1">
                <a:solidFill>
                  <a:srgbClr val="28369F"/>
                </a:solidFill>
                <a:latin typeface="Arial"/>
                <a:ea typeface="Arial"/>
                <a:cs typeface="Arial"/>
              </a:rPr>
              <a:t>3 / How does someone get closer to buying?</a:t>
            </a:r>
          </a:p>
        </p:txBody>
      </p:sp>
      <p:sp>
        <p:nvSpPr>
          <p:cNvPr id="2" name="">
            <a:extLst xmlns:a="http://schemas.openxmlformats.org/drawingml/2006/main">
              <a:ext uri="{FF2B5EF4-FFF2-40B4-BE49-F238E27FC236}">
                <a16:creationId xmlns:a16="http://schemas.microsoft.com/office/drawing/2014/main" id="{15614EEF-DE6A-402F-B363-B84357F8637B}"/>
              </a:ext>
            </a:extLst>
          </p:cNvPr>
          <p:cNvSpPr>
            <a:spLocks xmlns:a="http://schemas.openxmlformats.org/drawingml/2006/main" noGrp="1"/>
          </p:cNvSpPr>
          <p:nvPr/>
        </p:nvSpPr>
        <p:spPr>
          <a:xfrm xmlns:a="http://schemas.openxmlformats.org/drawingml/2006/main">
            <a:off x="590550" y="742950"/>
            <a:ext cx="10953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63E"/>
                </a:solidFill>
                <a:latin typeface="Arial"/>
                <a:ea typeface="Arial"/>
                <a:cs typeface="Arial"/>
              </a:defRPr>
            </a:defPPr>
            <a:lvl1pPr>
              <a:defRPr sz="2850" b="1">
                <a:solidFill>
                  <a:srgbClr val="17263E"/>
                </a:solidFill>
                <a:latin typeface="Arial"/>
                <a:ea typeface="Arial"/>
                <a:cs typeface="Arial"/>
              </a:defRPr>
            </a:lvl1pPr>
            <a:lvl2pPr>
              <a:defRPr sz="2850" b="1">
                <a:solidFill>
                  <a:srgbClr val="17263E"/>
                </a:solidFill>
                <a:latin typeface="Arial"/>
                <a:ea typeface="Arial"/>
                <a:cs typeface="Arial"/>
              </a:defRPr>
            </a:lvl2pPr>
            <a:lvl3pPr>
              <a:defRPr sz="2850" b="1">
                <a:solidFill>
                  <a:srgbClr val="17263E"/>
                </a:solidFill>
                <a:latin typeface="Arial"/>
                <a:ea typeface="Arial"/>
                <a:cs typeface="Arial"/>
              </a:defRPr>
            </a:lvl3pPr>
            <a:lvl4pPr>
              <a:defRPr sz="2850" b="1">
                <a:solidFill>
                  <a:srgbClr val="17263E"/>
                </a:solidFill>
                <a:latin typeface="Arial"/>
                <a:ea typeface="Arial"/>
                <a:cs typeface="Arial"/>
              </a:defRPr>
            </a:lvl4pPr>
            <a:lvl5pPr>
              <a:defRPr sz="2850" b="1">
                <a:solidFill>
                  <a:srgbClr val="17263E"/>
                </a:solidFill>
                <a:latin typeface="Arial"/>
                <a:ea typeface="Arial"/>
                <a:cs typeface="Arial"/>
              </a:defRPr>
            </a:lvl5pPr>
            <a:lvl6pPr>
              <a:defRPr sz="2850" b="1">
                <a:solidFill>
                  <a:srgbClr val="17263E"/>
                </a:solidFill>
                <a:latin typeface="Arial"/>
                <a:ea typeface="Arial"/>
                <a:cs typeface="Arial"/>
              </a:defRPr>
            </a:lvl6pPr>
            <a:lvl7pPr>
              <a:defRPr sz="2850" b="1">
                <a:solidFill>
                  <a:srgbClr val="17263E"/>
                </a:solidFill>
                <a:latin typeface="Arial"/>
                <a:ea typeface="Arial"/>
                <a:cs typeface="Arial"/>
              </a:defRPr>
            </a:lvl7pPr>
            <a:lvl8pPr>
              <a:defRPr sz="2850" b="1">
                <a:solidFill>
                  <a:srgbClr val="17263E"/>
                </a:solidFill>
                <a:latin typeface="Arial"/>
                <a:ea typeface="Arial"/>
                <a:cs typeface="Arial"/>
              </a:defRPr>
            </a:lvl8pPr>
            <a:lvl9pPr>
              <a:defRPr sz="2850" b="1">
                <a:solidFill>
                  <a:srgbClr val="17263E"/>
                </a:solidFill>
                <a:latin typeface="Arial"/>
                <a:ea typeface="Arial"/>
                <a:cs typeface="Arial"/>
              </a:defRPr>
            </a:lvl9pPr>
          </a:lstStyle>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Answer the questions that hold up the first purchase.</a:t>
            </a:r>
          </a:p>
        </p:txBody>
      </p:sp>
      <p:sp>
        <p:nvSpPr>
          <p:cNvPr id="3" name="">
            <a:extLst xmlns:a="http://schemas.openxmlformats.org/drawingml/2006/main">
              <a:ext uri="{FF2B5EF4-FFF2-40B4-BE49-F238E27FC236}">
                <a16:creationId xmlns:a16="http://schemas.microsoft.com/office/drawing/2014/main" id="{067A72EF-33CA-4320-8207-DCF09C7A48C7}"/>
              </a:ext>
            </a:extLst>
          </p:cNvPr>
          <p:cNvSpPr>
            <a:spLocks xmlns:a="http://schemas.openxmlformats.org/drawingml/2006/main" noGrp="1"/>
          </p:cNvSpPr>
          <p:nvPr/>
        </p:nvSpPr>
        <p:spPr>
          <a:xfrm xmlns:a="http://schemas.openxmlformats.org/drawingml/2006/main">
            <a:off x="590550" y="2009775"/>
            <a:ext cx="6143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What am I buying?</a:t>
            </a:r>
          </a:p>
        </p:txBody>
      </p:sp>
      <p:sp>
        <p:nvSpPr>
          <p:cNvPr id="4" name="">
            <a:extLst xmlns:a="http://schemas.openxmlformats.org/drawingml/2006/main">
              <a:ext uri="{FF2B5EF4-FFF2-40B4-BE49-F238E27FC236}">
                <a16:creationId xmlns:a16="http://schemas.microsoft.com/office/drawing/2014/main" id="{5E578874-52BC-473D-886F-7579B9D26C74}"/>
              </a:ext>
            </a:extLst>
          </p:cNvPr>
          <p:cNvSpPr>
            <a:spLocks xmlns:a="http://schemas.openxmlformats.org/drawingml/2006/main" noGrp="1"/>
          </p:cNvSpPr>
          <p:nvPr/>
        </p:nvSpPr>
        <p:spPr>
          <a:xfrm xmlns:a="http://schemas.openxmlformats.org/drawingml/2006/main">
            <a:off x="590550" y="2419350"/>
            <a:ext cx="61436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A stock card shows the full share price. The detail sheet explains that someone can buy a fraction from $1. Account funding and FX charges are separate.</a:t>
            </a:r>
          </a:p>
        </p:txBody>
      </p:sp>
      <p:sp>
        <p:nvSpPr>
          <p:cNvPr id="5" name="">
            <a:extLst xmlns:a="http://schemas.openxmlformats.org/drawingml/2006/main">
              <a:ext uri="{FF2B5EF4-FFF2-40B4-BE49-F238E27FC236}">
                <a16:creationId xmlns:a16="http://schemas.microsoft.com/office/drawing/2014/main" id="{62F11148-F20B-4BB1-9D81-0F39D5FD9B3B}"/>
              </a:ext>
            </a:extLst>
          </p:cNvPr>
          <p:cNvSpPr>
            <a:spLocks xmlns:a="http://schemas.openxmlformats.org/drawingml/2006/main" noGrp="1"/>
          </p:cNvSpPr>
          <p:nvPr/>
        </p:nvSpPr>
        <p:spPr>
          <a:xfrm xmlns:a="http://schemas.openxmlformats.org/drawingml/2006/main">
            <a:off x="590550" y="3619500"/>
            <a:ext cx="6143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What will it cost, and what could go wrong?</a:t>
            </a:r>
          </a:p>
        </p:txBody>
      </p:sp>
      <p:sp>
        <p:nvSpPr>
          <p:cNvPr id="6" name="">
            <a:extLst xmlns:a="http://schemas.openxmlformats.org/drawingml/2006/main">
              <a:ext uri="{FF2B5EF4-FFF2-40B4-BE49-F238E27FC236}">
                <a16:creationId xmlns:a16="http://schemas.microsoft.com/office/drawing/2014/main" id="{C253DC77-FA70-46FE-A2BF-6FD610DFBC79}"/>
              </a:ext>
            </a:extLst>
          </p:cNvPr>
          <p:cNvSpPr>
            <a:spLocks xmlns:a="http://schemas.openxmlformats.org/drawingml/2006/main" noGrp="1"/>
          </p:cNvSpPr>
          <p:nvPr/>
        </p:nvSpPr>
        <p:spPr>
          <a:xfrm xmlns:a="http://schemas.openxmlformats.org/drawingml/2006/main">
            <a:off x="590550" y="4029075"/>
            <a:ext cx="61436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Keep ownership, fees and key risks together. If a fee or minimum is missing from the source screen, say what still needs to be checked with the provider.</a:t>
            </a:r>
          </a:p>
        </p:txBody>
      </p:sp>
      <p:sp>
        <p:nvSpPr>
          <p:cNvPr id="7" name="">
            <a:extLst xmlns:a="http://schemas.openxmlformats.org/drawingml/2006/main">
              <a:ext uri="{FF2B5EF4-FFF2-40B4-BE49-F238E27FC236}">
                <a16:creationId xmlns:a16="http://schemas.microsoft.com/office/drawing/2014/main" id="{EA08F9F6-7545-4B17-BAE1-CC55F5D5C81D}"/>
              </a:ext>
            </a:extLst>
          </p:cNvPr>
          <p:cNvSpPr>
            <a:spLocks xmlns:a="http://schemas.openxmlformats.org/drawingml/2006/main" noGrp="1"/>
          </p:cNvSpPr>
          <p:nvPr/>
        </p:nvSpPr>
        <p:spPr>
          <a:xfrm xmlns:a="http://schemas.openxmlformats.org/drawingml/2006/main">
            <a:off x="590550" y="5219700"/>
            <a:ext cx="6143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What happens next?</a:t>
            </a:r>
          </a:p>
        </p:txBody>
      </p:sp>
      <p:sp>
        <p:nvSpPr>
          <p:cNvPr id="8" name="">
            <a:extLst xmlns:a="http://schemas.openxmlformats.org/drawingml/2006/main">
              <a:ext uri="{FF2B5EF4-FFF2-40B4-BE49-F238E27FC236}">
                <a16:creationId xmlns:a16="http://schemas.microsoft.com/office/drawing/2014/main" id="{9456A95F-DC06-41B3-B7AA-34ECCA7341C4}"/>
              </a:ext>
            </a:extLst>
          </p:cNvPr>
          <p:cNvSpPr>
            <a:spLocks xmlns:a="http://schemas.openxmlformats.org/drawingml/2006/main" noGrp="1"/>
          </p:cNvSpPr>
          <p:nvPr/>
        </p:nvSpPr>
        <p:spPr>
          <a:xfrm xmlns:a="http://schemas.openxmlformats.org/drawingml/2006/main">
            <a:off x="590550" y="5629275"/>
            <a:ext cx="61436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Explain verification, funding and order review before the handoff. This gives the user a concrete next step and makes the setup requirements visible.</a:t>
            </a:r>
          </a:p>
        </p:txBody>
      </p:sp>
      <p:pic>
        <p:nvPicPr>
          <p:cNvPr id="9" name="">
            <a:extLst xmlns:a="http://schemas.openxmlformats.org/drawingml/2006/main">
              <a:ext uri="{FF2B5EF4-FFF2-40B4-BE49-F238E27FC236}">
                <a16:creationId xmlns:a16="http://schemas.microsoft.com/office/drawing/2014/main" id="{1B1578D8-42CD-4BEE-8436-B5C3B877EEC8}"/>
              </a:ext>
            </a:extLst>
          </p:cNvPr>
          <p:cNvPicPr>
            <a:picLocks xmlns:a="http://schemas.openxmlformats.org/drawingml/2006/main" noChangeAspect="1"/>
          </p:cNvPicPr>
          <p:nvPr/>
        </p:nvPicPr>
        <p:blipFill>
          <a:blip xmlns:r="http://schemas.openxmlformats.org/officeDocument/2006/relationships" xmlns:a="http://schemas.openxmlformats.org/drawingml/2006/main" r:embed="Rfa54769571b343e2"/>
          <a:stretch xmlns:a="http://schemas.openxmlformats.org/drawingml/2006/main"/>
        </p:blipFill>
        <p:spPr>
          <a:xfrm xmlns:a="http://schemas.openxmlformats.org/drawingml/2006/main">
            <a:off x="8343900" y="1735479"/>
            <a:ext cx="2124075" cy="4596716"/>
          </a:xfrm>
          <a:prstGeom xmlns:a="http://schemas.openxmlformats.org/drawingml/2006/main" prst="rect">
            <a:avLst/>
          </a:prstGeom>
        </p:spPr>
      </p:pic>
    </p:spTree>
    <p:extLst>
      <p:ext uri="{BB962C8B-B14F-4D97-AF65-F5344CB8AC3E}">
        <p14:creationId xmlns:p14="http://schemas.microsoft.com/office/powerpoint/2010/main" val="1644915656"/>
      </p:ext>
    </p:extLst>
  </p:cSld>
</p:sld>
</file>

<file path=ppt/slides/slide4.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949BAA0-374D-4099-AD42-471236112F48}"/>
              </a:ext>
            </a:extLst>
          </p:cNvPr>
          <p:cNvSpPr>
            <a:spLocks xmlns:a="http://schemas.openxmlformats.org/drawingml/2006/main" noGrp="1"/>
          </p:cNvSpPr>
          <p:nvPr/>
        </p:nvSpPr>
        <p:spPr>
          <a:xfrm xmlns:a="http://schemas.openxmlformats.org/drawingml/2006/main">
            <a:off x="590550" y="276225"/>
            <a:ext cx="10858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28369F"/>
                </a:solidFill>
                <a:latin typeface="Arial"/>
                <a:ea typeface="Arial"/>
                <a:cs typeface="Arial"/>
              </a:defRPr>
            </a:defPPr>
            <a:lvl1pPr>
              <a:defRPr sz="975" b="1">
                <a:solidFill>
                  <a:srgbClr val="28369F"/>
                </a:solidFill>
                <a:latin typeface="Arial"/>
                <a:ea typeface="Arial"/>
                <a:cs typeface="Arial"/>
              </a:defRPr>
            </a:lvl1pPr>
            <a:lvl2pPr>
              <a:defRPr sz="975" b="1">
                <a:solidFill>
                  <a:srgbClr val="28369F"/>
                </a:solidFill>
                <a:latin typeface="Arial"/>
                <a:ea typeface="Arial"/>
                <a:cs typeface="Arial"/>
              </a:defRPr>
            </a:lvl2pPr>
            <a:lvl3pPr>
              <a:defRPr sz="975" b="1">
                <a:solidFill>
                  <a:srgbClr val="28369F"/>
                </a:solidFill>
                <a:latin typeface="Arial"/>
                <a:ea typeface="Arial"/>
                <a:cs typeface="Arial"/>
              </a:defRPr>
            </a:lvl3pPr>
            <a:lvl4pPr>
              <a:defRPr sz="975" b="1">
                <a:solidFill>
                  <a:srgbClr val="28369F"/>
                </a:solidFill>
                <a:latin typeface="Arial"/>
                <a:ea typeface="Arial"/>
                <a:cs typeface="Arial"/>
              </a:defRPr>
            </a:lvl4pPr>
            <a:lvl5pPr>
              <a:defRPr sz="975" b="1">
                <a:solidFill>
                  <a:srgbClr val="28369F"/>
                </a:solidFill>
                <a:latin typeface="Arial"/>
                <a:ea typeface="Arial"/>
                <a:cs typeface="Arial"/>
              </a:defRPr>
            </a:lvl5pPr>
            <a:lvl6pPr>
              <a:defRPr sz="975" b="1">
                <a:solidFill>
                  <a:srgbClr val="28369F"/>
                </a:solidFill>
                <a:latin typeface="Arial"/>
                <a:ea typeface="Arial"/>
                <a:cs typeface="Arial"/>
              </a:defRPr>
            </a:lvl6pPr>
            <a:lvl7pPr>
              <a:defRPr sz="975" b="1">
                <a:solidFill>
                  <a:srgbClr val="28369F"/>
                </a:solidFill>
                <a:latin typeface="Arial"/>
                <a:ea typeface="Arial"/>
                <a:cs typeface="Arial"/>
              </a:defRPr>
            </a:lvl7pPr>
            <a:lvl8pPr>
              <a:defRPr sz="975" b="1">
                <a:solidFill>
                  <a:srgbClr val="28369F"/>
                </a:solidFill>
                <a:latin typeface="Arial"/>
                <a:ea typeface="Arial"/>
                <a:cs typeface="Arial"/>
              </a:defRPr>
            </a:lvl8pPr>
            <a:lvl9pPr>
              <a:defRPr sz="975" b="1">
                <a:solidFill>
                  <a:srgbClr val="28369F"/>
                </a:solidFill>
                <a:latin typeface="Arial"/>
                <a:ea typeface="Arial"/>
                <a:cs typeface="Arial"/>
              </a:defRPr>
            </a:lvl9pPr>
          </a:lstStyle>
          <a:p xmlns:a="http://schemas.openxmlformats.org/drawingml/2006/main">
            <a:pPr>
              <a:defRPr sz="975" b="1">
                <a:solidFill>
                  <a:srgbClr val="28369F"/>
                </a:solidFill>
                <a:latin typeface="Arial"/>
                <a:ea typeface="Arial"/>
                <a:cs typeface="Arial"/>
              </a:defRPr>
            </a:pPr>
            <a:r>
              <a:rPr sz="975" b="1">
                <a:solidFill>
                  <a:srgbClr val="28369F"/>
                </a:solidFill>
                <a:latin typeface="Arial"/>
                <a:ea typeface="Arial"/>
                <a:cs typeface="Arial"/>
              </a:rPr>
              <a:t>Appendix / The hypothesis and its limits</a:t>
            </a:r>
          </a:p>
        </p:txBody>
      </p:sp>
      <p:sp>
        <p:nvSpPr>
          <p:cNvPr id="2" name="">
            <a:extLst xmlns:a="http://schemas.openxmlformats.org/drawingml/2006/main">
              <a:ext uri="{FF2B5EF4-FFF2-40B4-BE49-F238E27FC236}">
                <a16:creationId xmlns:a16="http://schemas.microsoft.com/office/drawing/2014/main" id="{83FD46A2-3483-48DA-8CCE-7D3871B7D847}"/>
              </a:ext>
            </a:extLst>
          </p:cNvPr>
          <p:cNvSpPr>
            <a:spLocks xmlns:a="http://schemas.openxmlformats.org/drawingml/2006/main" noGrp="1"/>
          </p:cNvSpPr>
          <p:nvPr/>
        </p:nvSpPr>
        <p:spPr>
          <a:xfrm xmlns:a="http://schemas.openxmlformats.org/drawingml/2006/main">
            <a:off x="590550" y="742950"/>
            <a:ext cx="10953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63E"/>
                </a:solidFill>
                <a:latin typeface="Arial"/>
                <a:ea typeface="Arial"/>
                <a:cs typeface="Arial"/>
              </a:defRPr>
            </a:defPPr>
            <a:lvl1pPr>
              <a:defRPr sz="2850" b="1">
                <a:solidFill>
                  <a:srgbClr val="17263E"/>
                </a:solidFill>
                <a:latin typeface="Arial"/>
                <a:ea typeface="Arial"/>
                <a:cs typeface="Arial"/>
              </a:defRPr>
            </a:lvl1pPr>
            <a:lvl2pPr>
              <a:defRPr sz="2850" b="1">
                <a:solidFill>
                  <a:srgbClr val="17263E"/>
                </a:solidFill>
                <a:latin typeface="Arial"/>
                <a:ea typeface="Arial"/>
                <a:cs typeface="Arial"/>
              </a:defRPr>
            </a:lvl2pPr>
            <a:lvl3pPr>
              <a:defRPr sz="2850" b="1">
                <a:solidFill>
                  <a:srgbClr val="17263E"/>
                </a:solidFill>
                <a:latin typeface="Arial"/>
                <a:ea typeface="Arial"/>
                <a:cs typeface="Arial"/>
              </a:defRPr>
            </a:lvl3pPr>
            <a:lvl4pPr>
              <a:defRPr sz="2850" b="1">
                <a:solidFill>
                  <a:srgbClr val="17263E"/>
                </a:solidFill>
                <a:latin typeface="Arial"/>
                <a:ea typeface="Arial"/>
                <a:cs typeface="Arial"/>
              </a:defRPr>
            </a:lvl4pPr>
            <a:lvl5pPr>
              <a:defRPr sz="2850" b="1">
                <a:solidFill>
                  <a:srgbClr val="17263E"/>
                </a:solidFill>
                <a:latin typeface="Arial"/>
                <a:ea typeface="Arial"/>
                <a:cs typeface="Arial"/>
              </a:defRPr>
            </a:lvl5pPr>
            <a:lvl6pPr>
              <a:defRPr sz="2850" b="1">
                <a:solidFill>
                  <a:srgbClr val="17263E"/>
                </a:solidFill>
                <a:latin typeface="Arial"/>
                <a:ea typeface="Arial"/>
                <a:cs typeface="Arial"/>
              </a:defRPr>
            </a:lvl6pPr>
            <a:lvl7pPr>
              <a:defRPr sz="2850" b="1">
                <a:solidFill>
                  <a:srgbClr val="17263E"/>
                </a:solidFill>
                <a:latin typeface="Arial"/>
                <a:ea typeface="Arial"/>
                <a:cs typeface="Arial"/>
              </a:defRPr>
            </a:lvl7pPr>
            <a:lvl8pPr>
              <a:defRPr sz="2850" b="1">
                <a:solidFill>
                  <a:srgbClr val="17263E"/>
                </a:solidFill>
                <a:latin typeface="Arial"/>
                <a:ea typeface="Arial"/>
                <a:cs typeface="Arial"/>
              </a:defRPr>
            </a:lvl8pPr>
            <a:lvl9pPr>
              <a:defRPr sz="2850" b="1">
                <a:solidFill>
                  <a:srgbClr val="17263E"/>
                </a:solidFill>
                <a:latin typeface="Arial"/>
                <a:ea typeface="Arial"/>
                <a:cs typeface="Arial"/>
              </a:defRPr>
            </a:lvl9pPr>
          </a:lstStyle>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Why this is worth testing</a:t>
            </a:r>
          </a:p>
        </p:txBody>
      </p:sp>
      <p:sp>
        <p:nvSpPr>
          <p:cNvPr id="3" name="">
            <a:extLst xmlns:a="http://schemas.openxmlformats.org/drawingml/2006/main">
              <a:ext uri="{FF2B5EF4-FFF2-40B4-BE49-F238E27FC236}">
                <a16:creationId xmlns:a16="http://schemas.microsoft.com/office/drawing/2014/main" id="{88D942F8-1146-4623-B754-CAA6D5E07477}"/>
              </a:ext>
            </a:extLst>
          </p:cNvPr>
          <p:cNvSpPr>
            <a:spLocks xmlns:a="http://schemas.openxmlformats.org/drawingml/2006/main" noGrp="1"/>
          </p:cNvSpPr>
          <p:nvPr/>
        </p:nvSpPr>
        <p:spPr>
          <a:xfrm xmlns:a="http://schemas.openxmlformats.org/drawingml/2006/main">
            <a:off x="590550" y="1666875"/>
            <a:ext cx="10906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263E"/>
                </a:solidFill>
                <a:latin typeface="Arial"/>
                <a:ea typeface="Arial"/>
                <a:cs typeface="Arial"/>
              </a:defRPr>
            </a:defPPr>
            <a:lvl1pPr>
              <a:defRPr sz="2025" b="1">
                <a:solidFill>
                  <a:srgbClr val="17263E"/>
                </a:solidFill>
                <a:latin typeface="Arial"/>
                <a:ea typeface="Arial"/>
                <a:cs typeface="Arial"/>
              </a:defRPr>
            </a:lvl1pPr>
            <a:lvl2pPr>
              <a:defRPr sz="2025" b="1">
                <a:solidFill>
                  <a:srgbClr val="17263E"/>
                </a:solidFill>
                <a:latin typeface="Arial"/>
                <a:ea typeface="Arial"/>
                <a:cs typeface="Arial"/>
              </a:defRPr>
            </a:lvl2pPr>
            <a:lvl3pPr>
              <a:defRPr sz="2025" b="1">
                <a:solidFill>
                  <a:srgbClr val="17263E"/>
                </a:solidFill>
                <a:latin typeface="Arial"/>
                <a:ea typeface="Arial"/>
                <a:cs typeface="Arial"/>
              </a:defRPr>
            </a:lvl3pPr>
            <a:lvl4pPr>
              <a:defRPr sz="2025" b="1">
                <a:solidFill>
                  <a:srgbClr val="17263E"/>
                </a:solidFill>
                <a:latin typeface="Arial"/>
                <a:ea typeface="Arial"/>
                <a:cs typeface="Arial"/>
              </a:defRPr>
            </a:lvl4pPr>
            <a:lvl5pPr>
              <a:defRPr sz="2025" b="1">
                <a:solidFill>
                  <a:srgbClr val="17263E"/>
                </a:solidFill>
                <a:latin typeface="Arial"/>
                <a:ea typeface="Arial"/>
                <a:cs typeface="Arial"/>
              </a:defRPr>
            </a:lvl5pPr>
            <a:lvl6pPr>
              <a:defRPr sz="2025" b="1">
                <a:solidFill>
                  <a:srgbClr val="17263E"/>
                </a:solidFill>
                <a:latin typeface="Arial"/>
                <a:ea typeface="Arial"/>
                <a:cs typeface="Arial"/>
              </a:defRPr>
            </a:lvl6pPr>
            <a:lvl7pPr>
              <a:defRPr sz="2025" b="1">
                <a:solidFill>
                  <a:srgbClr val="17263E"/>
                </a:solidFill>
                <a:latin typeface="Arial"/>
                <a:ea typeface="Arial"/>
                <a:cs typeface="Arial"/>
              </a:defRPr>
            </a:lvl7pPr>
            <a:lvl8pPr>
              <a:defRPr sz="2025" b="1">
                <a:solidFill>
                  <a:srgbClr val="17263E"/>
                </a:solidFill>
                <a:latin typeface="Arial"/>
                <a:ea typeface="Arial"/>
                <a:cs typeface="Arial"/>
              </a:defRPr>
            </a:lvl8pPr>
            <a:lvl9pPr>
              <a:defRPr sz="2025" b="1">
                <a:solidFill>
                  <a:srgbClr val="17263E"/>
                </a:solidFill>
                <a:latin typeface="Arial"/>
                <a:ea typeface="Arial"/>
                <a:cs typeface="Arial"/>
              </a:defRPr>
            </a:lvl9pPr>
          </a:lstStyle>
          <a:p xmlns:a="http://schemas.openxmlformats.org/drawingml/2006/main">
            <a:pPr>
              <a:defRPr sz="2025" b="1">
                <a:solidFill>
                  <a:srgbClr val="17263E"/>
                </a:solidFill>
                <a:latin typeface="Arial"/>
                <a:ea typeface="Arial"/>
                <a:cs typeface="Arial"/>
              </a:defRPr>
            </a:pPr>
            <a:r>
              <a:rPr sz="2025" b="1">
                <a:solidFill>
                  <a:srgbClr val="17263E"/>
                </a:solidFill>
                <a:latin typeface="Arial"/>
                <a:ea typeface="Arial"/>
                <a:cs typeface="Arial"/>
              </a:rPr>
              <a:t>If people can find an accessible option near the top and understand the costs, risks and next step, more should be able to complete a first investment without a call.</a:t>
            </a:r>
          </a:p>
        </p:txBody>
      </p:sp>
      <p:sp>
        <p:nvSpPr>
          <p:cNvPr id="4" name="">
            <a:extLst xmlns:a="http://schemas.openxmlformats.org/drawingml/2006/main">
              <a:ext uri="{FF2B5EF4-FFF2-40B4-BE49-F238E27FC236}">
                <a16:creationId xmlns:a16="http://schemas.microsoft.com/office/drawing/2014/main" id="{4DF790BB-7FDF-414C-B0D0-A436736DDED1}"/>
              </a:ext>
            </a:extLst>
          </p:cNvPr>
          <p:cNvSpPr>
            <a:spLocks xmlns:a="http://schemas.openxmlformats.org/drawingml/2006/main" noGrp="1"/>
          </p:cNvSpPr>
          <p:nvPr/>
        </p:nvSpPr>
        <p:spPr>
          <a:xfrm xmlns:a="http://schemas.openxmlformats.org/drawingml/2006/main">
            <a:off x="590550" y="2809875"/>
            <a:ext cx="5095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What the Android research tells us</a:t>
            </a:r>
          </a:p>
        </p:txBody>
      </p:sp>
      <p:sp>
        <p:nvSpPr>
          <p:cNvPr id="5" name="">
            <a:extLst xmlns:a="http://schemas.openxmlformats.org/drawingml/2006/main">
              <a:ext uri="{FF2B5EF4-FFF2-40B4-BE49-F238E27FC236}">
                <a16:creationId xmlns:a16="http://schemas.microsoft.com/office/drawing/2014/main" id="{95917513-9E5C-4A36-83FF-2C672009E2A2}"/>
              </a:ext>
            </a:extLst>
          </p:cNvPr>
          <p:cNvSpPr>
            <a:spLocks xmlns:a="http://schemas.openxmlformats.org/drawingml/2006/main" noGrp="1"/>
          </p:cNvSpPr>
          <p:nvPr/>
        </p:nvSpPr>
        <p:spPr>
          <a:xfrm xmlns:a="http://schemas.openxmlformats.org/drawingml/2006/main">
            <a:off x="590550" y="3238500"/>
            <a:ext cx="5095875"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17263E"/>
                </a:solidFill>
                <a:latin typeface="Arial"/>
                <a:ea typeface="Arial"/>
                <a:cs typeface="Arial"/>
              </a:defRPr>
            </a:defPPr>
            <a:lvl1pPr>
              <a:defRPr sz="1575" b="0">
                <a:solidFill>
                  <a:srgbClr val="17263E"/>
                </a:solidFill>
                <a:latin typeface="Arial"/>
                <a:ea typeface="Arial"/>
                <a:cs typeface="Arial"/>
              </a:defRPr>
            </a:lvl1pPr>
            <a:lvl2pPr>
              <a:defRPr sz="1575" b="0">
                <a:solidFill>
                  <a:srgbClr val="17263E"/>
                </a:solidFill>
                <a:latin typeface="Arial"/>
                <a:ea typeface="Arial"/>
                <a:cs typeface="Arial"/>
              </a:defRPr>
            </a:lvl2pPr>
            <a:lvl3pPr>
              <a:defRPr sz="1575" b="0">
                <a:solidFill>
                  <a:srgbClr val="17263E"/>
                </a:solidFill>
                <a:latin typeface="Arial"/>
                <a:ea typeface="Arial"/>
                <a:cs typeface="Arial"/>
              </a:defRPr>
            </a:lvl3pPr>
            <a:lvl4pPr>
              <a:defRPr sz="1575" b="0">
                <a:solidFill>
                  <a:srgbClr val="17263E"/>
                </a:solidFill>
                <a:latin typeface="Arial"/>
                <a:ea typeface="Arial"/>
                <a:cs typeface="Arial"/>
              </a:defRPr>
            </a:lvl4pPr>
            <a:lvl5pPr>
              <a:defRPr sz="1575" b="0">
                <a:solidFill>
                  <a:srgbClr val="17263E"/>
                </a:solidFill>
                <a:latin typeface="Arial"/>
                <a:ea typeface="Arial"/>
                <a:cs typeface="Arial"/>
              </a:defRPr>
            </a:lvl5pPr>
            <a:lvl6pPr>
              <a:defRPr sz="1575" b="0">
                <a:solidFill>
                  <a:srgbClr val="17263E"/>
                </a:solidFill>
                <a:latin typeface="Arial"/>
                <a:ea typeface="Arial"/>
                <a:cs typeface="Arial"/>
              </a:defRPr>
            </a:lvl6pPr>
            <a:lvl7pPr>
              <a:defRPr sz="1575" b="0">
                <a:solidFill>
                  <a:srgbClr val="17263E"/>
                </a:solidFill>
                <a:latin typeface="Arial"/>
                <a:ea typeface="Arial"/>
                <a:cs typeface="Arial"/>
              </a:defRPr>
            </a:lvl7pPr>
            <a:lvl8pPr>
              <a:defRPr sz="1575" b="0">
                <a:solidFill>
                  <a:srgbClr val="17263E"/>
                </a:solidFill>
                <a:latin typeface="Arial"/>
                <a:ea typeface="Arial"/>
                <a:cs typeface="Arial"/>
              </a:defRPr>
            </a:lvl8pPr>
            <a:lvl9pPr>
              <a:defRPr sz="1575" b="0">
                <a:solidFill>
                  <a:srgbClr val="17263E"/>
                </a:solidFill>
                <a:latin typeface="Arial"/>
                <a:ea typeface="Arial"/>
                <a:cs typeface="Arial"/>
              </a:defRPr>
            </a:lvl9pPr>
          </a:lstStyle>
          <a:p xmlns:a="http://schemas.openxmlformats.org/drawingml/2006/main">
            <a:pPr>
              <a:defRPr sz="1575" b="0">
                <a:solidFill>
                  <a:srgbClr val="17263E"/>
                </a:solidFill>
                <a:latin typeface="Arial"/>
                <a:ea typeface="Arial"/>
                <a:cs typeface="Arial"/>
              </a:defRPr>
            </a:pPr>
            <a:r>
              <a:rPr sz="1575" b="0">
                <a:solidFill>
                  <a:srgbClr val="17263E"/>
                </a:solidFill>
                <a:latin typeface="Arial"/>
                <a:ea typeface="Arial"/>
                <a:cs typeface="Arial"/>
              </a:rPr>
              <a:t>A study of 145 students on Android 10 phones and tablets found that paging led to more revisiting of earlier information than scrolling. This gives us a reason to make comparison and returning to a product easier.</a:t>
            </a:r>
          </a:p>
        </p:txBody>
      </p:sp>
      <p:sp>
        <p:nvSpPr>
          <p:cNvPr id="6" name="">
            <a:extLst xmlns:a="http://schemas.openxmlformats.org/drawingml/2006/main">
              <a:ext uri="{FF2B5EF4-FFF2-40B4-BE49-F238E27FC236}">
                <a16:creationId xmlns:a16="http://schemas.microsoft.com/office/drawing/2014/main" id="{5E1D704B-9827-4061-B2BA-05EBCA732AFE}"/>
              </a:ext>
            </a:extLst>
          </p:cNvPr>
          <p:cNvSpPr>
            <a:spLocks xmlns:a="http://schemas.openxmlformats.org/drawingml/2006/main" noGrp="1"/>
          </p:cNvSpPr>
          <p:nvPr/>
        </p:nvSpPr>
        <p:spPr>
          <a:xfrm xmlns:a="http://schemas.openxmlformats.org/drawingml/2006/main">
            <a:off x="590550" y="4638675"/>
            <a:ext cx="50958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8677E"/>
                </a:solidFill>
                <a:latin typeface="Arial"/>
                <a:ea typeface="Arial"/>
                <a:cs typeface="Arial"/>
              </a:defRPr>
            </a:defPPr>
            <a:lvl1pPr>
              <a:defRPr sz="1275" b="0">
                <a:solidFill>
                  <a:srgbClr val="58677E"/>
                </a:solidFill>
                <a:latin typeface="Arial"/>
                <a:ea typeface="Arial"/>
                <a:cs typeface="Arial"/>
              </a:defRPr>
            </a:lvl1pPr>
            <a:lvl2pPr>
              <a:defRPr sz="1275" b="0">
                <a:solidFill>
                  <a:srgbClr val="58677E"/>
                </a:solidFill>
                <a:latin typeface="Arial"/>
                <a:ea typeface="Arial"/>
                <a:cs typeface="Arial"/>
              </a:defRPr>
            </a:lvl2pPr>
            <a:lvl3pPr>
              <a:defRPr sz="1275" b="0">
                <a:solidFill>
                  <a:srgbClr val="58677E"/>
                </a:solidFill>
                <a:latin typeface="Arial"/>
                <a:ea typeface="Arial"/>
                <a:cs typeface="Arial"/>
              </a:defRPr>
            </a:lvl3pPr>
            <a:lvl4pPr>
              <a:defRPr sz="1275" b="0">
                <a:solidFill>
                  <a:srgbClr val="58677E"/>
                </a:solidFill>
                <a:latin typeface="Arial"/>
                <a:ea typeface="Arial"/>
                <a:cs typeface="Arial"/>
              </a:defRPr>
            </a:lvl4pPr>
            <a:lvl5pPr>
              <a:defRPr sz="1275" b="0">
                <a:solidFill>
                  <a:srgbClr val="58677E"/>
                </a:solidFill>
                <a:latin typeface="Arial"/>
                <a:ea typeface="Arial"/>
                <a:cs typeface="Arial"/>
              </a:defRPr>
            </a:lvl5pPr>
            <a:lvl6pPr>
              <a:defRPr sz="1275" b="0">
                <a:solidFill>
                  <a:srgbClr val="58677E"/>
                </a:solidFill>
                <a:latin typeface="Arial"/>
                <a:ea typeface="Arial"/>
                <a:cs typeface="Arial"/>
              </a:defRPr>
            </a:lvl6pPr>
            <a:lvl7pPr>
              <a:defRPr sz="1275" b="0">
                <a:solidFill>
                  <a:srgbClr val="58677E"/>
                </a:solidFill>
                <a:latin typeface="Arial"/>
                <a:ea typeface="Arial"/>
                <a:cs typeface="Arial"/>
              </a:defRPr>
            </a:lvl7pPr>
            <a:lvl8pPr>
              <a:defRPr sz="1275" b="0">
                <a:solidFill>
                  <a:srgbClr val="58677E"/>
                </a:solidFill>
                <a:latin typeface="Arial"/>
                <a:ea typeface="Arial"/>
                <a:cs typeface="Arial"/>
              </a:defRPr>
            </a:lvl8pPr>
            <a:lvl9pPr>
              <a:defRPr sz="1275" b="0">
                <a:solidFill>
                  <a:srgbClr val="58677E"/>
                </a:solidFill>
                <a:latin typeface="Arial"/>
                <a:ea typeface="Arial"/>
                <a:cs typeface="Arial"/>
              </a:defRPr>
            </a:lvl9pPr>
          </a:lstStyle>
          <a:p xmlns:a="http://schemas.openxmlformats.org/drawingml/2006/main">
            <a:pPr>
              <a:defRPr sz="1275" b="0">
                <a:solidFill>
                  <a:srgbClr val="58677E"/>
                </a:solidFill>
                <a:latin typeface="Arial"/>
                <a:ea typeface="Arial"/>
                <a:cs typeface="Arial"/>
              </a:defRPr>
            </a:pPr>
            <a:r>
              <a:rPr sz="1275" b="0">
                <a:solidFill>
                  <a:srgbClr val="58677E"/>
                </a:solidFill>
                <a:latin typeface="Arial"/>
                <a:ea typeface="Arial"/>
                <a:cs typeface="Arial"/>
              </a:rPr>
              <a:t>The study examined reading. It does not establish an Ionic scroll drop-off rate or a universal two-screen limit.</a:t>
            </a:r>
          </a:p>
        </p:txBody>
      </p:sp>
      <p:sp>
        <p:nvSpPr>
          <p:cNvPr id="7" name="">
            <a:extLst xmlns:a="http://schemas.openxmlformats.org/drawingml/2006/main">
              <a:ext uri="{FF2B5EF4-FFF2-40B4-BE49-F238E27FC236}">
                <a16:creationId xmlns:a16="http://schemas.microsoft.com/office/drawing/2014/main" id="{006F2F7D-5F2A-42D9-AFAF-178948B6673E}"/>
              </a:ext>
            </a:extLst>
          </p:cNvPr>
          <p:cNvSpPr>
            <a:spLocks xmlns:a="http://schemas.openxmlformats.org/drawingml/2006/main" noGrp="1"/>
          </p:cNvSpPr>
          <p:nvPr/>
        </p:nvSpPr>
        <p:spPr>
          <a:xfrm xmlns:a="http://schemas.openxmlformats.org/drawingml/2006/main">
            <a:off x="6572250" y="2809875"/>
            <a:ext cx="5000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What investment research adds</a:t>
            </a:r>
          </a:p>
        </p:txBody>
      </p:sp>
      <p:sp>
        <p:nvSpPr>
          <p:cNvPr id="8" name="">
            <a:extLst xmlns:a="http://schemas.openxmlformats.org/drawingml/2006/main">
              <a:ext uri="{FF2B5EF4-FFF2-40B4-BE49-F238E27FC236}">
                <a16:creationId xmlns:a16="http://schemas.microsoft.com/office/drawing/2014/main" id="{AE5920A2-A112-4A25-B068-26A1352012F4}"/>
              </a:ext>
            </a:extLst>
          </p:cNvPr>
          <p:cNvSpPr>
            <a:spLocks xmlns:a="http://schemas.openxmlformats.org/drawingml/2006/main" noGrp="1"/>
          </p:cNvSpPr>
          <p:nvPr/>
        </p:nvSpPr>
        <p:spPr>
          <a:xfrm xmlns:a="http://schemas.openxmlformats.org/drawingml/2006/main">
            <a:off x="6572250" y="3238500"/>
            <a:ext cx="5000625"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17263E"/>
                </a:solidFill>
                <a:latin typeface="Arial"/>
                <a:ea typeface="Arial"/>
                <a:cs typeface="Arial"/>
              </a:defRPr>
            </a:defPPr>
            <a:lvl1pPr>
              <a:defRPr sz="1575" b="0">
                <a:solidFill>
                  <a:srgbClr val="17263E"/>
                </a:solidFill>
                <a:latin typeface="Arial"/>
                <a:ea typeface="Arial"/>
                <a:cs typeface="Arial"/>
              </a:defRPr>
            </a:lvl1pPr>
            <a:lvl2pPr>
              <a:defRPr sz="1575" b="0">
                <a:solidFill>
                  <a:srgbClr val="17263E"/>
                </a:solidFill>
                <a:latin typeface="Arial"/>
                <a:ea typeface="Arial"/>
                <a:cs typeface="Arial"/>
              </a:defRPr>
            </a:lvl2pPr>
            <a:lvl3pPr>
              <a:defRPr sz="1575" b="0">
                <a:solidFill>
                  <a:srgbClr val="17263E"/>
                </a:solidFill>
                <a:latin typeface="Arial"/>
                <a:ea typeface="Arial"/>
                <a:cs typeface="Arial"/>
              </a:defRPr>
            </a:lvl3pPr>
            <a:lvl4pPr>
              <a:defRPr sz="1575" b="0">
                <a:solidFill>
                  <a:srgbClr val="17263E"/>
                </a:solidFill>
                <a:latin typeface="Arial"/>
                <a:ea typeface="Arial"/>
                <a:cs typeface="Arial"/>
              </a:defRPr>
            </a:lvl4pPr>
            <a:lvl5pPr>
              <a:defRPr sz="1575" b="0">
                <a:solidFill>
                  <a:srgbClr val="17263E"/>
                </a:solidFill>
                <a:latin typeface="Arial"/>
                <a:ea typeface="Arial"/>
                <a:cs typeface="Arial"/>
              </a:defRPr>
            </a:lvl5pPr>
            <a:lvl6pPr>
              <a:defRPr sz="1575" b="0">
                <a:solidFill>
                  <a:srgbClr val="17263E"/>
                </a:solidFill>
                <a:latin typeface="Arial"/>
                <a:ea typeface="Arial"/>
                <a:cs typeface="Arial"/>
              </a:defRPr>
            </a:lvl6pPr>
            <a:lvl7pPr>
              <a:defRPr sz="1575" b="0">
                <a:solidFill>
                  <a:srgbClr val="17263E"/>
                </a:solidFill>
                <a:latin typeface="Arial"/>
                <a:ea typeface="Arial"/>
                <a:cs typeface="Arial"/>
              </a:defRPr>
            </a:lvl7pPr>
            <a:lvl8pPr>
              <a:defRPr sz="1575" b="0">
                <a:solidFill>
                  <a:srgbClr val="17263E"/>
                </a:solidFill>
                <a:latin typeface="Arial"/>
                <a:ea typeface="Arial"/>
                <a:cs typeface="Arial"/>
              </a:defRPr>
            </a:lvl8pPr>
            <a:lvl9pPr>
              <a:defRPr sz="1575" b="0">
                <a:solidFill>
                  <a:srgbClr val="17263E"/>
                </a:solidFill>
                <a:latin typeface="Arial"/>
                <a:ea typeface="Arial"/>
                <a:cs typeface="Arial"/>
              </a:defRPr>
            </a:lvl9pPr>
          </a:lstStyle>
          <a:p xmlns:a="http://schemas.openxmlformats.org/drawingml/2006/main">
            <a:pPr>
              <a:defRPr sz="1575" b="0">
                <a:solidFill>
                  <a:srgbClr val="17263E"/>
                </a:solidFill>
                <a:latin typeface="Arial"/>
                <a:ea typeface="Arial"/>
                <a:cs typeface="Arial"/>
              </a:defRPr>
            </a:pPr>
            <a:r>
              <a:rPr sz="1575" b="0">
                <a:solidFill>
                  <a:srgbClr val="17263E"/>
                </a:solidFill>
                <a:latin typeface="Arial"/>
                <a:ea typeface="Arial"/>
                <a:cs typeface="Arial"/>
              </a:rPr>
              <a:t>Iyengar and Kamenica found that larger choice sets increased preference for simpler options in experiments and US retirement-plan data. That supports making the first choice easier to understand.</a:t>
            </a:r>
          </a:p>
        </p:txBody>
      </p:sp>
      <p:sp>
        <p:nvSpPr>
          <p:cNvPr id="9" name="">
            <a:extLst xmlns:a="http://schemas.openxmlformats.org/drawingml/2006/main">
              <a:ext uri="{FF2B5EF4-FFF2-40B4-BE49-F238E27FC236}">
                <a16:creationId xmlns:a16="http://schemas.microsoft.com/office/drawing/2014/main" id="{EBB27846-2AD4-40CE-9891-77D6501430A5}"/>
              </a:ext>
            </a:extLst>
          </p:cNvPr>
          <p:cNvSpPr>
            <a:spLocks xmlns:a="http://schemas.openxmlformats.org/drawingml/2006/main" noGrp="1"/>
          </p:cNvSpPr>
          <p:nvPr/>
        </p:nvSpPr>
        <p:spPr>
          <a:xfrm xmlns:a="http://schemas.openxmlformats.org/drawingml/2006/main">
            <a:off x="6572250" y="4638675"/>
            <a:ext cx="5000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8677E"/>
                </a:solidFill>
                <a:latin typeface="Arial"/>
                <a:ea typeface="Arial"/>
                <a:cs typeface="Arial"/>
              </a:defRPr>
            </a:defPPr>
            <a:lvl1pPr>
              <a:defRPr sz="1275" b="0">
                <a:solidFill>
                  <a:srgbClr val="58677E"/>
                </a:solidFill>
                <a:latin typeface="Arial"/>
                <a:ea typeface="Arial"/>
                <a:cs typeface="Arial"/>
              </a:defRPr>
            </a:lvl1pPr>
            <a:lvl2pPr>
              <a:defRPr sz="1275" b="0">
                <a:solidFill>
                  <a:srgbClr val="58677E"/>
                </a:solidFill>
                <a:latin typeface="Arial"/>
                <a:ea typeface="Arial"/>
                <a:cs typeface="Arial"/>
              </a:defRPr>
            </a:lvl2pPr>
            <a:lvl3pPr>
              <a:defRPr sz="1275" b="0">
                <a:solidFill>
                  <a:srgbClr val="58677E"/>
                </a:solidFill>
                <a:latin typeface="Arial"/>
                <a:ea typeface="Arial"/>
                <a:cs typeface="Arial"/>
              </a:defRPr>
            </a:lvl3pPr>
            <a:lvl4pPr>
              <a:defRPr sz="1275" b="0">
                <a:solidFill>
                  <a:srgbClr val="58677E"/>
                </a:solidFill>
                <a:latin typeface="Arial"/>
                <a:ea typeface="Arial"/>
                <a:cs typeface="Arial"/>
              </a:defRPr>
            </a:lvl4pPr>
            <a:lvl5pPr>
              <a:defRPr sz="1275" b="0">
                <a:solidFill>
                  <a:srgbClr val="58677E"/>
                </a:solidFill>
                <a:latin typeface="Arial"/>
                <a:ea typeface="Arial"/>
                <a:cs typeface="Arial"/>
              </a:defRPr>
            </a:lvl5pPr>
            <a:lvl6pPr>
              <a:defRPr sz="1275" b="0">
                <a:solidFill>
                  <a:srgbClr val="58677E"/>
                </a:solidFill>
                <a:latin typeface="Arial"/>
                <a:ea typeface="Arial"/>
                <a:cs typeface="Arial"/>
              </a:defRPr>
            </a:lvl6pPr>
            <a:lvl7pPr>
              <a:defRPr sz="1275" b="0">
                <a:solidFill>
                  <a:srgbClr val="58677E"/>
                </a:solidFill>
                <a:latin typeface="Arial"/>
                <a:ea typeface="Arial"/>
                <a:cs typeface="Arial"/>
              </a:defRPr>
            </a:lvl7pPr>
            <a:lvl8pPr>
              <a:defRPr sz="1275" b="0">
                <a:solidFill>
                  <a:srgbClr val="58677E"/>
                </a:solidFill>
                <a:latin typeface="Arial"/>
                <a:ea typeface="Arial"/>
                <a:cs typeface="Arial"/>
              </a:defRPr>
            </a:lvl8pPr>
            <a:lvl9pPr>
              <a:defRPr sz="1275" b="0">
                <a:solidFill>
                  <a:srgbClr val="58677E"/>
                </a:solidFill>
                <a:latin typeface="Arial"/>
                <a:ea typeface="Arial"/>
                <a:cs typeface="Arial"/>
              </a:defRPr>
            </a:lvl9pPr>
          </a:lstStyle>
          <a:p xmlns:a="http://schemas.openxmlformats.org/drawingml/2006/main">
            <a:pPr>
              <a:defRPr sz="1275" b="0">
                <a:solidFill>
                  <a:srgbClr val="58677E"/>
                </a:solidFill>
                <a:latin typeface="Arial"/>
                <a:ea typeface="Arial"/>
                <a:cs typeface="Arial"/>
              </a:defRPr>
            </a:pPr>
            <a:r>
              <a:rPr sz="1275" b="0">
                <a:solidFill>
                  <a:srgbClr val="58677E"/>
                </a:solidFill>
                <a:latin typeface="Arial"/>
                <a:ea typeface="Arial"/>
                <a:cs typeface="Arial"/>
              </a:rPr>
              <a:t>These were retirement choices. We still need to test the effect with Ionic users.</a:t>
            </a:r>
          </a:p>
        </p:txBody>
      </p:sp>
      <p:sp>
        <p:nvSpPr>
          <p:cNvPr id="10" name="">
            <a:extLst xmlns:a="http://schemas.openxmlformats.org/drawingml/2006/main">
              <a:ext uri="{FF2B5EF4-FFF2-40B4-BE49-F238E27FC236}">
                <a16:creationId xmlns:a16="http://schemas.microsoft.com/office/drawing/2014/main" id="{0FD4926A-2035-43F2-8D37-894A42261216}"/>
              </a:ext>
            </a:extLst>
          </p:cNvPr>
          <p:cNvSpPr>
            <a:spLocks xmlns:a="http://schemas.openxmlformats.org/drawingml/2006/main" noGrp="1"/>
          </p:cNvSpPr>
          <p:nvPr/>
        </p:nvSpPr>
        <p:spPr>
          <a:xfrm xmlns:a="http://schemas.openxmlformats.org/drawingml/2006/main">
            <a:off x="590550" y="5476875"/>
            <a:ext cx="10906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What would count as success?</a:t>
            </a:r>
          </a:p>
        </p:txBody>
      </p:sp>
      <p:sp>
        <p:nvSpPr>
          <p:cNvPr id="11" name="">
            <a:extLst xmlns:a="http://schemas.openxmlformats.org/drawingml/2006/main">
              <a:ext uri="{FF2B5EF4-FFF2-40B4-BE49-F238E27FC236}">
                <a16:creationId xmlns:a16="http://schemas.microsoft.com/office/drawing/2014/main" id="{85AA821C-5C28-43EE-90C7-F1C04FF27B0C}"/>
              </a:ext>
            </a:extLst>
          </p:cNvPr>
          <p:cNvSpPr>
            <a:spLocks xmlns:a="http://schemas.openxmlformats.org/drawingml/2006/main" noGrp="1"/>
          </p:cNvSpPr>
          <p:nvPr/>
        </p:nvSpPr>
        <p:spPr>
          <a:xfrm xmlns:a="http://schemas.openxmlformats.org/drawingml/2006/main">
            <a:off x="590550" y="5867400"/>
            <a:ext cx="10906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17263E"/>
                </a:solidFill>
                <a:latin typeface="Arial"/>
                <a:ea typeface="Arial"/>
                <a:cs typeface="Arial"/>
              </a:defRPr>
            </a:defPPr>
            <a:lvl1pPr>
              <a:defRPr sz="1500" b="0">
                <a:solidFill>
                  <a:srgbClr val="17263E"/>
                </a:solidFill>
                <a:latin typeface="Arial"/>
                <a:ea typeface="Arial"/>
                <a:cs typeface="Arial"/>
              </a:defRPr>
            </a:lvl1pPr>
            <a:lvl2pPr>
              <a:defRPr sz="1500" b="0">
                <a:solidFill>
                  <a:srgbClr val="17263E"/>
                </a:solidFill>
                <a:latin typeface="Arial"/>
                <a:ea typeface="Arial"/>
                <a:cs typeface="Arial"/>
              </a:defRPr>
            </a:lvl2pPr>
            <a:lvl3pPr>
              <a:defRPr sz="1500" b="0">
                <a:solidFill>
                  <a:srgbClr val="17263E"/>
                </a:solidFill>
                <a:latin typeface="Arial"/>
                <a:ea typeface="Arial"/>
                <a:cs typeface="Arial"/>
              </a:defRPr>
            </a:lvl3pPr>
            <a:lvl4pPr>
              <a:defRPr sz="1500" b="0">
                <a:solidFill>
                  <a:srgbClr val="17263E"/>
                </a:solidFill>
                <a:latin typeface="Arial"/>
                <a:ea typeface="Arial"/>
                <a:cs typeface="Arial"/>
              </a:defRPr>
            </a:lvl4pPr>
            <a:lvl5pPr>
              <a:defRPr sz="1500" b="0">
                <a:solidFill>
                  <a:srgbClr val="17263E"/>
                </a:solidFill>
                <a:latin typeface="Arial"/>
                <a:ea typeface="Arial"/>
                <a:cs typeface="Arial"/>
              </a:defRPr>
            </a:lvl5pPr>
            <a:lvl6pPr>
              <a:defRPr sz="1500" b="0">
                <a:solidFill>
                  <a:srgbClr val="17263E"/>
                </a:solidFill>
                <a:latin typeface="Arial"/>
                <a:ea typeface="Arial"/>
                <a:cs typeface="Arial"/>
              </a:defRPr>
            </a:lvl6pPr>
            <a:lvl7pPr>
              <a:defRPr sz="1500" b="0">
                <a:solidFill>
                  <a:srgbClr val="17263E"/>
                </a:solidFill>
                <a:latin typeface="Arial"/>
                <a:ea typeface="Arial"/>
                <a:cs typeface="Arial"/>
              </a:defRPr>
            </a:lvl7pPr>
            <a:lvl8pPr>
              <a:defRPr sz="1500" b="0">
                <a:solidFill>
                  <a:srgbClr val="17263E"/>
                </a:solidFill>
                <a:latin typeface="Arial"/>
                <a:ea typeface="Arial"/>
                <a:cs typeface="Arial"/>
              </a:defRPr>
            </a:lvl8pPr>
            <a:lvl9pPr>
              <a:defRPr sz="1500" b="0">
                <a:solidFill>
                  <a:srgbClr val="17263E"/>
                </a:solidFill>
                <a:latin typeface="Arial"/>
                <a:ea typeface="Arial"/>
                <a:cs typeface="Arial"/>
              </a:defRPr>
            </a:lvl9pPr>
          </a:lstStyle>
          <a:p xmlns:a="http://schemas.openxmlformats.org/drawingml/2006/main">
            <a:pPr>
              <a:defRPr sz="1500" b="0">
                <a:solidFill>
                  <a:srgbClr val="17263E"/>
                </a:solidFill>
                <a:latin typeface="Arial"/>
                <a:ea typeface="Arial"/>
                <a:cs typeface="Arial"/>
              </a:defRPr>
            </a:pPr>
            <a:r>
              <a:rPr sz="1500" b="0">
                <a:solidFill>
                  <a:srgbClr val="17263E"/>
                </a:solidFill>
                <a:latin typeface="Arial"/>
                <a:ea typeface="Arial"/>
                <a:cs typeface="Arial"/>
              </a:rPr>
              <a:t>Track first funded investments without assistance within seven days, alongside fee and risk understanding. Establish a baseline, split results by Android and iOS, and test card motion separately.</a:t>
            </a:r>
          </a:p>
        </p:txBody>
      </p:sp>
      <p:sp>
        <p:nvSpPr>
          <p:cNvPr id="12" name="">
            <a:extLst xmlns:a="http://schemas.openxmlformats.org/drawingml/2006/main">
              <a:ext uri="{FF2B5EF4-FFF2-40B4-BE49-F238E27FC236}">
                <a16:creationId xmlns:a16="http://schemas.microsoft.com/office/drawing/2014/main" id="{B1A0FDF4-B614-4452-9B3C-7C7BFADDD51A}"/>
              </a:ext>
            </a:extLst>
          </p:cNvPr>
          <p:cNvSpPr>
            <a:spLocks xmlns:a="http://schemas.openxmlformats.org/drawingml/2006/main" noGrp="1"/>
          </p:cNvSpPr>
          <p:nvPr/>
        </p:nvSpPr>
        <p:spPr>
          <a:xfrm xmlns:a="http://schemas.openxmlformats.org/drawingml/2006/main">
            <a:off x="590550" y="6572250"/>
            <a:ext cx="3600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28369F"/>
                </a:solidFill>
                <a:latin typeface="Arial"/>
                <a:ea typeface="Arial"/>
                <a:cs typeface="Arial"/>
              </a:defRPr>
            </a:defPPr>
            <a:lvl1pPr>
              <a:defRPr sz="900" b="0">
                <a:solidFill>
                  <a:srgbClr val="28369F"/>
                </a:solidFill>
                <a:latin typeface="Arial"/>
                <a:ea typeface="Arial"/>
                <a:cs typeface="Arial"/>
              </a:defRPr>
            </a:lvl1pPr>
            <a:lvl2pPr>
              <a:defRPr sz="900" b="0">
                <a:solidFill>
                  <a:srgbClr val="28369F"/>
                </a:solidFill>
                <a:latin typeface="Arial"/>
                <a:ea typeface="Arial"/>
                <a:cs typeface="Arial"/>
              </a:defRPr>
            </a:lvl2pPr>
            <a:lvl3pPr>
              <a:defRPr sz="900" b="0">
                <a:solidFill>
                  <a:srgbClr val="28369F"/>
                </a:solidFill>
                <a:latin typeface="Arial"/>
                <a:ea typeface="Arial"/>
                <a:cs typeface="Arial"/>
              </a:defRPr>
            </a:lvl3pPr>
            <a:lvl4pPr>
              <a:defRPr sz="900" b="0">
                <a:solidFill>
                  <a:srgbClr val="28369F"/>
                </a:solidFill>
                <a:latin typeface="Arial"/>
                <a:ea typeface="Arial"/>
                <a:cs typeface="Arial"/>
              </a:defRPr>
            </a:lvl4pPr>
            <a:lvl5pPr>
              <a:defRPr sz="900" b="0">
                <a:solidFill>
                  <a:srgbClr val="28369F"/>
                </a:solidFill>
                <a:latin typeface="Arial"/>
                <a:ea typeface="Arial"/>
                <a:cs typeface="Arial"/>
              </a:defRPr>
            </a:lvl5pPr>
            <a:lvl6pPr>
              <a:defRPr sz="900" b="0">
                <a:solidFill>
                  <a:srgbClr val="28369F"/>
                </a:solidFill>
                <a:latin typeface="Arial"/>
                <a:ea typeface="Arial"/>
                <a:cs typeface="Arial"/>
              </a:defRPr>
            </a:lvl6pPr>
            <a:lvl7pPr>
              <a:defRPr sz="900" b="0">
                <a:solidFill>
                  <a:srgbClr val="28369F"/>
                </a:solidFill>
                <a:latin typeface="Arial"/>
                <a:ea typeface="Arial"/>
                <a:cs typeface="Arial"/>
              </a:defRPr>
            </a:lvl7pPr>
            <a:lvl8pPr>
              <a:defRPr sz="900" b="0">
                <a:solidFill>
                  <a:srgbClr val="28369F"/>
                </a:solidFill>
                <a:latin typeface="Arial"/>
                <a:ea typeface="Arial"/>
                <a:cs typeface="Arial"/>
              </a:defRPr>
            </a:lvl8pPr>
            <a:lvl9pPr>
              <a:defRPr sz="900" b="0">
                <a:solidFill>
                  <a:srgbClr val="28369F"/>
                </a:solidFill>
                <a:latin typeface="Arial"/>
                <a:ea typeface="Arial"/>
                <a:cs typeface="Arial"/>
              </a:defRPr>
            </a:lvl9pPr>
          </a:lstStyle>
          <a:p xmlns:a="http://schemas.openxmlformats.org/drawingml/2006/main">
            <a:pPr>
              <a:defRPr sz="900" b="0">
                <a:solidFill>
                  <a:srgbClr val="28369F"/>
                </a:solidFill>
                <a:latin typeface="Arial"/>
                <a:ea typeface="Arial"/>
                <a:cs typeface="Arial"/>
              </a:defRPr>
            </a:pPr>
            <a:r>
              <a:rPr sz="900" b="0">
                <a:solidFill>
                  <a:srgbClr val="28369F"/>
                </a:solidFill>
                <a:latin typeface="Arial"/>
                <a:ea typeface="Arial"/>
                <a:cs typeface="Arial"/>
                <a:hlinkClick xmlns:r="http://schemas.openxmlformats.org/officeDocument/2006/relationships" r:id="Rc75e4736badc434b"/>
              </a:rPr>
              <a:t>Android study: Haverkamp et al.</a:t>
            </a:r>
          </a:p>
        </p:txBody>
      </p:sp>
      <p:sp>
        <p:nvSpPr>
          <p:cNvPr id="13" name="">
            <a:extLst xmlns:a="http://schemas.openxmlformats.org/drawingml/2006/main">
              <a:ext uri="{FF2B5EF4-FFF2-40B4-BE49-F238E27FC236}">
                <a16:creationId xmlns:a16="http://schemas.microsoft.com/office/drawing/2014/main" id="{064388F5-C184-4E59-A453-C6F1B221FAE5}"/>
              </a:ext>
            </a:extLst>
          </p:cNvPr>
          <p:cNvSpPr>
            <a:spLocks xmlns:a="http://schemas.openxmlformats.org/drawingml/2006/main" noGrp="1"/>
          </p:cNvSpPr>
          <p:nvPr/>
        </p:nvSpPr>
        <p:spPr>
          <a:xfrm xmlns:a="http://schemas.openxmlformats.org/drawingml/2006/main">
            <a:off x="4305300" y="6572250"/>
            <a:ext cx="3600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28369F"/>
                </a:solidFill>
                <a:latin typeface="Arial"/>
                <a:ea typeface="Arial"/>
                <a:cs typeface="Arial"/>
              </a:defRPr>
            </a:defPPr>
            <a:lvl1pPr>
              <a:defRPr sz="900" b="0">
                <a:solidFill>
                  <a:srgbClr val="28369F"/>
                </a:solidFill>
                <a:latin typeface="Arial"/>
                <a:ea typeface="Arial"/>
                <a:cs typeface="Arial"/>
              </a:defRPr>
            </a:lvl1pPr>
            <a:lvl2pPr>
              <a:defRPr sz="900" b="0">
                <a:solidFill>
                  <a:srgbClr val="28369F"/>
                </a:solidFill>
                <a:latin typeface="Arial"/>
                <a:ea typeface="Arial"/>
                <a:cs typeface="Arial"/>
              </a:defRPr>
            </a:lvl2pPr>
            <a:lvl3pPr>
              <a:defRPr sz="900" b="0">
                <a:solidFill>
                  <a:srgbClr val="28369F"/>
                </a:solidFill>
                <a:latin typeface="Arial"/>
                <a:ea typeface="Arial"/>
                <a:cs typeface="Arial"/>
              </a:defRPr>
            </a:lvl3pPr>
            <a:lvl4pPr>
              <a:defRPr sz="900" b="0">
                <a:solidFill>
                  <a:srgbClr val="28369F"/>
                </a:solidFill>
                <a:latin typeface="Arial"/>
                <a:ea typeface="Arial"/>
                <a:cs typeface="Arial"/>
              </a:defRPr>
            </a:lvl4pPr>
            <a:lvl5pPr>
              <a:defRPr sz="900" b="0">
                <a:solidFill>
                  <a:srgbClr val="28369F"/>
                </a:solidFill>
                <a:latin typeface="Arial"/>
                <a:ea typeface="Arial"/>
                <a:cs typeface="Arial"/>
              </a:defRPr>
            </a:lvl5pPr>
            <a:lvl6pPr>
              <a:defRPr sz="900" b="0">
                <a:solidFill>
                  <a:srgbClr val="28369F"/>
                </a:solidFill>
                <a:latin typeface="Arial"/>
                <a:ea typeface="Arial"/>
                <a:cs typeface="Arial"/>
              </a:defRPr>
            </a:lvl6pPr>
            <a:lvl7pPr>
              <a:defRPr sz="900" b="0">
                <a:solidFill>
                  <a:srgbClr val="28369F"/>
                </a:solidFill>
                <a:latin typeface="Arial"/>
                <a:ea typeface="Arial"/>
                <a:cs typeface="Arial"/>
              </a:defRPr>
            </a:lvl7pPr>
            <a:lvl8pPr>
              <a:defRPr sz="900" b="0">
                <a:solidFill>
                  <a:srgbClr val="28369F"/>
                </a:solidFill>
                <a:latin typeface="Arial"/>
                <a:ea typeface="Arial"/>
                <a:cs typeface="Arial"/>
              </a:defRPr>
            </a:lvl8pPr>
            <a:lvl9pPr>
              <a:defRPr sz="900" b="0">
                <a:solidFill>
                  <a:srgbClr val="28369F"/>
                </a:solidFill>
                <a:latin typeface="Arial"/>
                <a:ea typeface="Arial"/>
                <a:cs typeface="Arial"/>
              </a:defRPr>
            </a:lvl9pPr>
          </a:lstStyle>
          <a:p xmlns:a="http://schemas.openxmlformats.org/drawingml/2006/main">
            <a:pPr>
              <a:defRPr sz="900" b="0">
                <a:solidFill>
                  <a:srgbClr val="28369F"/>
                </a:solidFill>
                <a:latin typeface="Arial"/>
                <a:ea typeface="Arial"/>
                <a:cs typeface="Arial"/>
              </a:defRPr>
            </a:pPr>
            <a:r>
              <a:rPr sz="900" b="0">
                <a:solidFill>
                  <a:srgbClr val="28369F"/>
                </a:solidFill>
                <a:latin typeface="Arial"/>
                <a:ea typeface="Arial"/>
                <a:cs typeface="Arial"/>
                <a:hlinkClick xmlns:r="http://schemas.openxmlformats.org/officeDocument/2006/relationships" r:id="R0bc8162fe41a4d50"/>
              </a:rPr>
              <a:t>Choice study: Iyengar &amp; Kamenica</a:t>
            </a:r>
          </a:p>
        </p:txBody>
      </p:sp>
      <p:sp>
        <p:nvSpPr>
          <p:cNvPr id="14" name="">
            <a:extLst xmlns:a="http://schemas.openxmlformats.org/drawingml/2006/main">
              <a:ext uri="{FF2B5EF4-FFF2-40B4-BE49-F238E27FC236}">
                <a16:creationId xmlns:a16="http://schemas.microsoft.com/office/drawing/2014/main" id="{0E210B3A-DFC0-496D-80F9-D602F9688170}"/>
              </a:ext>
            </a:extLst>
          </p:cNvPr>
          <p:cNvSpPr>
            <a:spLocks xmlns:a="http://schemas.openxmlformats.org/drawingml/2006/main" noGrp="1"/>
          </p:cNvSpPr>
          <p:nvPr/>
        </p:nvSpPr>
        <p:spPr>
          <a:xfrm xmlns:a="http://schemas.openxmlformats.org/drawingml/2006/main">
            <a:off x="8020050" y="6572250"/>
            <a:ext cx="3600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28369F"/>
                </a:solidFill>
                <a:latin typeface="Arial"/>
                <a:ea typeface="Arial"/>
                <a:cs typeface="Arial"/>
              </a:defRPr>
            </a:defPPr>
            <a:lvl1pPr>
              <a:defRPr sz="900" b="0">
                <a:solidFill>
                  <a:srgbClr val="28369F"/>
                </a:solidFill>
                <a:latin typeface="Arial"/>
                <a:ea typeface="Arial"/>
                <a:cs typeface="Arial"/>
              </a:defRPr>
            </a:lvl1pPr>
            <a:lvl2pPr>
              <a:defRPr sz="900" b="0">
                <a:solidFill>
                  <a:srgbClr val="28369F"/>
                </a:solidFill>
                <a:latin typeface="Arial"/>
                <a:ea typeface="Arial"/>
                <a:cs typeface="Arial"/>
              </a:defRPr>
            </a:lvl2pPr>
            <a:lvl3pPr>
              <a:defRPr sz="900" b="0">
                <a:solidFill>
                  <a:srgbClr val="28369F"/>
                </a:solidFill>
                <a:latin typeface="Arial"/>
                <a:ea typeface="Arial"/>
                <a:cs typeface="Arial"/>
              </a:defRPr>
            </a:lvl3pPr>
            <a:lvl4pPr>
              <a:defRPr sz="900" b="0">
                <a:solidFill>
                  <a:srgbClr val="28369F"/>
                </a:solidFill>
                <a:latin typeface="Arial"/>
                <a:ea typeface="Arial"/>
                <a:cs typeface="Arial"/>
              </a:defRPr>
            </a:lvl4pPr>
            <a:lvl5pPr>
              <a:defRPr sz="900" b="0">
                <a:solidFill>
                  <a:srgbClr val="28369F"/>
                </a:solidFill>
                <a:latin typeface="Arial"/>
                <a:ea typeface="Arial"/>
                <a:cs typeface="Arial"/>
              </a:defRPr>
            </a:lvl5pPr>
            <a:lvl6pPr>
              <a:defRPr sz="900" b="0">
                <a:solidFill>
                  <a:srgbClr val="28369F"/>
                </a:solidFill>
                <a:latin typeface="Arial"/>
                <a:ea typeface="Arial"/>
                <a:cs typeface="Arial"/>
              </a:defRPr>
            </a:lvl6pPr>
            <a:lvl7pPr>
              <a:defRPr sz="900" b="0">
                <a:solidFill>
                  <a:srgbClr val="28369F"/>
                </a:solidFill>
                <a:latin typeface="Arial"/>
                <a:ea typeface="Arial"/>
                <a:cs typeface="Arial"/>
              </a:defRPr>
            </a:lvl7pPr>
            <a:lvl8pPr>
              <a:defRPr sz="900" b="0">
                <a:solidFill>
                  <a:srgbClr val="28369F"/>
                </a:solidFill>
                <a:latin typeface="Arial"/>
                <a:ea typeface="Arial"/>
                <a:cs typeface="Arial"/>
              </a:defRPr>
            </a:lvl8pPr>
            <a:lvl9pPr>
              <a:defRPr sz="900" b="0">
                <a:solidFill>
                  <a:srgbClr val="28369F"/>
                </a:solidFill>
                <a:latin typeface="Arial"/>
                <a:ea typeface="Arial"/>
                <a:cs typeface="Arial"/>
              </a:defRPr>
            </a:lvl9pPr>
          </a:lstStyle>
          <a:p xmlns:a="http://schemas.openxmlformats.org/drawingml/2006/main">
            <a:pPr>
              <a:defRPr sz="900" b="0">
                <a:solidFill>
                  <a:srgbClr val="28369F"/>
                </a:solidFill>
                <a:latin typeface="Arial"/>
                <a:ea typeface="Arial"/>
                <a:cs typeface="Arial"/>
              </a:defRPr>
            </a:pPr>
            <a:r>
              <a:rPr sz="900" b="0">
                <a:solidFill>
                  <a:srgbClr val="28369F"/>
                </a:solidFill>
                <a:latin typeface="Arial"/>
                <a:ea typeface="Arial"/>
                <a:cs typeface="Arial"/>
                <a:hlinkClick xmlns:r="http://schemas.openxmlformats.org/officeDocument/2006/relationships" r:id="Rcb5db6eb4315428f"/>
              </a:rPr>
              <a:t>Motion controls: W3C guidance</a:t>
            </a:r>
          </a:p>
        </p:txBody>
      </p:sp>
    </p:spTree>
    <p:extLst>
      <p:ext uri="{BB962C8B-B14F-4D97-AF65-F5344CB8AC3E}">
        <p14:creationId xmlns:p14="http://schemas.microsoft.com/office/powerpoint/2010/main" val="112547828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2026-10-18T09:30:05.6060000Z</dcterms:created>
  <dcterms:modified xsi:type="dcterms:W3CDTF">2026-10-18T09:30:05.6060000Z</dcterms:modified>
</coreProperties>
</file>