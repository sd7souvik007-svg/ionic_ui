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998ded5b7f84f83" /><Relationship Type="http://schemas.openxmlformats.org/officeDocument/2006/relationships/extended-properties" Target="/docProps/app.xml" Id="R55ffa095a3eb4f92" /><Relationship Type="http://schemas.openxmlformats.org/officeDocument/2006/relationships/officeDocument" Target="/ppt/presentation.xml" Id="R008b497cf9e34ee7" /></Relationships>
</file>

<file path=ppt/presentation.xml><?xml version="1.0" encoding="utf-8"?>
<p:presentation xmlns:p="http://schemas.openxmlformats.org/presentationml/2006/main">
  <p:sldMasterIdLst>
    <p:sldMasterId xmlns:r="http://schemas.openxmlformats.org/officeDocument/2006/relationships" id="2147483648" r:id="R30420a2338ed45c6"/>
  </p:sldMasterIdLst>
  <p:notesMasterIdLst>
    <p:notesMasterId xmlns:r="http://schemas.openxmlformats.org/officeDocument/2006/relationships" r:id="R08ffd88fe7a44e4a"/>
  </p:notesMasterIdLst>
  <p:sldIdLst>
    <p:sldId xmlns:r="http://schemas.openxmlformats.org/officeDocument/2006/relationships" id="256" r:id="Rd8d17d65160f4a27"/>
    <p:sldId xmlns:r="http://schemas.openxmlformats.org/officeDocument/2006/relationships" id="257" r:id="Rc0fc51c547244dca"/>
    <p:sldId xmlns:r="http://schemas.openxmlformats.org/officeDocument/2006/relationships" id="258" r:id="R1cb5b1c3653c4ef8"/>
    <p:sldId xmlns:r="http://schemas.openxmlformats.org/officeDocument/2006/relationships" id="259" r:id="R42a1e9760840426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e3d5a695a240ac" /><Relationship Type="http://schemas.openxmlformats.org/officeDocument/2006/relationships/slideMaster" Target="/ppt/slideMasters/slideMaster1.xml" Id="R30420a2338ed45c6" /><Relationship Type="http://schemas.openxmlformats.org/officeDocument/2006/relationships/notesMaster" Target="/ppt/notesMasters/notesMaster1.xml" Id="R08ffd88fe7a44e4a" /><Relationship Type="http://schemas.openxmlformats.org/officeDocument/2006/relationships/presProps" Target="/ppt/presProps.xml" Id="R7791cd0e0b234146" /><Relationship Type="http://schemas.openxmlformats.org/officeDocument/2006/relationships/tableStyles" Target="/ppt/tableStyles.xml" Id="R292e1ae6ca644c8c" /><Relationship Type="http://schemas.openxmlformats.org/officeDocument/2006/relationships/slide" Target="/ppt/slides/slide1.xml" Id="Rd8d17d65160f4a27" /><Relationship Type="http://schemas.openxmlformats.org/officeDocument/2006/relationships/slide" Target="/ppt/slides/slide2.xml" Id="Rc0fc51c547244dca" /><Relationship Type="http://schemas.openxmlformats.org/officeDocument/2006/relationships/slide" Target="/ppt/slides/slide3.xml" Id="R1cb5b1c3653c4ef8" /><Relationship Type="http://schemas.openxmlformats.org/officeDocument/2006/relationships/slide" Target="/ppt/slides/slide4.xml" Id="R42a1e976084042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e3c647e2f4940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54d807efac9476d" /><Relationship Type="http://schemas.openxmlformats.org/officeDocument/2006/relationships/notesMaster" Target="/ppt/notesMasters/notesMaster1.xml" Id="Rdfa299c97eb943a4" /></Relationships>
</file>

<file path=ppt/notesSlides/_rels/notesSlide2.xml.rels>&#65279;<?xml version="1.0" encoding="utf-8"?><Relationships xmlns="http://schemas.openxmlformats.org/package/2006/relationships"><Relationship Type="http://schemas.openxmlformats.org/officeDocument/2006/relationships/slide" Target="/ppt/slides/slide2.xml" Id="Rdc6d7504be7a468f" /><Relationship Type="http://schemas.openxmlformats.org/officeDocument/2006/relationships/notesMaster" Target="/ppt/notesMasters/notesMaster1.xml" Id="R66b2b669f4e64ce1"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f7255039f54758" /><Relationship Type="http://schemas.openxmlformats.org/officeDocument/2006/relationships/notesMaster" Target="/ppt/notesMasters/notesMaster1.xml" Id="Rda36ecb6c5484d83" /></Relationships>
</file>

<file path=ppt/notesSlides/_rels/notesSlide4.xml.rels>&#65279;<?xml version="1.0" encoding="utf-8"?><Relationships xmlns="http://schemas.openxmlformats.org/package/2006/relationships"><Relationship Type="http://schemas.openxmlformats.org/officeDocument/2006/relationships/slide" Target="/ppt/slides/slide4.xml" Id="Rc614080ae15b4ae1" /><Relationship Type="http://schemas.openxmlformats.org/officeDocument/2006/relationships/notesMaster" Target="/ppt/notesMasters/notesMaster1.xml" Id="R751b120cfafd4f4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lead supplied the observation about portfolio imports and assisted purchases. The app captures show the shelf structure. No production conversion baseline or NPS was provided. The screenshot is the captured Imported Portfolio experience inside the shared Android shell. The hypothesis and research limits are on page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screenshots are from the working proposal. The category tabs and horizontal hero swipe update each other. Private Wealth has a Flagship badge outside and above its tab, with a slow pulse and reduced-motion support. It contains 9 PMS, 3 AIF and 6 SIF offerings. Each product has a working detail link. Stock rows move at 4 CSS pixels per second in opposite directions, with pause, mouse drag and stationary search/filter results. The 392px frame, header and navigation are shared with Portfolio. Product figures are captured fixtures, not live quotes. The stock footer and mutual fund metadata slot now include a blue-flower AI deep dive action. Their heights are unchanged from the previous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blue flower uses the existing Ionic assistant mark. Actions are available on all ten stock cards and all three mutual fund rows, and again inside product details. The existing card and row heights are unchanged. The deep dive explains the appeal, risks and management direction for companies, or the mandate and approach for funds. Topic buttons let the user focus on one question. Each explanation has a company filing or official fund source. These are prepared prototype explanations, not live model responses, personalised suitability checks or return forecasts. A live implementation would need approved source retrieval, source timestamps, factual evaluation and explicit handling of missing information. Test whether the explanations improve understanding and first unassisted investments. Do not infer success from AI opens alone. Product facts and costs should remain visible outside AI as well. AI source links are in ai-research-data.js in the shared GitHub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Android research: Haverkamp et al., Reading and Writing 36 (2023), 1589-1608, published online in 2022. DOI: 10.1007/s11145-022-10328-9. Participants: 145 Norwegian university students. Samsung Galaxy A02s phone and Lenovo Tab M10 tablet, both Android 10. Text: 1492 words. Paging led to more strategic backtracking; better integrated understanding was a tendency. This was a reading study, with no investing task or iOS scroll-depth measure. Choice research: Iyengar and Kamenica (2010), Journal of Public Economics 94, 530-539, DOI 10.1016/j.jpubeco.2010.03.006. Laboratory experiments and records of over 500,000 employees at 638 institutions. Evidence of simplicity seeking, not proof of Ionic conversion uplift. W3C carousel guidance supports user controls to pause moving content. Experiment: first unassisted completed investment within seven days divided by all eligible importers with no prior transaction assigned to each version. Record assistance consistently, and monitor costs, risk understanding, funding failures, cancellations and complaints. Set sample size from the measured baseline. Test static layout first, then motion. The AI feature is an additional hypothesis. Source-linked explanations could help users make sense of products, but no conversion uplift is claimed. Evaluate accuracy, source freshness and whether users understand both the appeal and downside.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fa9a373deed41e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6ffe284472f417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9a822c7e7124e4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ea92d252968434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af46424426349a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c62a183ce234bb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BCD04AD-8B83-40B6-A030-4CDA2A3A245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05E3343-54EC-46C6-ABF5-1F876D3E287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3DEFE71-A9E2-40CC-AD28-FA0589767C5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735274-7AEB-4D74-8625-C4824D45AF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79862DD-16D1-4EB7-A180-B7F9780507B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5DF940F-A140-4A91-BFE3-43833CD13A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49365DF-41BB-4D52-810C-5D601DDFB8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42C6C3D-C238-4D08-98C2-52A31332261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9553C17-F2F5-465C-BDA8-383278D5B8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04E471-D584-4F7A-9ADE-EE82EDBB45F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a56d7b6fda84199" /><Relationship Type="http://schemas.openxmlformats.org/officeDocument/2006/relationships/slideLayout" Target="/ppt/slideLayouts/slideLayout1.xml" Id="R7d6bc5b25c4d4562" /><Relationship Type="http://schemas.openxmlformats.org/officeDocument/2006/relationships/slideLayout" Target="/ppt/slideLayouts/slideLayout2.xml" Id="R97bcd52412d140e0" /><Relationship Type="http://schemas.openxmlformats.org/officeDocument/2006/relationships/slideLayout" Target="/ppt/slideLayouts/slideLayout3.xml" Id="Refd60a9a84b14810" /><Relationship Type="http://schemas.openxmlformats.org/officeDocument/2006/relationships/slideLayout" Target="/ppt/slideLayouts/slideLayout4.xml" Id="R7b8917c7037a4d7e" /><Relationship Type="http://schemas.openxmlformats.org/officeDocument/2006/relationships/slideLayout" Target="/ppt/slideLayouts/slideLayout5.xml" Id="Re48d72dbb4294ead" /><Relationship Type="http://schemas.openxmlformats.org/officeDocument/2006/relationships/slideLayout" Target="/ppt/slideLayouts/slideLayout6.xml" Id="R086ed705161a43a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d6bc5b25c4d4562"/>
    <p:sldLayoutId xmlns:r="http://schemas.openxmlformats.org/officeDocument/2006/relationships" id="2147483650" r:id="R97bcd52412d140e0"/>
    <p:sldLayoutId xmlns:r="http://schemas.openxmlformats.org/officeDocument/2006/relationships" id="2147483651" r:id="Refd60a9a84b14810"/>
    <p:sldLayoutId xmlns:r="http://schemas.openxmlformats.org/officeDocument/2006/relationships" id="2147483652" r:id="R7b8917c7037a4d7e"/>
    <p:sldLayoutId xmlns:r="http://schemas.openxmlformats.org/officeDocument/2006/relationships" id="2147483653" r:id="Re48d72dbb4294ead"/>
    <p:sldLayoutId xmlns:r="http://schemas.openxmlformats.org/officeDocument/2006/relationships" id="2147483654" r:id="R086ed705161a43a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0400ae1c93a4e14" /><Relationship Type="http://schemas.openxmlformats.org/officeDocument/2006/relationships/image" Target="/ppt/media/image.png" Id="Ra9c5112416844d2d" /><Relationship Type="http://schemas.openxmlformats.org/officeDocument/2006/relationships/notesSlide" Target="/ppt/notesSlides/notesSlide1.xml" Id="R2c20c11056ed4ee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2f1b320d0814894" /><Relationship Type="http://schemas.openxmlformats.org/officeDocument/2006/relationships/image" Target="/ppt/media/image2.png" Id="R62b2693484404634" /><Relationship Type="http://schemas.openxmlformats.org/officeDocument/2006/relationships/image" Target="/ppt/media/image3.png" Id="R74e03e7f65e14f89" /><Relationship Type="http://schemas.openxmlformats.org/officeDocument/2006/relationships/image" Target="/ppt/media/image4.png" Id="Rb654a00c5d7146e7" /><Relationship Type="http://schemas.openxmlformats.org/officeDocument/2006/relationships/notesSlide" Target="/ppt/notesSlides/notesSlide2.xml" Id="R3677eccb4e5f4d2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67e295c06a24a58" /><Relationship Type="http://schemas.openxmlformats.org/officeDocument/2006/relationships/image" Target="/ppt/media/image5.png" Id="Re54e3cd163c34dd1" /><Relationship Type="http://schemas.openxmlformats.org/officeDocument/2006/relationships/image" Target="/ppt/media/image6.png" Id="R44fcff8036984218" /><Relationship Type="http://schemas.openxmlformats.org/officeDocument/2006/relationships/notesSlide" Target="/ppt/notesSlides/notesSlide3.xml" Id="Rfbaa2e019dce44f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f3ccf85e2bf4b22" /><Relationship Type="http://schemas.openxmlformats.org/officeDocument/2006/relationships/hyperlink" Target="https://doi.org/10.1007/s11145-022-10328-9" TargetMode="External" Id="R831c53a808ee4f92" /><Relationship Type="http://schemas.openxmlformats.org/officeDocument/2006/relationships/hyperlink" Target="https://business.columbia.edu/sites/default/files-efs/pubfiles/4519/simplicitySeeking.pdf" TargetMode="External" Id="Rad4347a2614b4fbe" /><Relationship Type="http://schemas.openxmlformats.org/officeDocument/2006/relationships/hyperlink" Target="https://www.w3.org/WAI/tutorials/carousels/" TargetMode="External" Id="R3994cae8499d4ada" /><Relationship Type="http://schemas.openxmlformats.org/officeDocument/2006/relationships/notesSlide" Target="/ppt/notesSlides/notesSlide4.xml" Id="R1ba996fb95694ef7" /></Relationships>
</file>

<file path=ppt/slides/slide1.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A2B23D5-34CF-4195-8B8E-6F97D75463FC}"/>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1 / Why change Exclusives?</a:t>
            </a:r>
          </a:p>
        </p:txBody>
      </p:sp>
      <p:sp>
        <p:nvSpPr>
          <p:cNvPr id="2" name="">
            <a:extLst xmlns:a="http://schemas.openxmlformats.org/drawingml/2006/main">
              <a:ext uri="{FF2B5EF4-FFF2-40B4-BE49-F238E27FC236}">
                <a16:creationId xmlns:a16="http://schemas.microsoft.com/office/drawing/2014/main" id="{522DAF92-FD80-4B54-A2BE-FE66A271EFA9}"/>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The portfolio review is useful.</a:t>
            </a:r>
          </a:p>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The first purchase needs a clearer path.</a:t>
            </a:r>
          </a:p>
        </p:txBody>
      </p:sp>
      <p:sp>
        <p:nvSpPr>
          <p:cNvPr id="3" name="">
            <a:extLst xmlns:a="http://schemas.openxmlformats.org/drawingml/2006/main">
              <a:ext uri="{FF2B5EF4-FFF2-40B4-BE49-F238E27FC236}">
                <a16:creationId xmlns:a16="http://schemas.microsoft.com/office/drawing/2014/main" id="{31DCFFCB-E096-4E32-81BD-BFDD6B7FC92F}"/>
              </a:ext>
            </a:extLst>
          </p:cNvPr>
          <p:cNvSpPr>
            <a:spLocks xmlns:a="http://schemas.openxmlformats.org/drawingml/2006/main" noGrp="1"/>
          </p:cNvSpPr>
          <p:nvPr/>
        </p:nvSpPr>
        <p:spPr>
          <a:xfrm xmlns:a="http://schemas.openxmlformats.org/drawingml/2006/main">
            <a:off x="590550" y="2095500"/>
            <a:ext cx="619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seems to be happening</a:t>
            </a:r>
          </a:p>
        </p:txBody>
      </p:sp>
      <p:sp>
        <p:nvSpPr>
          <p:cNvPr id="4" name="">
            <a:extLst xmlns:a="http://schemas.openxmlformats.org/drawingml/2006/main">
              <a:ext uri="{FF2B5EF4-FFF2-40B4-BE49-F238E27FC236}">
                <a16:creationId xmlns:a16="http://schemas.microsoft.com/office/drawing/2014/main" id="{064F0F10-C5F7-441B-9D09-4C99CB428B38}"/>
              </a:ext>
            </a:extLst>
          </p:cNvPr>
          <p:cNvSpPr>
            <a:spLocks xmlns:a="http://schemas.openxmlformats.org/drawingml/2006/main" noGrp="1"/>
          </p:cNvSpPr>
          <p:nvPr/>
        </p:nvSpPr>
        <p:spPr>
          <a:xfrm xmlns:a="http://schemas.openxmlformats.org/drawingml/2006/main">
            <a:off x="590550" y="2533650"/>
            <a:ext cx="6000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263E"/>
                </a:solidFill>
                <a:latin typeface="Arial"/>
                <a:ea typeface="Arial"/>
                <a:cs typeface="Arial"/>
              </a:defRPr>
            </a:defPPr>
            <a:lvl1pPr>
              <a:defRPr sz="1800" b="0">
                <a:solidFill>
                  <a:srgbClr val="17263E"/>
                </a:solidFill>
                <a:latin typeface="Arial"/>
                <a:ea typeface="Arial"/>
                <a:cs typeface="Arial"/>
              </a:defRPr>
            </a:lvl1pPr>
            <a:lvl2pPr>
              <a:defRPr sz="1800" b="0">
                <a:solidFill>
                  <a:srgbClr val="17263E"/>
                </a:solidFill>
                <a:latin typeface="Arial"/>
                <a:ea typeface="Arial"/>
                <a:cs typeface="Arial"/>
              </a:defRPr>
            </a:lvl2pPr>
            <a:lvl3pPr>
              <a:defRPr sz="1800" b="0">
                <a:solidFill>
                  <a:srgbClr val="17263E"/>
                </a:solidFill>
                <a:latin typeface="Arial"/>
                <a:ea typeface="Arial"/>
                <a:cs typeface="Arial"/>
              </a:defRPr>
            </a:lvl3pPr>
            <a:lvl4pPr>
              <a:defRPr sz="1800" b="0">
                <a:solidFill>
                  <a:srgbClr val="17263E"/>
                </a:solidFill>
                <a:latin typeface="Arial"/>
                <a:ea typeface="Arial"/>
                <a:cs typeface="Arial"/>
              </a:defRPr>
            </a:lvl4pPr>
            <a:lvl5pPr>
              <a:defRPr sz="1800" b="0">
                <a:solidFill>
                  <a:srgbClr val="17263E"/>
                </a:solidFill>
                <a:latin typeface="Arial"/>
                <a:ea typeface="Arial"/>
                <a:cs typeface="Arial"/>
              </a:defRPr>
            </a:lvl5pPr>
            <a:lvl6pPr>
              <a:defRPr sz="1800" b="0">
                <a:solidFill>
                  <a:srgbClr val="17263E"/>
                </a:solidFill>
                <a:latin typeface="Arial"/>
                <a:ea typeface="Arial"/>
                <a:cs typeface="Arial"/>
              </a:defRPr>
            </a:lvl6pPr>
            <a:lvl7pPr>
              <a:defRPr sz="1800" b="0">
                <a:solidFill>
                  <a:srgbClr val="17263E"/>
                </a:solidFill>
                <a:latin typeface="Arial"/>
                <a:ea typeface="Arial"/>
                <a:cs typeface="Arial"/>
              </a:defRPr>
            </a:lvl7pPr>
            <a:lvl8pPr>
              <a:defRPr sz="1800" b="0">
                <a:solidFill>
                  <a:srgbClr val="17263E"/>
                </a:solidFill>
                <a:latin typeface="Arial"/>
                <a:ea typeface="Arial"/>
                <a:cs typeface="Arial"/>
              </a:defRPr>
            </a:lvl8pPr>
            <a:lvl9pPr>
              <a:defRPr sz="1800" b="0">
                <a:solidFill>
                  <a:srgbClr val="17263E"/>
                </a:solidFill>
                <a:latin typeface="Arial"/>
                <a:ea typeface="Arial"/>
                <a:cs typeface="Arial"/>
              </a:defRPr>
            </a:lvl9pPr>
          </a:lstStyle>
          <a:p xmlns:a="http://schemas.openxmlformats.org/drawingml/2006/main">
            <a:pPr>
              <a:defRPr sz="1800" b="0">
                <a:solidFill>
                  <a:srgbClr val="17263E"/>
                </a:solidFill>
                <a:latin typeface="Arial"/>
                <a:ea typeface="Arial"/>
                <a:cs typeface="Arial"/>
              </a:defRPr>
            </a:pPr>
            <a:r>
              <a:rPr sz="1800" b="0">
                <a:solidFill>
                  <a:srgbClr val="17263E"/>
                </a:solidFill>
                <a:latin typeface="Arial"/>
                <a:ea typeface="Arial"/>
                <a:cs typeface="Arial"/>
              </a:rPr>
              <a:t>The product lead reports that people import their holdings for insights, but often need guidance before making their first purchase.</a:t>
            </a:r>
          </a:p>
        </p:txBody>
      </p:sp>
      <p:sp>
        <p:nvSpPr>
          <p:cNvPr id="5" name="">
            <a:extLst xmlns:a="http://schemas.openxmlformats.org/drawingml/2006/main">
              <a:ext uri="{FF2B5EF4-FFF2-40B4-BE49-F238E27FC236}">
                <a16:creationId xmlns:a16="http://schemas.microsoft.com/office/drawing/2014/main" id="{623E2439-158B-400A-BF5A-0F60A41059E3}"/>
              </a:ext>
            </a:extLst>
          </p:cNvPr>
          <p:cNvSpPr>
            <a:spLocks xmlns:a="http://schemas.openxmlformats.org/drawingml/2006/main" noGrp="1"/>
          </p:cNvSpPr>
          <p:nvPr/>
        </p:nvSpPr>
        <p:spPr>
          <a:xfrm xmlns:a="http://schemas.openxmlformats.org/drawingml/2006/main">
            <a:off x="590550" y="3590925"/>
            <a:ext cx="6000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263E"/>
                </a:solidFill>
                <a:latin typeface="Arial"/>
                <a:ea typeface="Arial"/>
                <a:cs typeface="Arial"/>
              </a:defRPr>
            </a:defPPr>
            <a:lvl1pPr>
              <a:defRPr sz="1800" b="0">
                <a:solidFill>
                  <a:srgbClr val="17263E"/>
                </a:solidFill>
                <a:latin typeface="Arial"/>
                <a:ea typeface="Arial"/>
                <a:cs typeface="Arial"/>
              </a:defRPr>
            </a:lvl1pPr>
            <a:lvl2pPr>
              <a:defRPr sz="1800" b="0">
                <a:solidFill>
                  <a:srgbClr val="17263E"/>
                </a:solidFill>
                <a:latin typeface="Arial"/>
                <a:ea typeface="Arial"/>
                <a:cs typeface="Arial"/>
              </a:defRPr>
            </a:lvl2pPr>
            <a:lvl3pPr>
              <a:defRPr sz="1800" b="0">
                <a:solidFill>
                  <a:srgbClr val="17263E"/>
                </a:solidFill>
                <a:latin typeface="Arial"/>
                <a:ea typeface="Arial"/>
                <a:cs typeface="Arial"/>
              </a:defRPr>
            </a:lvl3pPr>
            <a:lvl4pPr>
              <a:defRPr sz="1800" b="0">
                <a:solidFill>
                  <a:srgbClr val="17263E"/>
                </a:solidFill>
                <a:latin typeface="Arial"/>
                <a:ea typeface="Arial"/>
                <a:cs typeface="Arial"/>
              </a:defRPr>
            </a:lvl4pPr>
            <a:lvl5pPr>
              <a:defRPr sz="1800" b="0">
                <a:solidFill>
                  <a:srgbClr val="17263E"/>
                </a:solidFill>
                <a:latin typeface="Arial"/>
                <a:ea typeface="Arial"/>
                <a:cs typeface="Arial"/>
              </a:defRPr>
            </a:lvl5pPr>
            <a:lvl6pPr>
              <a:defRPr sz="1800" b="0">
                <a:solidFill>
                  <a:srgbClr val="17263E"/>
                </a:solidFill>
                <a:latin typeface="Arial"/>
                <a:ea typeface="Arial"/>
                <a:cs typeface="Arial"/>
              </a:defRPr>
            </a:lvl6pPr>
            <a:lvl7pPr>
              <a:defRPr sz="1800" b="0">
                <a:solidFill>
                  <a:srgbClr val="17263E"/>
                </a:solidFill>
                <a:latin typeface="Arial"/>
                <a:ea typeface="Arial"/>
                <a:cs typeface="Arial"/>
              </a:defRPr>
            </a:lvl7pPr>
            <a:lvl8pPr>
              <a:defRPr sz="1800" b="0">
                <a:solidFill>
                  <a:srgbClr val="17263E"/>
                </a:solidFill>
                <a:latin typeface="Arial"/>
                <a:ea typeface="Arial"/>
                <a:cs typeface="Arial"/>
              </a:defRPr>
            </a:lvl8pPr>
            <a:lvl9pPr>
              <a:defRPr sz="1800" b="0">
                <a:solidFill>
                  <a:srgbClr val="17263E"/>
                </a:solidFill>
                <a:latin typeface="Arial"/>
                <a:ea typeface="Arial"/>
                <a:cs typeface="Arial"/>
              </a:defRPr>
            </a:lvl9pPr>
          </a:lstStyle>
          <a:p xmlns:a="http://schemas.openxmlformats.org/drawingml/2006/main">
            <a:pPr>
              <a:defRPr sz="1800" b="0">
                <a:solidFill>
                  <a:srgbClr val="17263E"/>
                </a:solidFill>
                <a:latin typeface="Arial"/>
                <a:ea typeface="Arial"/>
                <a:cs typeface="Arial"/>
              </a:defRPr>
            </a:pPr>
            <a:r>
              <a:rPr sz="1800" b="0">
                <a:solidFill>
                  <a:srgbClr val="17263E"/>
                </a:solidFill>
                <a:latin typeface="Arial"/>
                <a:ea typeface="Arial"/>
                <a:cs typeface="Arial"/>
              </a:rPr>
              <a:t>The existing Exclusives page asks them to browse long product shelves before finding an option with a smaller entry amount. They then still have to work out what to buy and how to begin.</a:t>
            </a:r>
          </a:p>
        </p:txBody>
      </p:sp>
      <p:sp>
        <p:nvSpPr>
          <p:cNvPr id="6" name="">
            <a:extLst xmlns:a="http://schemas.openxmlformats.org/drawingml/2006/main">
              <a:ext uri="{FF2B5EF4-FFF2-40B4-BE49-F238E27FC236}">
                <a16:creationId xmlns:a16="http://schemas.microsoft.com/office/drawing/2014/main" id="{3F67FF73-FDD1-48F3-A3E8-3D445C6BC216}"/>
              </a:ext>
            </a:extLst>
          </p:cNvPr>
          <p:cNvSpPr>
            <a:spLocks xmlns:a="http://schemas.openxmlformats.org/drawingml/2006/main" noGrp="1"/>
          </p:cNvSpPr>
          <p:nvPr/>
        </p:nvSpPr>
        <p:spPr>
          <a:xfrm xmlns:a="http://schemas.openxmlformats.org/drawingml/2006/main">
            <a:off x="590550" y="5143500"/>
            <a:ext cx="6191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Move the first useful choice up</a:t>
            </a:r>
          </a:p>
        </p:txBody>
      </p:sp>
      <p:sp>
        <p:nvSpPr>
          <p:cNvPr id="7" name="">
            <a:extLst xmlns:a="http://schemas.openxmlformats.org/drawingml/2006/main">
              <a:ext uri="{FF2B5EF4-FFF2-40B4-BE49-F238E27FC236}">
                <a16:creationId xmlns:a16="http://schemas.microsoft.com/office/drawing/2014/main" id="{9BB745B9-8BCF-4AA2-ABD4-49D294B39068}"/>
              </a:ext>
            </a:extLst>
          </p:cNvPr>
          <p:cNvSpPr>
            <a:spLocks xmlns:a="http://schemas.openxmlformats.org/drawingml/2006/main" noGrp="1"/>
          </p:cNvSpPr>
          <p:nvPr/>
        </p:nvSpPr>
        <p:spPr>
          <a:xfrm xmlns:a="http://schemas.openxmlformats.org/drawingml/2006/main">
            <a:off x="590550" y="5581650"/>
            <a:ext cx="600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7263E"/>
                </a:solidFill>
                <a:latin typeface="Arial"/>
                <a:ea typeface="Arial"/>
                <a:cs typeface="Arial"/>
              </a:defRPr>
            </a:defPPr>
            <a:lvl1pPr>
              <a:defRPr sz="1725" b="0">
                <a:solidFill>
                  <a:srgbClr val="17263E"/>
                </a:solidFill>
                <a:latin typeface="Arial"/>
                <a:ea typeface="Arial"/>
                <a:cs typeface="Arial"/>
              </a:defRPr>
            </a:lvl1pPr>
            <a:lvl2pPr>
              <a:defRPr sz="1725" b="0">
                <a:solidFill>
                  <a:srgbClr val="17263E"/>
                </a:solidFill>
                <a:latin typeface="Arial"/>
                <a:ea typeface="Arial"/>
                <a:cs typeface="Arial"/>
              </a:defRPr>
            </a:lvl2pPr>
            <a:lvl3pPr>
              <a:defRPr sz="1725" b="0">
                <a:solidFill>
                  <a:srgbClr val="17263E"/>
                </a:solidFill>
                <a:latin typeface="Arial"/>
                <a:ea typeface="Arial"/>
                <a:cs typeface="Arial"/>
              </a:defRPr>
            </a:lvl3pPr>
            <a:lvl4pPr>
              <a:defRPr sz="1725" b="0">
                <a:solidFill>
                  <a:srgbClr val="17263E"/>
                </a:solidFill>
                <a:latin typeface="Arial"/>
                <a:ea typeface="Arial"/>
                <a:cs typeface="Arial"/>
              </a:defRPr>
            </a:lvl4pPr>
            <a:lvl5pPr>
              <a:defRPr sz="1725" b="0">
                <a:solidFill>
                  <a:srgbClr val="17263E"/>
                </a:solidFill>
                <a:latin typeface="Arial"/>
                <a:ea typeface="Arial"/>
                <a:cs typeface="Arial"/>
              </a:defRPr>
            </a:lvl5pPr>
            <a:lvl6pPr>
              <a:defRPr sz="1725" b="0">
                <a:solidFill>
                  <a:srgbClr val="17263E"/>
                </a:solidFill>
                <a:latin typeface="Arial"/>
                <a:ea typeface="Arial"/>
                <a:cs typeface="Arial"/>
              </a:defRPr>
            </a:lvl6pPr>
            <a:lvl7pPr>
              <a:defRPr sz="1725" b="0">
                <a:solidFill>
                  <a:srgbClr val="17263E"/>
                </a:solidFill>
                <a:latin typeface="Arial"/>
                <a:ea typeface="Arial"/>
                <a:cs typeface="Arial"/>
              </a:defRPr>
            </a:lvl7pPr>
            <a:lvl8pPr>
              <a:defRPr sz="1725" b="0">
                <a:solidFill>
                  <a:srgbClr val="17263E"/>
                </a:solidFill>
                <a:latin typeface="Arial"/>
                <a:ea typeface="Arial"/>
                <a:cs typeface="Arial"/>
              </a:defRPr>
            </a:lvl8pPr>
            <a:lvl9pPr>
              <a:defRPr sz="1725" b="0">
                <a:solidFill>
                  <a:srgbClr val="17263E"/>
                </a:solidFill>
                <a:latin typeface="Arial"/>
                <a:ea typeface="Arial"/>
                <a:cs typeface="Arial"/>
              </a:defRPr>
            </a:lvl9pPr>
          </a:lstStyle>
          <a:p xmlns:a="http://schemas.openxmlformats.org/drawingml/2006/main">
            <a:pPr>
              <a:defRPr sz="1725" b="0">
                <a:solidFill>
                  <a:srgbClr val="17263E"/>
                </a:solidFill>
                <a:latin typeface="Arial"/>
                <a:ea typeface="Arial"/>
                <a:cs typeface="Arial"/>
              </a:defRPr>
            </a:pPr>
            <a:r>
              <a:rPr sz="1725" b="0">
                <a:solidFill>
                  <a:srgbClr val="17263E"/>
                </a:solidFill>
                <a:latin typeface="Arial"/>
                <a:ea typeface="Arial"/>
                <a:cs typeface="Arial"/>
              </a:rPr>
              <a:t>Keep the hero. Put US stocks, funds and Private Wealth just below it, with enough product information to make an initial comparison.</a:t>
            </a:r>
          </a:p>
        </p:txBody>
      </p:sp>
      <p:pic>
        <p:nvPicPr>
          <p:cNvPr id="8" name="">
            <a:extLst xmlns:a="http://schemas.openxmlformats.org/drawingml/2006/main">
              <a:ext uri="{FF2B5EF4-FFF2-40B4-BE49-F238E27FC236}">
                <a16:creationId xmlns:a16="http://schemas.microsoft.com/office/drawing/2014/main" id="{7E48E64F-7760-4F8A-8AB5-C6EC7F6C63E1}"/>
              </a:ext>
            </a:extLst>
          </p:cNvPr>
          <p:cNvPicPr>
            <a:picLocks xmlns:a="http://schemas.openxmlformats.org/drawingml/2006/main" noChangeAspect="1"/>
          </p:cNvPicPr>
          <p:nvPr/>
        </p:nvPicPr>
        <p:blipFill>
          <a:blip xmlns:r="http://schemas.openxmlformats.org/officeDocument/2006/relationships" xmlns:a="http://schemas.openxmlformats.org/drawingml/2006/main" r:embed="Ra9c5112416844d2d"/>
          <a:stretch xmlns:a="http://schemas.openxmlformats.org/drawingml/2006/main"/>
        </p:blipFill>
        <p:spPr>
          <a:xfrm xmlns:a="http://schemas.openxmlformats.org/drawingml/2006/main">
            <a:off x="8305800" y="1745796"/>
            <a:ext cx="1933575" cy="4537982"/>
          </a:xfrm>
          <a:prstGeom xmlns:a="http://schemas.openxmlformats.org/drawingml/2006/main" prst="rect">
            <a:avLst/>
          </a:prstGeom>
        </p:spPr>
      </p:pic>
    </p:spTree>
    <p:extLst>
      <p:ext uri="{BB962C8B-B14F-4D97-AF65-F5344CB8AC3E}">
        <p14:creationId xmlns:p14="http://schemas.microsoft.com/office/powerpoint/2010/main" val="853908249"/>
      </p:ext>
    </p:extLst>
  </p:cSld>
</p:sld>
</file>

<file path=ppt/slides/slide2.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1AFD41B-87CA-4C87-A17F-763958275AA0}"/>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2 / What changes on the screen?</a:t>
            </a:r>
          </a:p>
        </p:txBody>
      </p:sp>
      <p:sp>
        <p:nvSpPr>
          <p:cNvPr id="2" name="">
            <a:extLst xmlns:a="http://schemas.openxmlformats.org/drawingml/2006/main">
              <a:ext uri="{FF2B5EF4-FFF2-40B4-BE49-F238E27FC236}">
                <a16:creationId xmlns:a16="http://schemas.microsoft.com/office/drawing/2014/main" id="{CF07B2EE-DE3C-4E15-AB05-A9C8332013A7}"/>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Three clear routes, without losing the full catalogue.</a:t>
            </a:r>
          </a:p>
        </p:txBody>
      </p:sp>
      <p:pic>
        <p:nvPicPr>
          <p:cNvPr id="3" name="">
            <a:extLst xmlns:a="http://schemas.openxmlformats.org/drawingml/2006/main">
              <a:ext uri="{FF2B5EF4-FFF2-40B4-BE49-F238E27FC236}">
                <a16:creationId xmlns:a16="http://schemas.microsoft.com/office/drawing/2014/main" id="{A9C4EEDE-4E09-47D0-A0A2-9321B6723A5F}"/>
              </a:ext>
            </a:extLst>
          </p:cNvPr>
          <p:cNvPicPr>
            <a:picLocks xmlns:a="http://schemas.openxmlformats.org/drawingml/2006/main" noChangeAspect="1"/>
          </p:cNvPicPr>
          <p:nvPr/>
        </p:nvPicPr>
        <p:blipFill>
          <a:blip xmlns:r="http://schemas.openxmlformats.org/officeDocument/2006/relationships" xmlns:a="http://schemas.openxmlformats.org/drawingml/2006/main" r:embed="R62b2693484404634"/>
          <a:stretch xmlns:a="http://schemas.openxmlformats.org/drawingml/2006/main"/>
        </p:blipFill>
        <p:spPr>
          <a:xfrm xmlns:a="http://schemas.openxmlformats.org/drawingml/2006/main">
            <a:off x="971685" y="1685925"/>
            <a:ext cx="1628504" cy="3524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A8E03962-12EB-42F3-B3EB-F12C792CCF65}"/>
              </a:ext>
            </a:extLst>
          </p:cNvPr>
          <p:cNvPicPr>
            <a:picLocks xmlns:a="http://schemas.openxmlformats.org/drawingml/2006/main" noChangeAspect="1"/>
          </p:cNvPicPr>
          <p:nvPr/>
        </p:nvPicPr>
        <p:blipFill>
          <a:blip xmlns:r="http://schemas.openxmlformats.org/officeDocument/2006/relationships" xmlns:a="http://schemas.openxmlformats.org/drawingml/2006/main" r:embed="R74e03e7f65e14f89"/>
          <a:stretch xmlns:a="http://schemas.openxmlformats.org/drawingml/2006/main"/>
        </p:blipFill>
        <p:spPr>
          <a:xfrm xmlns:a="http://schemas.openxmlformats.org/drawingml/2006/main">
            <a:off x="5096010" y="1685925"/>
            <a:ext cx="1628504" cy="3524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0144BE32-E6FE-4B8D-B6D7-0F653EAF1CD9}"/>
              </a:ext>
            </a:extLst>
          </p:cNvPr>
          <p:cNvPicPr>
            <a:picLocks xmlns:a="http://schemas.openxmlformats.org/drawingml/2006/main" noChangeAspect="1"/>
          </p:cNvPicPr>
          <p:nvPr/>
        </p:nvPicPr>
        <p:blipFill>
          <a:blip xmlns:r="http://schemas.openxmlformats.org/officeDocument/2006/relationships" xmlns:a="http://schemas.openxmlformats.org/drawingml/2006/main" r:embed="Rb654a00c5d7146e7"/>
          <a:stretch xmlns:a="http://schemas.openxmlformats.org/drawingml/2006/main"/>
        </p:blipFill>
        <p:spPr>
          <a:xfrm xmlns:a="http://schemas.openxmlformats.org/drawingml/2006/main">
            <a:off x="9220335" y="1685925"/>
            <a:ext cx="1628504" cy="3524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FBCCBFB-52FB-4793-975A-DE35C97D5F93}"/>
              </a:ext>
            </a:extLst>
          </p:cNvPr>
          <p:cNvSpPr>
            <a:spLocks xmlns:a="http://schemas.openxmlformats.org/drawingml/2006/main" noGrp="1"/>
          </p:cNvSpPr>
          <p:nvPr/>
        </p:nvSpPr>
        <p:spPr>
          <a:xfrm xmlns:a="http://schemas.openxmlformats.org/drawingml/2006/main">
            <a:off x="590550"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US stocks</a:t>
            </a:r>
          </a:p>
        </p:txBody>
      </p:sp>
      <p:sp>
        <p:nvSpPr>
          <p:cNvPr id="7" name="">
            <a:extLst xmlns:a="http://schemas.openxmlformats.org/drawingml/2006/main">
              <a:ext uri="{FF2B5EF4-FFF2-40B4-BE49-F238E27FC236}">
                <a16:creationId xmlns:a16="http://schemas.microsoft.com/office/drawing/2014/main" id="{1C637EBA-AD16-4B4B-A2DB-629CAA0AE3EA}"/>
              </a:ext>
            </a:extLst>
          </p:cNvPr>
          <p:cNvSpPr>
            <a:spLocks xmlns:a="http://schemas.openxmlformats.org/drawingml/2006/main" noGrp="1"/>
          </p:cNvSpPr>
          <p:nvPr/>
        </p:nvSpPr>
        <p:spPr>
          <a:xfrm xmlns:a="http://schemas.openxmlformats.org/drawingml/2006/main">
            <a:off x="590550"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See the share price, compare companies, or open the blue flower for a deeper explanation.</a:t>
            </a:r>
          </a:p>
        </p:txBody>
      </p:sp>
      <p:sp>
        <p:nvSpPr>
          <p:cNvPr id="8" name="">
            <a:extLst xmlns:a="http://schemas.openxmlformats.org/drawingml/2006/main">
              <a:ext uri="{FF2B5EF4-FFF2-40B4-BE49-F238E27FC236}">
                <a16:creationId xmlns:a16="http://schemas.microsoft.com/office/drawing/2014/main" id="{146B7978-8B10-4B25-9451-3740CCCA1EA5}"/>
              </a:ext>
            </a:extLst>
          </p:cNvPr>
          <p:cNvSpPr>
            <a:spLocks xmlns:a="http://schemas.openxmlformats.org/drawingml/2006/main" noGrp="1"/>
          </p:cNvSpPr>
          <p:nvPr/>
        </p:nvSpPr>
        <p:spPr>
          <a:xfrm xmlns:a="http://schemas.openxmlformats.org/drawingml/2006/main">
            <a:off x="4714875"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Funds &amp; baskets</a:t>
            </a:r>
          </a:p>
        </p:txBody>
      </p:sp>
      <p:sp>
        <p:nvSpPr>
          <p:cNvPr id="9" name="">
            <a:extLst xmlns:a="http://schemas.openxmlformats.org/drawingml/2006/main">
              <a:ext uri="{FF2B5EF4-FFF2-40B4-BE49-F238E27FC236}">
                <a16:creationId xmlns:a16="http://schemas.microsoft.com/office/drawing/2014/main" id="{B2A9A298-698C-42C3-A357-AD857C6833CA}"/>
              </a:ext>
            </a:extLst>
          </p:cNvPr>
          <p:cNvSpPr>
            <a:spLocks xmlns:a="http://schemas.openxmlformats.org/drawingml/2006/main" noGrp="1"/>
          </p:cNvSpPr>
          <p:nvPr/>
        </p:nvSpPr>
        <p:spPr>
          <a:xfrm xmlns:a="http://schemas.openxmlformats.org/drawingml/2006/main">
            <a:off x="4714875"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Browse funds and baskets. Open the blue flower for the fund’s appeal, risks and approach.</a:t>
            </a:r>
          </a:p>
        </p:txBody>
      </p:sp>
      <p:sp>
        <p:nvSpPr>
          <p:cNvPr id="10" name="">
            <a:extLst xmlns:a="http://schemas.openxmlformats.org/drawingml/2006/main">
              <a:ext uri="{FF2B5EF4-FFF2-40B4-BE49-F238E27FC236}">
                <a16:creationId xmlns:a16="http://schemas.microsoft.com/office/drawing/2014/main" id="{E33273D2-E356-4039-97F9-411C67ACD369}"/>
              </a:ext>
            </a:extLst>
          </p:cNvPr>
          <p:cNvSpPr>
            <a:spLocks xmlns:a="http://schemas.openxmlformats.org/drawingml/2006/main" noGrp="1"/>
          </p:cNvSpPr>
          <p:nvPr/>
        </p:nvSpPr>
        <p:spPr>
          <a:xfrm xmlns:a="http://schemas.openxmlformats.org/drawingml/2006/main">
            <a:off x="8839200"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Private Wealth</a:t>
            </a:r>
          </a:p>
        </p:txBody>
      </p:sp>
      <p:sp>
        <p:nvSpPr>
          <p:cNvPr id="11" name="">
            <a:extLst xmlns:a="http://schemas.openxmlformats.org/drawingml/2006/main">
              <a:ext uri="{FF2B5EF4-FFF2-40B4-BE49-F238E27FC236}">
                <a16:creationId xmlns:a16="http://schemas.microsoft.com/office/drawing/2014/main" id="{14A17156-1FA1-490C-9736-342B64CB18C2}"/>
              </a:ext>
            </a:extLst>
          </p:cNvPr>
          <p:cNvSpPr>
            <a:spLocks xmlns:a="http://schemas.openxmlformats.org/drawingml/2006/main" noGrp="1"/>
          </p:cNvSpPr>
          <p:nvPr/>
        </p:nvSpPr>
        <p:spPr>
          <a:xfrm xmlns:a="http://schemas.openxmlformats.org/drawingml/2006/main">
            <a:off x="8839200"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Give PMS, AIF and SIF a visible place. One scroll shows all 18 offerings, with shortcuts to each section.</a:t>
            </a:r>
          </a:p>
        </p:txBody>
      </p:sp>
    </p:spTree>
    <p:extLst>
      <p:ext uri="{BB962C8B-B14F-4D97-AF65-F5344CB8AC3E}">
        <p14:creationId xmlns:p14="http://schemas.microsoft.com/office/powerpoint/2010/main" val="790603576"/>
      </p:ext>
    </p:extLst>
  </p:cSld>
</p:sld>
</file>

<file path=ppt/slides/slide3.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AA73E33-786E-4B3E-A502-6536D9C02F13}"/>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3 / AI support, at the point of doubt</a:t>
            </a:r>
          </a:p>
        </p:txBody>
      </p:sp>
      <p:sp>
        <p:nvSpPr>
          <p:cNvPr id="2" name="">
            <a:extLst xmlns:a="http://schemas.openxmlformats.org/drawingml/2006/main">
              <a:ext uri="{FF2B5EF4-FFF2-40B4-BE49-F238E27FC236}">
                <a16:creationId xmlns:a16="http://schemas.microsoft.com/office/drawing/2014/main" id="{40FA741A-3DF5-4E9B-AB49-9A72198E6647}"/>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Help users understand the investment.</a:t>
            </a:r>
          </a:p>
        </p:txBody>
      </p:sp>
      <p:sp>
        <p:nvSpPr>
          <p:cNvPr id="3" name="">
            <a:extLst xmlns:a="http://schemas.openxmlformats.org/drawingml/2006/main">
              <a:ext uri="{FF2B5EF4-FFF2-40B4-BE49-F238E27FC236}">
                <a16:creationId xmlns:a16="http://schemas.microsoft.com/office/drawing/2014/main" id="{913FD728-D5F4-447A-A910-A98DA58304FC}"/>
              </a:ext>
            </a:extLst>
          </p:cNvPr>
          <p:cNvSpPr>
            <a:spLocks xmlns:a="http://schemas.openxmlformats.org/drawingml/2006/main" noGrp="1"/>
          </p:cNvSpPr>
          <p:nvPr/>
        </p:nvSpPr>
        <p:spPr>
          <a:xfrm xmlns:a="http://schemas.openxmlformats.org/drawingml/2006/main">
            <a:off x="590550" y="20002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Explain the upside and downside</a:t>
            </a:r>
          </a:p>
        </p:txBody>
      </p:sp>
      <p:sp>
        <p:nvSpPr>
          <p:cNvPr id="4" name="">
            <a:extLst xmlns:a="http://schemas.openxmlformats.org/drawingml/2006/main">
              <a:ext uri="{FF2B5EF4-FFF2-40B4-BE49-F238E27FC236}">
                <a16:creationId xmlns:a16="http://schemas.microsoft.com/office/drawing/2014/main" id="{CD40BB90-8761-44B3-A789-2EC74DE1F995}"/>
              </a:ext>
            </a:extLst>
          </p:cNvPr>
          <p:cNvSpPr>
            <a:spLocks xmlns:a="http://schemas.openxmlformats.org/drawingml/2006/main" noGrp="1"/>
          </p:cNvSpPr>
          <p:nvPr/>
        </p:nvSpPr>
        <p:spPr>
          <a:xfrm xmlns:a="http://schemas.openxmlformats.org/drawingml/2006/main">
            <a:off x="590550" y="24098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Explain the business, what makes it interesting and what could go wrong. Let users switch between Overview, Strengths, Risks and Vision.</a:t>
            </a:r>
          </a:p>
        </p:txBody>
      </p:sp>
      <p:sp>
        <p:nvSpPr>
          <p:cNvPr id="5" name="">
            <a:extLst xmlns:a="http://schemas.openxmlformats.org/drawingml/2006/main">
              <a:ext uri="{FF2B5EF4-FFF2-40B4-BE49-F238E27FC236}">
                <a16:creationId xmlns:a16="http://schemas.microsoft.com/office/drawing/2014/main" id="{8F0D7ECC-81BC-4AD9-9545-9091DEED23B7}"/>
              </a:ext>
            </a:extLst>
          </p:cNvPr>
          <p:cNvSpPr>
            <a:spLocks xmlns:a="http://schemas.openxmlformats.org/drawingml/2006/main" noGrp="1"/>
          </p:cNvSpPr>
          <p:nvPr/>
        </p:nvSpPr>
        <p:spPr>
          <a:xfrm xmlns:a="http://schemas.openxmlformats.org/drawingml/2006/main">
            <a:off x="590550" y="35623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Make the company’s direction clear</a:t>
            </a:r>
          </a:p>
        </p:txBody>
      </p:sp>
      <p:sp>
        <p:nvSpPr>
          <p:cNvPr id="6" name="">
            <a:extLst xmlns:a="http://schemas.openxmlformats.org/drawingml/2006/main">
              <a:ext uri="{FF2B5EF4-FFF2-40B4-BE49-F238E27FC236}">
                <a16:creationId xmlns:a16="http://schemas.microsoft.com/office/drawing/2014/main" id="{37DEE84D-0047-4D3A-B18D-3D3CD3E685D0}"/>
              </a:ext>
            </a:extLst>
          </p:cNvPr>
          <p:cNvSpPr>
            <a:spLocks xmlns:a="http://schemas.openxmlformats.org/drawingml/2006/main" noGrp="1"/>
          </p:cNvSpPr>
          <p:nvPr/>
        </p:nvSpPr>
        <p:spPr>
          <a:xfrm xmlns:a="http://schemas.openxmlformats.org/drawingml/2006/main">
            <a:off x="590550" y="39719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Summarise the company’s stated direction and link to its filing. Separate those plans from any claim about the future share price.</a:t>
            </a:r>
          </a:p>
        </p:txBody>
      </p:sp>
      <p:sp>
        <p:nvSpPr>
          <p:cNvPr id="7" name="">
            <a:extLst xmlns:a="http://schemas.openxmlformats.org/drawingml/2006/main">
              <a:ext uri="{FF2B5EF4-FFF2-40B4-BE49-F238E27FC236}">
                <a16:creationId xmlns:a16="http://schemas.microsoft.com/office/drawing/2014/main" id="{7ADB5C1F-9761-4501-BF8B-92182F9F8999}"/>
              </a:ext>
            </a:extLst>
          </p:cNvPr>
          <p:cNvSpPr>
            <a:spLocks xmlns:a="http://schemas.openxmlformats.org/drawingml/2006/main" noGrp="1"/>
          </p:cNvSpPr>
          <p:nvPr/>
        </p:nvSpPr>
        <p:spPr>
          <a:xfrm xmlns:a="http://schemas.openxmlformats.org/drawingml/2006/main">
            <a:off x="590550" y="51244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Help the user decide what to check next</a:t>
            </a:r>
          </a:p>
        </p:txBody>
      </p:sp>
      <p:sp>
        <p:nvSpPr>
          <p:cNvPr id="8" name="">
            <a:extLst xmlns:a="http://schemas.openxmlformats.org/drawingml/2006/main">
              <a:ext uri="{FF2B5EF4-FFF2-40B4-BE49-F238E27FC236}">
                <a16:creationId xmlns:a16="http://schemas.microsoft.com/office/drawing/2014/main" id="{ED8F6A72-BA24-4E32-8A2B-AA615149DC63}"/>
              </a:ext>
            </a:extLst>
          </p:cNvPr>
          <p:cNvSpPr>
            <a:spLocks xmlns:a="http://schemas.openxmlformats.org/drawingml/2006/main" noGrp="1"/>
          </p:cNvSpPr>
          <p:nvPr/>
        </p:nvSpPr>
        <p:spPr>
          <a:xfrm xmlns:a="http://schemas.openxmlformats.org/drawingml/2006/main">
            <a:off x="590550" y="55340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Fund deep dives explain the mandate, exposure and costs. For US stocks, call out funding and FX needs. Link back to the product details before the next step.</a:t>
            </a:r>
          </a:p>
        </p:txBody>
      </p:sp>
      <p:pic>
        <p:nvPicPr>
          <p:cNvPr id="9" name="">
            <a:extLst xmlns:a="http://schemas.openxmlformats.org/drawingml/2006/main">
              <a:ext uri="{FF2B5EF4-FFF2-40B4-BE49-F238E27FC236}">
                <a16:creationId xmlns:a16="http://schemas.microsoft.com/office/drawing/2014/main" id="{C7C2AB23-423F-479E-BA22-D051B94D6958}"/>
              </a:ext>
            </a:extLst>
          </p:cNvPr>
          <p:cNvPicPr>
            <a:picLocks xmlns:a="http://schemas.openxmlformats.org/drawingml/2006/main" noChangeAspect="1"/>
          </p:cNvPicPr>
          <p:nvPr/>
        </p:nvPicPr>
        <p:blipFill>
          <a:blip xmlns:r="http://schemas.openxmlformats.org/officeDocument/2006/relationships" xmlns:a="http://schemas.openxmlformats.org/drawingml/2006/main" r:embed="Re54e3cd163c34dd1"/>
          <a:stretch xmlns:a="http://schemas.openxmlformats.org/drawingml/2006/main"/>
        </p:blipFill>
        <p:spPr>
          <a:xfrm xmlns:a="http://schemas.openxmlformats.org/drawingml/2006/main">
            <a:off x="7163195" y="1876425"/>
            <a:ext cx="1808960" cy="39147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B70806EE-6BAD-4060-8081-ACF08C927B39}"/>
              </a:ext>
            </a:extLst>
          </p:cNvPr>
          <p:cNvPicPr>
            <a:picLocks xmlns:a="http://schemas.openxmlformats.org/drawingml/2006/main" noChangeAspect="1"/>
          </p:cNvPicPr>
          <p:nvPr/>
        </p:nvPicPr>
        <p:blipFill>
          <a:blip xmlns:r="http://schemas.openxmlformats.org/officeDocument/2006/relationships" xmlns:a="http://schemas.openxmlformats.org/drawingml/2006/main" r:embed="R44fcff8036984218"/>
          <a:stretch xmlns:a="http://schemas.openxmlformats.org/drawingml/2006/main"/>
        </p:blipFill>
        <p:spPr>
          <a:xfrm xmlns:a="http://schemas.openxmlformats.org/drawingml/2006/main">
            <a:off x="9525395" y="1876425"/>
            <a:ext cx="1808960" cy="39147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9195FC9-420F-4F23-BCB2-A48810C2978B}"/>
              </a:ext>
            </a:extLst>
          </p:cNvPr>
          <p:cNvSpPr>
            <a:spLocks xmlns:a="http://schemas.openxmlformats.org/drawingml/2006/main" noGrp="1"/>
          </p:cNvSpPr>
          <p:nvPr/>
        </p:nvSpPr>
        <p:spPr>
          <a:xfrm xmlns:a="http://schemas.openxmlformats.org/drawingml/2006/main">
            <a:off x="7162800" y="598170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28369F"/>
                </a:solidFill>
                <a:latin typeface="Arial"/>
                <a:ea typeface="Arial"/>
                <a:cs typeface="Arial"/>
              </a:defRPr>
            </a:defPPr>
            <a:lvl1pPr>
              <a:defRPr sz="1275" b="1">
                <a:solidFill>
                  <a:srgbClr val="28369F"/>
                </a:solidFill>
                <a:latin typeface="Arial"/>
                <a:ea typeface="Arial"/>
                <a:cs typeface="Arial"/>
              </a:defRPr>
            </a:lvl1pPr>
            <a:lvl2pPr>
              <a:defRPr sz="1275" b="1">
                <a:solidFill>
                  <a:srgbClr val="28369F"/>
                </a:solidFill>
                <a:latin typeface="Arial"/>
                <a:ea typeface="Arial"/>
                <a:cs typeface="Arial"/>
              </a:defRPr>
            </a:lvl2pPr>
            <a:lvl3pPr>
              <a:defRPr sz="1275" b="1">
                <a:solidFill>
                  <a:srgbClr val="28369F"/>
                </a:solidFill>
                <a:latin typeface="Arial"/>
                <a:ea typeface="Arial"/>
                <a:cs typeface="Arial"/>
              </a:defRPr>
            </a:lvl3pPr>
            <a:lvl4pPr>
              <a:defRPr sz="1275" b="1">
                <a:solidFill>
                  <a:srgbClr val="28369F"/>
                </a:solidFill>
                <a:latin typeface="Arial"/>
                <a:ea typeface="Arial"/>
                <a:cs typeface="Arial"/>
              </a:defRPr>
            </a:lvl4pPr>
            <a:lvl5pPr>
              <a:defRPr sz="1275" b="1">
                <a:solidFill>
                  <a:srgbClr val="28369F"/>
                </a:solidFill>
                <a:latin typeface="Arial"/>
                <a:ea typeface="Arial"/>
                <a:cs typeface="Arial"/>
              </a:defRPr>
            </a:lvl5pPr>
            <a:lvl6pPr>
              <a:defRPr sz="1275" b="1">
                <a:solidFill>
                  <a:srgbClr val="28369F"/>
                </a:solidFill>
                <a:latin typeface="Arial"/>
                <a:ea typeface="Arial"/>
                <a:cs typeface="Arial"/>
              </a:defRPr>
            </a:lvl6pPr>
            <a:lvl7pPr>
              <a:defRPr sz="1275" b="1">
                <a:solidFill>
                  <a:srgbClr val="28369F"/>
                </a:solidFill>
                <a:latin typeface="Arial"/>
                <a:ea typeface="Arial"/>
                <a:cs typeface="Arial"/>
              </a:defRPr>
            </a:lvl7pPr>
            <a:lvl8pPr>
              <a:defRPr sz="1275" b="1">
                <a:solidFill>
                  <a:srgbClr val="28369F"/>
                </a:solidFill>
                <a:latin typeface="Arial"/>
                <a:ea typeface="Arial"/>
                <a:cs typeface="Arial"/>
              </a:defRPr>
            </a:lvl8pPr>
            <a:lvl9pPr>
              <a:defRPr sz="1275" b="1">
                <a:solidFill>
                  <a:srgbClr val="28369F"/>
                </a:solidFill>
                <a:latin typeface="Arial"/>
                <a:ea typeface="Arial"/>
                <a:cs typeface="Arial"/>
              </a:defRPr>
            </a:lvl9pPr>
          </a:lstStyle>
          <a:p xmlns:a="http://schemas.openxmlformats.org/drawingml/2006/main">
            <a:pPr>
              <a:defRPr sz="1275" b="1">
                <a:solidFill>
                  <a:srgbClr val="28369F"/>
                </a:solidFill>
                <a:latin typeface="Arial"/>
                <a:ea typeface="Arial"/>
                <a:cs typeface="Arial"/>
              </a:defRPr>
            </a:pPr>
            <a:r>
              <a:rPr sz="1275" b="1">
                <a:solidFill>
                  <a:srgbClr val="28369F"/>
                </a:solidFill>
                <a:latin typeface="Arial"/>
                <a:ea typeface="Arial"/>
                <a:cs typeface="Arial"/>
              </a:rPr>
              <a:t>Stock deep dive</a:t>
            </a:r>
          </a:p>
        </p:txBody>
      </p:sp>
      <p:sp>
        <p:nvSpPr>
          <p:cNvPr id="12" name="">
            <a:extLst xmlns:a="http://schemas.openxmlformats.org/drawingml/2006/main">
              <a:ext uri="{FF2B5EF4-FFF2-40B4-BE49-F238E27FC236}">
                <a16:creationId xmlns:a16="http://schemas.microsoft.com/office/drawing/2014/main" id="{FB2B35F9-1161-4F10-862B-D78F3FE16574}"/>
              </a:ext>
            </a:extLst>
          </p:cNvPr>
          <p:cNvSpPr>
            <a:spLocks xmlns:a="http://schemas.openxmlformats.org/drawingml/2006/main" noGrp="1"/>
          </p:cNvSpPr>
          <p:nvPr/>
        </p:nvSpPr>
        <p:spPr>
          <a:xfrm xmlns:a="http://schemas.openxmlformats.org/drawingml/2006/main">
            <a:off x="9525000" y="598170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28369F"/>
                </a:solidFill>
                <a:latin typeface="Arial"/>
                <a:ea typeface="Arial"/>
                <a:cs typeface="Arial"/>
              </a:defRPr>
            </a:defPPr>
            <a:lvl1pPr>
              <a:defRPr sz="1275" b="1">
                <a:solidFill>
                  <a:srgbClr val="28369F"/>
                </a:solidFill>
                <a:latin typeface="Arial"/>
                <a:ea typeface="Arial"/>
                <a:cs typeface="Arial"/>
              </a:defRPr>
            </a:lvl1pPr>
            <a:lvl2pPr>
              <a:defRPr sz="1275" b="1">
                <a:solidFill>
                  <a:srgbClr val="28369F"/>
                </a:solidFill>
                <a:latin typeface="Arial"/>
                <a:ea typeface="Arial"/>
                <a:cs typeface="Arial"/>
              </a:defRPr>
            </a:lvl2pPr>
            <a:lvl3pPr>
              <a:defRPr sz="1275" b="1">
                <a:solidFill>
                  <a:srgbClr val="28369F"/>
                </a:solidFill>
                <a:latin typeface="Arial"/>
                <a:ea typeface="Arial"/>
                <a:cs typeface="Arial"/>
              </a:defRPr>
            </a:lvl3pPr>
            <a:lvl4pPr>
              <a:defRPr sz="1275" b="1">
                <a:solidFill>
                  <a:srgbClr val="28369F"/>
                </a:solidFill>
                <a:latin typeface="Arial"/>
                <a:ea typeface="Arial"/>
                <a:cs typeface="Arial"/>
              </a:defRPr>
            </a:lvl4pPr>
            <a:lvl5pPr>
              <a:defRPr sz="1275" b="1">
                <a:solidFill>
                  <a:srgbClr val="28369F"/>
                </a:solidFill>
                <a:latin typeface="Arial"/>
                <a:ea typeface="Arial"/>
                <a:cs typeface="Arial"/>
              </a:defRPr>
            </a:lvl5pPr>
            <a:lvl6pPr>
              <a:defRPr sz="1275" b="1">
                <a:solidFill>
                  <a:srgbClr val="28369F"/>
                </a:solidFill>
                <a:latin typeface="Arial"/>
                <a:ea typeface="Arial"/>
                <a:cs typeface="Arial"/>
              </a:defRPr>
            </a:lvl6pPr>
            <a:lvl7pPr>
              <a:defRPr sz="1275" b="1">
                <a:solidFill>
                  <a:srgbClr val="28369F"/>
                </a:solidFill>
                <a:latin typeface="Arial"/>
                <a:ea typeface="Arial"/>
                <a:cs typeface="Arial"/>
              </a:defRPr>
            </a:lvl7pPr>
            <a:lvl8pPr>
              <a:defRPr sz="1275" b="1">
                <a:solidFill>
                  <a:srgbClr val="28369F"/>
                </a:solidFill>
                <a:latin typeface="Arial"/>
                <a:ea typeface="Arial"/>
                <a:cs typeface="Arial"/>
              </a:defRPr>
            </a:lvl8pPr>
            <a:lvl9pPr>
              <a:defRPr sz="1275" b="1">
                <a:solidFill>
                  <a:srgbClr val="28369F"/>
                </a:solidFill>
                <a:latin typeface="Arial"/>
                <a:ea typeface="Arial"/>
                <a:cs typeface="Arial"/>
              </a:defRPr>
            </a:lvl9pPr>
          </a:lstStyle>
          <a:p xmlns:a="http://schemas.openxmlformats.org/drawingml/2006/main">
            <a:pPr>
              <a:defRPr sz="1275" b="1">
                <a:solidFill>
                  <a:srgbClr val="28369F"/>
                </a:solidFill>
                <a:latin typeface="Arial"/>
                <a:ea typeface="Arial"/>
                <a:cs typeface="Arial"/>
              </a:defRPr>
            </a:pPr>
            <a:r>
              <a:rPr sz="1275" b="1">
                <a:solidFill>
                  <a:srgbClr val="28369F"/>
                </a:solidFill>
                <a:latin typeface="Arial"/>
                <a:ea typeface="Arial"/>
                <a:cs typeface="Arial"/>
              </a:rPr>
              <a:t>Mutual fund deep dive</a:t>
            </a:r>
          </a:p>
        </p:txBody>
      </p:sp>
      <p:sp>
        <p:nvSpPr>
          <p:cNvPr id="13" name="">
            <a:extLst xmlns:a="http://schemas.openxmlformats.org/drawingml/2006/main">
              <a:ext uri="{FF2B5EF4-FFF2-40B4-BE49-F238E27FC236}">
                <a16:creationId xmlns:a16="http://schemas.microsoft.com/office/drawing/2014/main" id="{DA8393FF-4842-4813-B8E7-CF3C8E552099}"/>
              </a:ext>
            </a:extLst>
          </p:cNvPr>
          <p:cNvSpPr>
            <a:spLocks xmlns:a="http://schemas.openxmlformats.org/drawingml/2006/main" noGrp="1"/>
          </p:cNvSpPr>
          <p:nvPr/>
        </p:nvSpPr>
        <p:spPr>
          <a:xfrm xmlns:a="http://schemas.openxmlformats.org/drawingml/2006/main">
            <a:off x="590550" y="6600825"/>
            <a:ext cx="10953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25" b="0">
                <a:solidFill>
                  <a:srgbClr val="58677E"/>
                </a:solidFill>
                <a:latin typeface="Arial"/>
                <a:ea typeface="Arial"/>
                <a:cs typeface="Arial"/>
              </a:defRPr>
            </a:defPPr>
            <a:lvl1pPr>
              <a:defRPr sz="825" b="0">
                <a:solidFill>
                  <a:srgbClr val="58677E"/>
                </a:solidFill>
                <a:latin typeface="Arial"/>
                <a:ea typeface="Arial"/>
                <a:cs typeface="Arial"/>
              </a:defRPr>
            </a:lvl1pPr>
            <a:lvl2pPr>
              <a:defRPr sz="825" b="0">
                <a:solidFill>
                  <a:srgbClr val="58677E"/>
                </a:solidFill>
                <a:latin typeface="Arial"/>
                <a:ea typeface="Arial"/>
                <a:cs typeface="Arial"/>
              </a:defRPr>
            </a:lvl2pPr>
            <a:lvl3pPr>
              <a:defRPr sz="825" b="0">
                <a:solidFill>
                  <a:srgbClr val="58677E"/>
                </a:solidFill>
                <a:latin typeface="Arial"/>
                <a:ea typeface="Arial"/>
                <a:cs typeface="Arial"/>
              </a:defRPr>
            </a:lvl3pPr>
            <a:lvl4pPr>
              <a:defRPr sz="825" b="0">
                <a:solidFill>
                  <a:srgbClr val="58677E"/>
                </a:solidFill>
                <a:latin typeface="Arial"/>
                <a:ea typeface="Arial"/>
                <a:cs typeface="Arial"/>
              </a:defRPr>
            </a:lvl4pPr>
            <a:lvl5pPr>
              <a:defRPr sz="825" b="0">
                <a:solidFill>
                  <a:srgbClr val="58677E"/>
                </a:solidFill>
                <a:latin typeface="Arial"/>
                <a:ea typeface="Arial"/>
                <a:cs typeface="Arial"/>
              </a:defRPr>
            </a:lvl5pPr>
            <a:lvl6pPr>
              <a:defRPr sz="825" b="0">
                <a:solidFill>
                  <a:srgbClr val="58677E"/>
                </a:solidFill>
                <a:latin typeface="Arial"/>
                <a:ea typeface="Arial"/>
                <a:cs typeface="Arial"/>
              </a:defRPr>
            </a:lvl6pPr>
            <a:lvl7pPr>
              <a:defRPr sz="825" b="0">
                <a:solidFill>
                  <a:srgbClr val="58677E"/>
                </a:solidFill>
                <a:latin typeface="Arial"/>
                <a:ea typeface="Arial"/>
                <a:cs typeface="Arial"/>
              </a:defRPr>
            </a:lvl7pPr>
            <a:lvl8pPr>
              <a:defRPr sz="825" b="0">
                <a:solidFill>
                  <a:srgbClr val="58677E"/>
                </a:solidFill>
                <a:latin typeface="Arial"/>
                <a:ea typeface="Arial"/>
                <a:cs typeface="Arial"/>
              </a:defRPr>
            </a:lvl8pPr>
            <a:lvl9pPr>
              <a:defRPr sz="825" b="0">
                <a:solidFill>
                  <a:srgbClr val="58677E"/>
                </a:solidFill>
                <a:latin typeface="Arial"/>
                <a:ea typeface="Arial"/>
                <a:cs typeface="Arial"/>
              </a:defRPr>
            </a:lvl9pPr>
          </a:lstStyle>
          <a:p xmlns:a="http://schemas.openxmlformats.org/drawingml/2006/main">
            <a:pPr>
              <a:defRPr sz="825" b="0">
                <a:solidFill>
                  <a:srgbClr val="58677E"/>
                </a:solidFill>
                <a:latin typeface="Arial"/>
                <a:ea typeface="Arial"/>
                <a:cs typeface="Arial"/>
              </a:defRPr>
            </a:pPr>
            <a:r>
              <a:rPr sz="825" b="0">
                <a:solidFill>
                  <a:srgbClr val="58677E"/>
                </a:solidFill>
                <a:latin typeface="Arial"/>
                <a:ea typeface="Arial"/>
                <a:cs typeface="Arial"/>
              </a:rPr>
              <a:t>Prototype: prepared explanations with linked sources. Live AI generation and portfolio analysis are not connected.</a:t>
            </a:r>
          </a:p>
        </p:txBody>
      </p:sp>
    </p:spTree>
    <p:extLst>
      <p:ext uri="{BB962C8B-B14F-4D97-AF65-F5344CB8AC3E}">
        <p14:creationId xmlns:p14="http://schemas.microsoft.com/office/powerpoint/2010/main" val="1106648503"/>
      </p:ext>
    </p:extLst>
  </p:cSld>
</p:sld>
</file>

<file path=ppt/slides/slide4.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299AFEB-4DCC-4872-AAB4-0985EB6F63D6}"/>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Appendix / The hypothesis and its limits</a:t>
            </a:r>
          </a:p>
        </p:txBody>
      </p:sp>
      <p:sp>
        <p:nvSpPr>
          <p:cNvPr id="2" name="">
            <a:extLst xmlns:a="http://schemas.openxmlformats.org/drawingml/2006/main">
              <a:ext uri="{FF2B5EF4-FFF2-40B4-BE49-F238E27FC236}">
                <a16:creationId xmlns:a16="http://schemas.microsoft.com/office/drawing/2014/main" id="{1E7C9E7D-C3D7-4DE3-A0AC-AA2CE5327DC1}"/>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Why this is worth testing</a:t>
            </a:r>
          </a:p>
        </p:txBody>
      </p:sp>
      <p:sp>
        <p:nvSpPr>
          <p:cNvPr id="3" name="">
            <a:extLst xmlns:a="http://schemas.openxmlformats.org/drawingml/2006/main">
              <a:ext uri="{FF2B5EF4-FFF2-40B4-BE49-F238E27FC236}">
                <a16:creationId xmlns:a16="http://schemas.microsoft.com/office/drawing/2014/main" id="{3022941F-F6C1-45FE-A35F-D50900AF3AC0}"/>
              </a:ext>
            </a:extLst>
          </p:cNvPr>
          <p:cNvSpPr>
            <a:spLocks xmlns:a="http://schemas.openxmlformats.org/drawingml/2006/main" noGrp="1"/>
          </p:cNvSpPr>
          <p:nvPr/>
        </p:nvSpPr>
        <p:spPr>
          <a:xfrm xmlns:a="http://schemas.openxmlformats.org/drawingml/2006/main">
            <a:off x="590550" y="1666875"/>
            <a:ext cx="10906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263E"/>
                </a:solidFill>
                <a:latin typeface="Arial"/>
                <a:ea typeface="Arial"/>
                <a:cs typeface="Arial"/>
              </a:defRPr>
            </a:defPPr>
            <a:lvl1pPr>
              <a:defRPr sz="2025" b="1">
                <a:solidFill>
                  <a:srgbClr val="17263E"/>
                </a:solidFill>
                <a:latin typeface="Arial"/>
                <a:ea typeface="Arial"/>
                <a:cs typeface="Arial"/>
              </a:defRPr>
            </a:lvl1pPr>
            <a:lvl2pPr>
              <a:defRPr sz="2025" b="1">
                <a:solidFill>
                  <a:srgbClr val="17263E"/>
                </a:solidFill>
                <a:latin typeface="Arial"/>
                <a:ea typeface="Arial"/>
                <a:cs typeface="Arial"/>
              </a:defRPr>
            </a:lvl2pPr>
            <a:lvl3pPr>
              <a:defRPr sz="2025" b="1">
                <a:solidFill>
                  <a:srgbClr val="17263E"/>
                </a:solidFill>
                <a:latin typeface="Arial"/>
                <a:ea typeface="Arial"/>
                <a:cs typeface="Arial"/>
              </a:defRPr>
            </a:lvl3pPr>
            <a:lvl4pPr>
              <a:defRPr sz="2025" b="1">
                <a:solidFill>
                  <a:srgbClr val="17263E"/>
                </a:solidFill>
                <a:latin typeface="Arial"/>
                <a:ea typeface="Arial"/>
                <a:cs typeface="Arial"/>
              </a:defRPr>
            </a:lvl4pPr>
            <a:lvl5pPr>
              <a:defRPr sz="2025" b="1">
                <a:solidFill>
                  <a:srgbClr val="17263E"/>
                </a:solidFill>
                <a:latin typeface="Arial"/>
                <a:ea typeface="Arial"/>
                <a:cs typeface="Arial"/>
              </a:defRPr>
            </a:lvl5pPr>
            <a:lvl6pPr>
              <a:defRPr sz="2025" b="1">
                <a:solidFill>
                  <a:srgbClr val="17263E"/>
                </a:solidFill>
                <a:latin typeface="Arial"/>
                <a:ea typeface="Arial"/>
                <a:cs typeface="Arial"/>
              </a:defRPr>
            </a:lvl6pPr>
            <a:lvl7pPr>
              <a:defRPr sz="2025" b="1">
                <a:solidFill>
                  <a:srgbClr val="17263E"/>
                </a:solidFill>
                <a:latin typeface="Arial"/>
                <a:ea typeface="Arial"/>
                <a:cs typeface="Arial"/>
              </a:defRPr>
            </a:lvl7pPr>
            <a:lvl8pPr>
              <a:defRPr sz="2025" b="1">
                <a:solidFill>
                  <a:srgbClr val="17263E"/>
                </a:solidFill>
                <a:latin typeface="Arial"/>
                <a:ea typeface="Arial"/>
                <a:cs typeface="Arial"/>
              </a:defRPr>
            </a:lvl8pPr>
            <a:lvl9pPr>
              <a:defRPr sz="2025" b="1">
                <a:solidFill>
                  <a:srgbClr val="17263E"/>
                </a:solidFill>
                <a:latin typeface="Arial"/>
                <a:ea typeface="Arial"/>
                <a:cs typeface="Arial"/>
              </a:defRPr>
            </a:lvl9pPr>
          </a:lstStyle>
          <a:p xmlns:a="http://schemas.openxmlformats.org/drawingml/2006/main">
            <a:pPr>
              <a:defRPr sz="2025" b="1">
                <a:solidFill>
                  <a:srgbClr val="17263E"/>
                </a:solidFill>
                <a:latin typeface="Arial"/>
                <a:ea typeface="Arial"/>
                <a:cs typeface="Arial"/>
              </a:defRPr>
            </a:pPr>
            <a:r>
              <a:rPr sz="2025" b="1">
                <a:solidFill>
                  <a:srgbClr val="17263E"/>
                </a:solidFill>
                <a:latin typeface="Arial"/>
                <a:ea typeface="Arial"/>
                <a:cs typeface="Arial"/>
              </a:rPr>
              <a:t>If people can find an accessible option near the top and understand the costs, risks and next step, more should be able to complete a first investment without a call.</a:t>
            </a:r>
          </a:p>
        </p:txBody>
      </p:sp>
      <p:sp>
        <p:nvSpPr>
          <p:cNvPr id="4" name="">
            <a:extLst xmlns:a="http://schemas.openxmlformats.org/drawingml/2006/main">
              <a:ext uri="{FF2B5EF4-FFF2-40B4-BE49-F238E27FC236}">
                <a16:creationId xmlns:a16="http://schemas.microsoft.com/office/drawing/2014/main" id="{A196E53C-CD49-47EB-AE5B-ADC4A7EC9670}"/>
              </a:ext>
            </a:extLst>
          </p:cNvPr>
          <p:cNvSpPr>
            <a:spLocks xmlns:a="http://schemas.openxmlformats.org/drawingml/2006/main" noGrp="1"/>
          </p:cNvSpPr>
          <p:nvPr/>
        </p:nvSpPr>
        <p:spPr>
          <a:xfrm xmlns:a="http://schemas.openxmlformats.org/drawingml/2006/main">
            <a:off x="590550" y="2809875"/>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the Android research tells us</a:t>
            </a:r>
          </a:p>
        </p:txBody>
      </p:sp>
      <p:sp>
        <p:nvSpPr>
          <p:cNvPr id="5" name="">
            <a:extLst xmlns:a="http://schemas.openxmlformats.org/drawingml/2006/main">
              <a:ext uri="{FF2B5EF4-FFF2-40B4-BE49-F238E27FC236}">
                <a16:creationId xmlns:a16="http://schemas.microsoft.com/office/drawing/2014/main" id="{A4A51BD2-3DB3-4218-ACF6-D342B3FA2305}"/>
              </a:ext>
            </a:extLst>
          </p:cNvPr>
          <p:cNvSpPr>
            <a:spLocks xmlns:a="http://schemas.openxmlformats.org/drawingml/2006/main" noGrp="1"/>
          </p:cNvSpPr>
          <p:nvPr/>
        </p:nvSpPr>
        <p:spPr>
          <a:xfrm xmlns:a="http://schemas.openxmlformats.org/drawingml/2006/main">
            <a:off x="590550" y="3238500"/>
            <a:ext cx="509587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A study of 145 students on Android 10 phones and tablets found that paging led to more revisiting of earlier information than scrolling. This gives us a reason to make comparison and returning to a product easier.</a:t>
            </a:r>
          </a:p>
        </p:txBody>
      </p:sp>
      <p:sp>
        <p:nvSpPr>
          <p:cNvPr id="6" name="">
            <a:extLst xmlns:a="http://schemas.openxmlformats.org/drawingml/2006/main">
              <a:ext uri="{FF2B5EF4-FFF2-40B4-BE49-F238E27FC236}">
                <a16:creationId xmlns:a16="http://schemas.microsoft.com/office/drawing/2014/main" id="{3AA0A61D-AE9E-4858-89C3-01368BDE8CFC}"/>
              </a:ext>
            </a:extLst>
          </p:cNvPr>
          <p:cNvSpPr>
            <a:spLocks xmlns:a="http://schemas.openxmlformats.org/drawingml/2006/main" noGrp="1"/>
          </p:cNvSpPr>
          <p:nvPr/>
        </p:nvSpPr>
        <p:spPr>
          <a:xfrm xmlns:a="http://schemas.openxmlformats.org/drawingml/2006/main">
            <a:off x="590550" y="4638675"/>
            <a:ext cx="5095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8677E"/>
                </a:solidFill>
                <a:latin typeface="Arial"/>
                <a:ea typeface="Arial"/>
                <a:cs typeface="Arial"/>
              </a:defRPr>
            </a:defPPr>
            <a:lvl1pPr>
              <a:defRPr sz="1275" b="0">
                <a:solidFill>
                  <a:srgbClr val="58677E"/>
                </a:solidFill>
                <a:latin typeface="Arial"/>
                <a:ea typeface="Arial"/>
                <a:cs typeface="Arial"/>
              </a:defRPr>
            </a:lvl1pPr>
            <a:lvl2pPr>
              <a:defRPr sz="1275" b="0">
                <a:solidFill>
                  <a:srgbClr val="58677E"/>
                </a:solidFill>
                <a:latin typeface="Arial"/>
                <a:ea typeface="Arial"/>
                <a:cs typeface="Arial"/>
              </a:defRPr>
            </a:lvl2pPr>
            <a:lvl3pPr>
              <a:defRPr sz="1275" b="0">
                <a:solidFill>
                  <a:srgbClr val="58677E"/>
                </a:solidFill>
                <a:latin typeface="Arial"/>
                <a:ea typeface="Arial"/>
                <a:cs typeface="Arial"/>
              </a:defRPr>
            </a:lvl3pPr>
            <a:lvl4pPr>
              <a:defRPr sz="1275" b="0">
                <a:solidFill>
                  <a:srgbClr val="58677E"/>
                </a:solidFill>
                <a:latin typeface="Arial"/>
                <a:ea typeface="Arial"/>
                <a:cs typeface="Arial"/>
              </a:defRPr>
            </a:lvl4pPr>
            <a:lvl5pPr>
              <a:defRPr sz="1275" b="0">
                <a:solidFill>
                  <a:srgbClr val="58677E"/>
                </a:solidFill>
                <a:latin typeface="Arial"/>
                <a:ea typeface="Arial"/>
                <a:cs typeface="Arial"/>
              </a:defRPr>
            </a:lvl5pPr>
            <a:lvl6pPr>
              <a:defRPr sz="1275" b="0">
                <a:solidFill>
                  <a:srgbClr val="58677E"/>
                </a:solidFill>
                <a:latin typeface="Arial"/>
                <a:ea typeface="Arial"/>
                <a:cs typeface="Arial"/>
              </a:defRPr>
            </a:lvl6pPr>
            <a:lvl7pPr>
              <a:defRPr sz="1275" b="0">
                <a:solidFill>
                  <a:srgbClr val="58677E"/>
                </a:solidFill>
                <a:latin typeface="Arial"/>
                <a:ea typeface="Arial"/>
                <a:cs typeface="Arial"/>
              </a:defRPr>
            </a:lvl7pPr>
            <a:lvl8pPr>
              <a:defRPr sz="1275" b="0">
                <a:solidFill>
                  <a:srgbClr val="58677E"/>
                </a:solidFill>
                <a:latin typeface="Arial"/>
                <a:ea typeface="Arial"/>
                <a:cs typeface="Arial"/>
              </a:defRPr>
            </a:lvl8pPr>
            <a:lvl9pPr>
              <a:defRPr sz="1275" b="0">
                <a:solidFill>
                  <a:srgbClr val="58677E"/>
                </a:solidFill>
                <a:latin typeface="Arial"/>
                <a:ea typeface="Arial"/>
                <a:cs typeface="Arial"/>
              </a:defRPr>
            </a:lvl9pPr>
          </a:lstStyle>
          <a:p xmlns:a="http://schemas.openxmlformats.org/drawingml/2006/main">
            <a:pPr>
              <a:defRPr sz="1275" b="0">
                <a:solidFill>
                  <a:srgbClr val="58677E"/>
                </a:solidFill>
                <a:latin typeface="Arial"/>
                <a:ea typeface="Arial"/>
                <a:cs typeface="Arial"/>
              </a:defRPr>
            </a:pPr>
            <a:r>
              <a:rPr sz="1275" b="0">
                <a:solidFill>
                  <a:srgbClr val="58677E"/>
                </a:solidFill>
                <a:latin typeface="Arial"/>
                <a:ea typeface="Arial"/>
                <a:cs typeface="Arial"/>
              </a:rPr>
              <a:t>The study examined reading. It does not establish an Ionic scroll drop-off rate or a universal two-screen limit.</a:t>
            </a:r>
          </a:p>
        </p:txBody>
      </p:sp>
      <p:sp>
        <p:nvSpPr>
          <p:cNvPr id="7" name="">
            <a:extLst xmlns:a="http://schemas.openxmlformats.org/drawingml/2006/main">
              <a:ext uri="{FF2B5EF4-FFF2-40B4-BE49-F238E27FC236}">
                <a16:creationId xmlns:a16="http://schemas.microsoft.com/office/drawing/2014/main" id="{A92DEE29-8499-41B8-A330-892E3E65A5BA}"/>
              </a:ext>
            </a:extLst>
          </p:cNvPr>
          <p:cNvSpPr>
            <a:spLocks xmlns:a="http://schemas.openxmlformats.org/drawingml/2006/main" noGrp="1"/>
          </p:cNvSpPr>
          <p:nvPr/>
        </p:nvSpPr>
        <p:spPr>
          <a:xfrm xmlns:a="http://schemas.openxmlformats.org/drawingml/2006/main">
            <a:off x="6572250" y="2809875"/>
            <a:ext cx="5000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investment research adds</a:t>
            </a:r>
          </a:p>
        </p:txBody>
      </p:sp>
      <p:sp>
        <p:nvSpPr>
          <p:cNvPr id="8" name="">
            <a:extLst xmlns:a="http://schemas.openxmlformats.org/drawingml/2006/main">
              <a:ext uri="{FF2B5EF4-FFF2-40B4-BE49-F238E27FC236}">
                <a16:creationId xmlns:a16="http://schemas.microsoft.com/office/drawing/2014/main" id="{D4D62256-6D71-4420-AD72-B18C013719F4}"/>
              </a:ext>
            </a:extLst>
          </p:cNvPr>
          <p:cNvSpPr>
            <a:spLocks xmlns:a="http://schemas.openxmlformats.org/drawingml/2006/main" noGrp="1"/>
          </p:cNvSpPr>
          <p:nvPr/>
        </p:nvSpPr>
        <p:spPr>
          <a:xfrm xmlns:a="http://schemas.openxmlformats.org/drawingml/2006/main">
            <a:off x="6572250" y="3238500"/>
            <a:ext cx="500062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Iyengar and Kamenica found that larger choice sets increased preference for simpler options in experiments and US retirement-plan data. That supports making the first choice easier to understand.</a:t>
            </a:r>
          </a:p>
        </p:txBody>
      </p:sp>
      <p:sp>
        <p:nvSpPr>
          <p:cNvPr id="9" name="">
            <a:extLst xmlns:a="http://schemas.openxmlformats.org/drawingml/2006/main">
              <a:ext uri="{FF2B5EF4-FFF2-40B4-BE49-F238E27FC236}">
                <a16:creationId xmlns:a16="http://schemas.microsoft.com/office/drawing/2014/main" id="{EE8E3983-B0FA-4E32-8BA9-0EF6EA2F4497}"/>
              </a:ext>
            </a:extLst>
          </p:cNvPr>
          <p:cNvSpPr>
            <a:spLocks xmlns:a="http://schemas.openxmlformats.org/drawingml/2006/main" noGrp="1"/>
          </p:cNvSpPr>
          <p:nvPr/>
        </p:nvSpPr>
        <p:spPr>
          <a:xfrm xmlns:a="http://schemas.openxmlformats.org/drawingml/2006/main">
            <a:off x="6572250" y="4638675"/>
            <a:ext cx="5000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8677E"/>
                </a:solidFill>
                <a:latin typeface="Arial"/>
                <a:ea typeface="Arial"/>
                <a:cs typeface="Arial"/>
              </a:defRPr>
            </a:defPPr>
            <a:lvl1pPr>
              <a:defRPr sz="1275" b="0">
                <a:solidFill>
                  <a:srgbClr val="58677E"/>
                </a:solidFill>
                <a:latin typeface="Arial"/>
                <a:ea typeface="Arial"/>
                <a:cs typeface="Arial"/>
              </a:defRPr>
            </a:lvl1pPr>
            <a:lvl2pPr>
              <a:defRPr sz="1275" b="0">
                <a:solidFill>
                  <a:srgbClr val="58677E"/>
                </a:solidFill>
                <a:latin typeface="Arial"/>
                <a:ea typeface="Arial"/>
                <a:cs typeface="Arial"/>
              </a:defRPr>
            </a:lvl2pPr>
            <a:lvl3pPr>
              <a:defRPr sz="1275" b="0">
                <a:solidFill>
                  <a:srgbClr val="58677E"/>
                </a:solidFill>
                <a:latin typeface="Arial"/>
                <a:ea typeface="Arial"/>
                <a:cs typeface="Arial"/>
              </a:defRPr>
            </a:lvl3pPr>
            <a:lvl4pPr>
              <a:defRPr sz="1275" b="0">
                <a:solidFill>
                  <a:srgbClr val="58677E"/>
                </a:solidFill>
                <a:latin typeface="Arial"/>
                <a:ea typeface="Arial"/>
                <a:cs typeface="Arial"/>
              </a:defRPr>
            </a:lvl4pPr>
            <a:lvl5pPr>
              <a:defRPr sz="1275" b="0">
                <a:solidFill>
                  <a:srgbClr val="58677E"/>
                </a:solidFill>
                <a:latin typeface="Arial"/>
                <a:ea typeface="Arial"/>
                <a:cs typeface="Arial"/>
              </a:defRPr>
            </a:lvl5pPr>
            <a:lvl6pPr>
              <a:defRPr sz="1275" b="0">
                <a:solidFill>
                  <a:srgbClr val="58677E"/>
                </a:solidFill>
                <a:latin typeface="Arial"/>
                <a:ea typeface="Arial"/>
                <a:cs typeface="Arial"/>
              </a:defRPr>
            </a:lvl6pPr>
            <a:lvl7pPr>
              <a:defRPr sz="1275" b="0">
                <a:solidFill>
                  <a:srgbClr val="58677E"/>
                </a:solidFill>
                <a:latin typeface="Arial"/>
                <a:ea typeface="Arial"/>
                <a:cs typeface="Arial"/>
              </a:defRPr>
            </a:lvl7pPr>
            <a:lvl8pPr>
              <a:defRPr sz="1275" b="0">
                <a:solidFill>
                  <a:srgbClr val="58677E"/>
                </a:solidFill>
                <a:latin typeface="Arial"/>
                <a:ea typeface="Arial"/>
                <a:cs typeface="Arial"/>
              </a:defRPr>
            </a:lvl8pPr>
            <a:lvl9pPr>
              <a:defRPr sz="1275" b="0">
                <a:solidFill>
                  <a:srgbClr val="58677E"/>
                </a:solidFill>
                <a:latin typeface="Arial"/>
                <a:ea typeface="Arial"/>
                <a:cs typeface="Arial"/>
              </a:defRPr>
            </a:lvl9pPr>
          </a:lstStyle>
          <a:p xmlns:a="http://schemas.openxmlformats.org/drawingml/2006/main">
            <a:pPr>
              <a:defRPr sz="1275" b="0">
                <a:solidFill>
                  <a:srgbClr val="58677E"/>
                </a:solidFill>
                <a:latin typeface="Arial"/>
                <a:ea typeface="Arial"/>
                <a:cs typeface="Arial"/>
              </a:defRPr>
            </a:pPr>
            <a:r>
              <a:rPr sz="1275" b="0">
                <a:solidFill>
                  <a:srgbClr val="58677E"/>
                </a:solidFill>
                <a:latin typeface="Arial"/>
                <a:ea typeface="Arial"/>
                <a:cs typeface="Arial"/>
              </a:rPr>
              <a:t>These were retirement choices. We still need to test the effect with Ionic users.</a:t>
            </a:r>
          </a:p>
        </p:txBody>
      </p:sp>
      <p:sp>
        <p:nvSpPr>
          <p:cNvPr id="10" name="">
            <a:extLst xmlns:a="http://schemas.openxmlformats.org/drawingml/2006/main">
              <a:ext uri="{FF2B5EF4-FFF2-40B4-BE49-F238E27FC236}">
                <a16:creationId xmlns:a16="http://schemas.microsoft.com/office/drawing/2014/main" id="{7BC0BB51-1F97-4309-913A-0B77DF230B53}"/>
              </a:ext>
            </a:extLst>
          </p:cNvPr>
          <p:cNvSpPr>
            <a:spLocks xmlns:a="http://schemas.openxmlformats.org/drawingml/2006/main" noGrp="1"/>
          </p:cNvSpPr>
          <p:nvPr/>
        </p:nvSpPr>
        <p:spPr>
          <a:xfrm xmlns:a="http://schemas.openxmlformats.org/drawingml/2006/main">
            <a:off x="590550" y="5476875"/>
            <a:ext cx="10906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would count as success?</a:t>
            </a:r>
          </a:p>
        </p:txBody>
      </p:sp>
      <p:sp>
        <p:nvSpPr>
          <p:cNvPr id="11" name="">
            <a:extLst xmlns:a="http://schemas.openxmlformats.org/drawingml/2006/main">
              <a:ext uri="{FF2B5EF4-FFF2-40B4-BE49-F238E27FC236}">
                <a16:creationId xmlns:a16="http://schemas.microsoft.com/office/drawing/2014/main" id="{0B5B5A2F-8EA9-47B3-B3C7-AFCE0F41BE6E}"/>
              </a:ext>
            </a:extLst>
          </p:cNvPr>
          <p:cNvSpPr>
            <a:spLocks xmlns:a="http://schemas.openxmlformats.org/drawingml/2006/main" noGrp="1"/>
          </p:cNvSpPr>
          <p:nvPr/>
        </p:nvSpPr>
        <p:spPr>
          <a:xfrm xmlns:a="http://schemas.openxmlformats.org/drawingml/2006/main">
            <a:off x="590550" y="5867400"/>
            <a:ext cx="10906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7263E"/>
                </a:solidFill>
                <a:latin typeface="Arial"/>
                <a:ea typeface="Arial"/>
                <a:cs typeface="Arial"/>
              </a:defRPr>
            </a:defPPr>
            <a:lvl1pPr>
              <a:defRPr sz="1500" b="0">
                <a:solidFill>
                  <a:srgbClr val="17263E"/>
                </a:solidFill>
                <a:latin typeface="Arial"/>
                <a:ea typeface="Arial"/>
                <a:cs typeface="Arial"/>
              </a:defRPr>
            </a:lvl1pPr>
            <a:lvl2pPr>
              <a:defRPr sz="1500" b="0">
                <a:solidFill>
                  <a:srgbClr val="17263E"/>
                </a:solidFill>
                <a:latin typeface="Arial"/>
                <a:ea typeface="Arial"/>
                <a:cs typeface="Arial"/>
              </a:defRPr>
            </a:lvl2pPr>
            <a:lvl3pPr>
              <a:defRPr sz="1500" b="0">
                <a:solidFill>
                  <a:srgbClr val="17263E"/>
                </a:solidFill>
                <a:latin typeface="Arial"/>
                <a:ea typeface="Arial"/>
                <a:cs typeface="Arial"/>
              </a:defRPr>
            </a:lvl3pPr>
            <a:lvl4pPr>
              <a:defRPr sz="1500" b="0">
                <a:solidFill>
                  <a:srgbClr val="17263E"/>
                </a:solidFill>
                <a:latin typeface="Arial"/>
                <a:ea typeface="Arial"/>
                <a:cs typeface="Arial"/>
              </a:defRPr>
            </a:lvl4pPr>
            <a:lvl5pPr>
              <a:defRPr sz="1500" b="0">
                <a:solidFill>
                  <a:srgbClr val="17263E"/>
                </a:solidFill>
                <a:latin typeface="Arial"/>
                <a:ea typeface="Arial"/>
                <a:cs typeface="Arial"/>
              </a:defRPr>
            </a:lvl5pPr>
            <a:lvl6pPr>
              <a:defRPr sz="1500" b="0">
                <a:solidFill>
                  <a:srgbClr val="17263E"/>
                </a:solidFill>
                <a:latin typeface="Arial"/>
                <a:ea typeface="Arial"/>
                <a:cs typeface="Arial"/>
              </a:defRPr>
            </a:lvl6pPr>
            <a:lvl7pPr>
              <a:defRPr sz="1500" b="0">
                <a:solidFill>
                  <a:srgbClr val="17263E"/>
                </a:solidFill>
                <a:latin typeface="Arial"/>
                <a:ea typeface="Arial"/>
                <a:cs typeface="Arial"/>
              </a:defRPr>
            </a:lvl7pPr>
            <a:lvl8pPr>
              <a:defRPr sz="1500" b="0">
                <a:solidFill>
                  <a:srgbClr val="17263E"/>
                </a:solidFill>
                <a:latin typeface="Arial"/>
                <a:ea typeface="Arial"/>
                <a:cs typeface="Arial"/>
              </a:defRPr>
            </a:lvl8pPr>
            <a:lvl9pPr>
              <a:defRPr sz="1500" b="0">
                <a:solidFill>
                  <a:srgbClr val="17263E"/>
                </a:solidFill>
                <a:latin typeface="Arial"/>
                <a:ea typeface="Arial"/>
                <a:cs typeface="Arial"/>
              </a:defRPr>
            </a:lvl9pPr>
          </a:lstStyle>
          <a:p xmlns:a="http://schemas.openxmlformats.org/drawingml/2006/main">
            <a:pPr>
              <a:defRPr sz="1500" b="0">
                <a:solidFill>
                  <a:srgbClr val="17263E"/>
                </a:solidFill>
                <a:latin typeface="Arial"/>
                <a:ea typeface="Arial"/>
                <a:cs typeface="Arial"/>
              </a:defRPr>
            </a:pPr>
            <a:r>
              <a:rPr sz="1500" b="0">
                <a:solidFill>
                  <a:srgbClr val="17263E"/>
                </a:solidFill>
                <a:latin typeface="Arial"/>
                <a:ea typeface="Arial"/>
                <a:cs typeface="Arial"/>
              </a:rPr>
              <a:t>Track first funded investments without assistance and check fee and risk understanding. Establish a baseline, split by Android and iOS, and test AI explanations separately from layout and motion.</a:t>
            </a:r>
          </a:p>
        </p:txBody>
      </p:sp>
      <p:sp>
        <p:nvSpPr>
          <p:cNvPr id="12" name="">
            <a:extLst xmlns:a="http://schemas.openxmlformats.org/drawingml/2006/main">
              <a:ext uri="{FF2B5EF4-FFF2-40B4-BE49-F238E27FC236}">
                <a16:creationId xmlns:a16="http://schemas.microsoft.com/office/drawing/2014/main" id="{5CCF0FBD-E75A-4BB5-8B78-DFDFC24A877C}"/>
              </a:ext>
            </a:extLst>
          </p:cNvPr>
          <p:cNvSpPr>
            <a:spLocks xmlns:a="http://schemas.openxmlformats.org/drawingml/2006/main" noGrp="1"/>
          </p:cNvSpPr>
          <p:nvPr/>
        </p:nvSpPr>
        <p:spPr>
          <a:xfrm xmlns:a="http://schemas.openxmlformats.org/drawingml/2006/main">
            <a:off x="59055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831c53a808ee4f92"/>
              </a:rPr>
              <a:t>Android study: Haverkamp et al.</a:t>
            </a:r>
          </a:p>
        </p:txBody>
      </p:sp>
      <p:sp>
        <p:nvSpPr>
          <p:cNvPr id="13" name="">
            <a:extLst xmlns:a="http://schemas.openxmlformats.org/drawingml/2006/main">
              <a:ext uri="{FF2B5EF4-FFF2-40B4-BE49-F238E27FC236}">
                <a16:creationId xmlns:a16="http://schemas.microsoft.com/office/drawing/2014/main" id="{78CD19CD-3071-4240-9E46-18A462DDEFBE}"/>
              </a:ext>
            </a:extLst>
          </p:cNvPr>
          <p:cNvSpPr>
            <a:spLocks xmlns:a="http://schemas.openxmlformats.org/drawingml/2006/main" noGrp="1"/>
          </p:cNvSpPr>
          <p:nvPr/>
        </p:nvSpPr>
        <p:spPr>
          <a:xfrm xmlns:a="http://schemas.openxmlformats.org/drawingml/2006/main">
            <a:off x="430530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ad4347a2614b4fbe"/>
              </a:rPr>
              <a:t>Choice study: Iyengar &amp; Kamenica</a:t>
            </a:r>
          </a:p>
        </p:txBody>
      </p:sp>
      <p:sp>
        <p:nvSpPr>
          <p:cNvPr id="14" name="">
            <a:extLst xmlns:a="http://schemas.openxmlformats.org/drawingml/2006/main">
              <a:ext uri="{FF2B5EF4-FFF2-40B4-BE49-F238E27FC236}">
                <a16:creationId xmlns:a16="http://schemas.microsoft.com/office/drawing/2014/main" id="{01C6D3C8-E9F9-4073-ACF6-9B8CD123EBE3}"/>
              </a:ext>
            </a:extLst>
          </p:cNvPr>
          <p:cNvSpPr>
            <a:spLocks xmlns:a="http://schemas.openxmlformats.org/drawingml/2006/main" noGrp="1"/>
          </p:cNvSpPr>
          <p:nvPr/>
        </p:nvSpPr>
        <p:spPr>
          <a:xfrm xmlns:a="http://schemas.openxmlformats.org/drawingml/2006/main">
            <a:off x="802005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3994cae8499d4ada"/>
              </a:rPr>
              <a:t>Motion controls: W3C guidance</a:t>
            </a:r>
          </a:p>
        </p:txBody>
      </p:sp>
    </p:spTree>
    <p:extLst>
      <p:ext uri="{BB962C8B-B14F-4D97-AF65-F5344CB8AC3E}">
        <p14:creationId xmlns:p14="http://schemas.microsoft.com/office/powerpoint/2010/main" val="6983850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2026-10-18T09:46:29.1540000Z</dcterms:created>
  <dcterms:modified xsi:type="dcterms:W3CDTF">2026-10-18T09:46:29.1540000Z</dcterms:modified>
</coreProperties>
</file>