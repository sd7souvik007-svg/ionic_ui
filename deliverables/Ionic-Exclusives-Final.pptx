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049946ab964df1" /><Relationship Type="http://schemas.openxmlformats.org/officeDocument/2006/relationships/extended-properties" Target="/docProps/app.xml" Id="R72dba6b056c64a38" /><Relationship Type="http://schemas.openxmlformats.org/officeDocument/2006/relationships/officeDocument" Target="/ppt/presentation.xml" Id="Rf4abe8687adc4de0" /></Relationships>
</file>

<file path=ppt/presentation.xml><?xml version="1.0" encoding="utf-8"?>
<p:presentation xmlns:p="http://schemas.openxmlformats.org/presentationml/2006/main">
  <p:sldMasterIdLst>
    <p:sldMasterId xmlns:r="http://schemas.openxmlformats.org/officeDocument/2006/relationships" id="2147483648" r:id="R68ed006880be4073"/>
  </p:sldMasterIdLst>
  <p:notesMasterIdLst>
    <p:notesMasterId xmlns:r="http://schemas.openxmlformats.org/officeDocument/2006/relationships" r:id="R8a0c28599ab74cf0"/>
  </p:notesMasterIdLst>
  <p:sldIdLst>
    <p:sldId xmlns:r="http://schemas.openxmlformats.org/officeDocument/2006/relationships" id="256" r:id="Rbdc2e3d159644332"/>
    <p:sldId xmlns:r="http://schemas.openxmlformats.org/officeDocument/2006/relationships" id="257" r:id="R5710bbe65e604fd3"/>
    <p:sldId xmlns:r="http://schemas.openxmlformats.org/officeDocument/2006/relationships" id="258" r:id="R642bc80659a7425b"/>
    <p:sldId xmlns:r="http://schemas.openxmlformats.org/officeDocument/2006/relationships" id="259" r:id="R604cd2318b5f43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b0a15188ea4788" /><Relationship Type="http://schemas.openxmlformats.org/officeDocument/2006/relationships/slideMaster" Target="/ppt/slideMasters/slideMaster1.xml" Id="R68ed006880be4073" /><Relationship Type="http://schemas.openxmlformats.org/officeDocument/2006/relationships/notesMaster" Target="/ppt/notesMasters/notesMaster1.xml" Id="R8a0c28599ab74cf0" /><Relationship Type="http://schemas.openxmlformats.org/officeDocument/2006/relationships/presProps" Target="/ppt/presProps.xml" Id="Re51dd106811f4405" /><Relationship Type="http://schemas.openxmlformats.org/officeDocument/2006/relationships/tableStyles" Target="/ppt/tableStyles.xml" Id="R941860f176d94b7f" /><Relationship Type="http://schemas.openxmlformats.org/officeDocument/2006/relationships/slide" Target="/ppt/slides/slide1.xml" Id="Rbdc2e3d159644332" /><Relationship Type="http://schemas.openxmlformats.org/officeDocument/2006/relationships/slide" Target="/ppt/slides/slide2.xml" Id="R5710bbe65e604fd3" /><Relationship Type="http://schemas.openxmlformats.org/officeDocument/2006/relationships/slide" Target="/ppt/slides/slide3.xml" Id="R642bc80659a7425b" /><Relationship Type="http://schemas.openxmlformats.org/officeDocument/2006/relationships/slide" Target="/ppt/slides/slide4.xml" Id="R604cd2318b5f43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efc56fd47545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daf30c8c924bbc" /><Relationship Type="http://schemas.openxmlformats.org/officeDocument/2006/relationships/notesMaster" Target="/ppt/notesMasters/notesMaster1.xml" Id="R8a51c87e06c641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6a93658dde43d8" /><Relationship Type="http://schemas.openxmlformats.org/officeDocument/2006/relationships/notesMaster" Target="/ppt/notesMasters/notesMaster1.xml" Id="R377fd69d0ec240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fa0323fee04dec" /><Relationship Type="http://schemas.openxmlformats.org/officeDocument/2006/relationships/notesMaster" Target="/ppt/notesMasters/notesMaster1.xml" Id="R4af8238f8a9a4c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8d51910f6b475d" /><Relationship Type="http://schemas.openxmlformats.org/officeDocument/2006/relationships/notesMaster" Target="/ppt/notesMasters/notesMaster1.xml" Id="R99e234411a624b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lead supplied the observation about portfolio imports and assisted purchases. The app captures show the shelf structure. No production conversion baseline or NPS was provided. The screenshot is the captured Imported Portfolio experience inside the shared Android shell. The hypothesis and research limits are on page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screenshots are from the working proposal. The category tabs and horizontal hero swipe update each other. Private Wealth has a Flagship badge outside and above its tab, with a slow pulse and reduced-motion support. It contains 9 PMS, 3 AIF and 6 SIF offerings. Each product has a working detail link. Stock rows move at 4 CSS pixels per second in opposite directions, with pause, mouse drag and stationary search/filter results. The 392px frame, header and navigation are shared with Portfolio. Product figures are captured fixtures, not live quotes. The stock footer and mutual fund metadata slot now include a blue-flower AI deep dive action. Their heights are unchanged from the previous version. The Private Wealth screenshot now shows the opening welcome. It automatically continues after 3.2 seconds, with immediate Skip and Explore actions. Interaction stops the timer. Keyboard focus is contained during the introduction and restored on exit. Reduced-motion mode is static. The welcome gives a premium visual treatment; it does not grant eligibility or membership. The underlying catalogue still contains all 18 captured offerings.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blue flower uses the existing Ionic assistant mark. Actions are available on all ten stock cards and all three mutual fund rows, and again inside product details. The existing card and row heights are unchanged. The deep dive explains the appeal, risks and management direction for companies, or the mandate and approach for funds. Topic buttons let the user focus on one question. Each explanation has a company filing or official fund source. These are prepared prototype explanations, not live model responses, personalised suitability checks or return forecasts. A live implementation would need approved source retrieval, source timestamps, factual evaluation and explicit handling of missing information. Test whether the explanations improve understanding and first unassisted investments. Do not infer success from AI opens alone. Product facts and costs should remain visible outside AI as well. AI source links are in ai-research-data.js in the shared GitHub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 The AI feature is an additional hypothesis. Source-linked explanations could help users make sense of products, but no conversion uplift is claimed. Evaluate accuracy, source freshness and whether users understand both the appeal and downside. Test the welcome independently and monitor skips, exits and time to reach products. Retain it only if it helps orientation without harming the purchase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c9d790c99f44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c0b3fd804149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083d4acd8f401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d3f3d9a9e74c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586d7e03dc441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19384b0600840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030177-A12D-4217-B958-EFCFB3B567B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29C897-0B09-4977-8570-8962F1B9169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A26963E-607C-44DC-AB9B-54B16C0553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B1DAC6-6D3D-4A72-B53C-EB7BEFD4D3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17B363-DC06-44F3-8942-2998694D6A6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37F6F6F-2FB2-4360-B11E-A1B7D81E1E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63E573-8A8A-45E1-BB87-EDDE0E732B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6A2318-211F-4C02-9B04-482CB63D219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F9D47B-212B-48A0-9639-9B01263A35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807D7D-1CED-474F-B889-9A7A27E3CE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3347e34c3a4703" /><Relationship Type="http://schemas.openxmlformats.org/officeDocument/2006/relationships/slideLayout" Target="/ppt/slideLayouts/slideLayout1.xml" Id="Ra582d71aba144fcb" /><Relationship Type="http://schemas.openxmlformats.org/officeDocument/2006/relationships/slideLayout" Target="/ppt/slideLayouts/slideLayout2.xml" Id="Rabd84782a1f24132" /><Relationship Type="http://schemas.openxmlformats.org/officeDocument/2006/relationships/slideLayout" Target="/ppt/slideLayouts/slideLayout3.xml" Id="Rcf60860ed0b84e0c" /><Relationship Type="http://schemas.openxmlformats.org/officeDocument/2006/relationships/slideLayout" Target="/ppt/slideLayouts/slideLayout4.xml" Id="Ra05080989d9a414c" /><Relationship Type="http://schemas.openxmlformats.org/officeDocument/2006/relationships/slideLayout" Target="/ppt/slideLayouts/slideLayout5.xml" Id="Rc403fbc62ea843b6" /><Relationship Type="http://schemas.openxmlformats.org/officeDocument/2006/relationships/slideLayout" Target="/ppt/slideLayouts/slideLayout6.xml" Id="R67c1c556949245f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82d71aba144fcb"/>
    <p:sldLayoutId xmlns:r="http://schemas.openxmlformats.org/officeDocument/2006/relationships" id="2147483650" r:id="Rabd84782a1f24132"/>
    <p:sldLayoutId xmlns:r="http://schemas.openxmlformats.org/officeDocument/2006/relationships" id="2147483651" r:id="Rcf60860ed0b84e0c"/>
    <p:sldLayoutId xmlns:r="http://schemas.openxmlformats.org/officeDocument/2006/relationships" id="2147483652" r:id="Ra05080989d9a414c"/>
    <p:sldLayoutId xmlns:r="http://schemas.openxmlformats.org/officeDocument/2006/relationships" id="2147483653" r:id="Rc403fbc62ea843b6"/>
    <p:sldLayoutId xmlns:r="http://schemas.openxmlformats.org/officeDocument/2006/relationships" id="2147483654" r:id="R67c1c556949245f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6ed6ae21ed446b" /><Relationship Type="http://schemas.openxmlformats.org/officeDocument/2006/relationships/image" Target="/ppt/media/image.png" Id="R01a9771a362f4b36" /><Relationship Type="http://schemas.openxmlformats.org/officeDocument/2006/relationships/notesSlide" Target="/ppt/notesSlides/notesSlide1.xml" Id="Rcbf665b680ba4b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32e48c9f4944f2a" /><Relationship Type="http://schemas.openxmlformats.org/officeDocument/2006/relationships/image" Target="/ppt/media/image2.png" Id="R6bf1c4f363094407" /><Relationship Type="http://schemas.openxmlformats.org/officeDocument/2006/relationships/image" Target="/ppt/media/image3.png" Id="R3b078bd13e9c4330" /><Relationship Type="http://schemas.openxmlformats.org/officeDocument/2006/relationships/image" Target="/ppt/media/image4.png" Id="R544a1d28fbd64677" /><Relationship Type="http://schemas.openxmlformats.org/officeDocument/2006/relationships/notesSlide" Target="/ppt/notesSlides/notesSlide2.xml" Id="Rab2dde9087074a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fe127afc2a47c7" /><Relationship Type="http://schemas.openxmlformats.org/officeDocument/2006/relationships/image" Target="/ppt/media/image5.png" Id="R2e2ee73f71304653" /><Relationship Type="http://schemas.openxmlformats.org/officeDocument/2006/relationships/image" Target="/ppt/media/image6.png" Id="R3033347cc16d4fca" /><Relationship Type="http://schemas.openxmlformats.org/officeDocument/2006/relationships/notesSlide" Target="/ppt/notesSlides/notesSlide3.xml" Id="R37f740df35bf42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081248b23d40e3" /><Relationship Type="http://schemas.openxmlformats.org/officeDocument/2006/relationships/hyperlink" Target="https://doi.org/10.1007/s11145-022-10328-9" TargetMode="External" Id="Rd1404d81be3042db" /><Relationship Type="http://schemas.openxmlformats.org/officeDocument/2006/relationships/hyperlink" Target="https://business.columbia.edu/sites/default/files-efs/pubfiles/4519/simplicitySeeking.pdf" TargetMode="External" Id="R6a443726235e4512" /><Relationship Type="http://schemas.openxmlformats.org/officeDocument/2006/relationships/hyperlink" Target="https://www.w3.org/WAI/tutorials/carousels/" TargetMode="External" Id="R9abb59e398e94d12" /><Relationship Type="http://schemas.openxmlformats.org/officeDocument/2006/relationships/notesSlide" Target="/ppt/notesSlides/notesSlide4.xml" Id="Rab74986f2ccf4496"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527C18-79A6-49A5-8C11-220CBA60E6D5}"/>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75951965-648A-4E12-97CA-C2A2161AE10C}"/>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portfolio review is useful.</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first purchase needs a clearer path.</a:t>
            </a:r>
          </a:p>
        </p:txBody>
      </p:sp>
      <p:sp>
        <p:nvSpPr>
          <p:cNvPr id="3" name="">
            <a:extLst xmlns:a="http://schemas.openxmlformats.org/drawingml/2006/main">
              <a:ext uri="{FF2B5EF4-FFF2-40B4-BE49-F238E27FC236}">
                <a16:creationId xmlns:a16="http://schemas.microsoft.com/office/drawing/2014/main" id="{DFA85032-C5D5-4344-B88E-35A3EDA2FB05}"/>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seems to be happening</a:t>
            </a:r>
          </a:p>
        </p:txBody>
      </p:sp>
      <p:sp>
        <p:nvSpPr>
          <p:cNvPr id="4" name="">
            <a:extLst xmlns:a="http://schemas.openxmlformats.org/drawingml/2006/main">
              <a:ext uri="{FF2B5EF4-FFF2-40B4-BE49-F238E27FC236}">
                <a16:creationId xmlns:a16="http://schemas.microsoft.com/office/drawing/2014/main" id="{679C3850-8A03-4981-AE9D-F9792AB350FF}"/>
              </a:ext>
            </a:extLst>
          </p:cNvPr>
          <p:cNvSpPr>
            <a:spLocks xmlns:a="http://schemas.openxmlformats.org/drawingml/2006/main" noGrp="1"/>
          </p:cNvSpPr>
          <p:nvPr/>
        </p:nvSpPr>
        <p:spPr>
          <a:xfrm xmlns:a="http://schemas.openxmlformats.org/drawingml/2006/main">
            <a:off x="590550" y="2533650"/>
            <a:ext cx="6000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product lead reports that people import their holdings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9129846A-1486-4A60-A386-206600C40B6B}"/>
              </a:ext>
            </a:extLst>
          </p:cNvPr>
          <p:cNvSpPr>
            <a:spLocks xmlns:a="http://schemas.openxmlformats.org/drawingml/2006/main" noGrp="1"/>
          </p:cNvSpPr>
          <p:nvPr/>
        </p:nvSpPr>
        <p:spPr>
          <a:xfrm xmlns:a="http://schemas.openxmlformats.org/drawingml/2006/main">
            <a:off x="590550" y="3590925"/>
            <a:ext cx="6000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existing Exclusives page asks them to browse long product shelves before finding an option with a smaller entry amount. They then still have to work out what to buy and how to begin.</a:t>
            </a:r>
          </a:p>
        </p:txBody>
      </p:sp>
      <p:sp>
        <p:nvSpPr>
          <p:cNvPr id="6" name="">
            <a:extLst xmlns:a="http://schemas.openxmlformats.org/drawingml/2006/main">
              <a:ext uri="{FF2B5EF4-FFF2-40B4-BE49-F238E27FC236}">
                <a16:creationId xmlns:a16="http://schemas.microsoft.com/office/drawing/2014/main" id="{AE9DA23E-BAE4-4B77-ACB8-B0B7DC083E5C}"/>
              </a:ext>
            </a:extLst>
          </p:cNvPr>
          <p:cNvSpPr>
            <a:spLocks xmlns:a="http://schemas.openxmlformats.org/drawingml/2006/main" noGrp="1"/>
          </p:cNvSpPr>
          <p:nvPr/>
        </p:nvSpPr>
        <p:spPr>
          <a:xfrm xmlns:a="http://schemas.openxmlformats.org/drawingml/2006/main">
            <a:off x="590550" y="5143500"/>
            <a:ext cx="619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Move the first useful choice up</a:t>
            </a:r>
          </a:p>
        </p:txBody>
      </p:sp>
      <p:sp>
        <p:nvSpPr>
          <p:cNvPr id="7" name="">
            <a:extLst xmlns:a="http://schemas.openxmlformats.org/drawingml/2006/main">
              <a:ext uri="{FF2B5EF4-FFF2-40B4-BE49-F238E27FC236}">
                <a16:creationId xmlns:a16="http://schemas.microsoft.com/office/drawing/2014/main" id="{6453A883-9E26-44CE-BA80-9F7A15AE1EAB}"/>
              </a:ext>
            </a:extLst>
          </p:cNvPr>
          <p:cNvSpPr>
            <a:spLocks xmlns:a="http://schemas.openxmlformats.org/drawingml/2006/main" noGrp="1"/>
          </p:cNvSpPr>
          <p:nvPr/>
        </p:nvSpPr>
        <p:spPr>
          <a:xfrm xmlns:a="http://schemas.openxmlformats.org/drawingml/2006/main">
            <a:off x="590550" y="558165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Keep the hero. Put US stocks, funds and Private Wealth just below it, with enough product information to make an initial comparison.</a:t>
            </a:r>
          </a:p>
        </p:txBody>
      </p:sp>
      <p:pic>
        <p:nvPicPr>
          <p:cNvPr id="8" name="">
            <a:extLst xmlns:a="http://schemas.openxmlformats.org/drawingml/2006/main">
              <a:ext uri="{FF2B5EF4-FFF2-40B4-BE49-F238E27FC236}">
                <a16:creationId xmlns:a16="http://schemas.microsoft.com/office/drawing/2014/main" id="{58DE404C-F305-42F7-8A2C-9345601789F1}"/>
              </a:ext>
            </a:extLst>
          </p:cNvPr>
          <p:cNvPicPr>
            <a:picLocks xmlns:a="http://schemas.openxmlformats.org/drawingml/2006/main" noChangeAspect="1"/>
          </p:cNvPicPr>
          <p:nvPr/>
        </p:nvPicPr>
        <p:blipFill>
          <a:blip xmlns:r="http://schemas.openxmlformats.org/officeDocument/2006/relationships" xmlns:a="http://schemas.openxmlformats.org/drawingml/2006/main" r:embed="R01a9771a362f4b36"/>
          <a:stretch xmlns:a="http://schemas.openxmlformats.org/drawingml/2006/main"/>
        </p:blipFill>
        <p:spPr>
          <a:xfrm xmlns:a="http://schemas.openxmlformats.org/drawingml/2006/main">
            <a:off x="8305800" y="1745796"/>
            <a:ext cx="1933575" cy="4537982"/>
          </a:xfrm>
          <a:prstGeom xmlns:a="http://schemas.openxmlformats.org/drawingml/2006/main" prst="rect">
            <a:avLst/>
          </a:prstGeom>
        </p:spPr>
      </p:pic>
    </p:spTree>
    <p:extLst>
      <p:ext uri="{BB962C8B-B14F-4D97-AF65-F5344CB8AC3E}">
        <p14:creationId xmlns:p14="http://schemas.microsoft.com/office/powerpoint/2010/main" val="1833769585"/>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6E09541-FA27-4E26-8561-932CAF3317A0}"/>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CB0AD907-209E-4E93-B676-1776D6738A12}"/>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BCD25FBC-1CD1-46FE-9F7A-D7117FBE0411}"/>
              </a:ext>
            </a:extLst>
          </p:cNvPr>
          <p:cNvPicPr>
            <a:picLocks xmlns:a="http://schemas.openxmlformats.org/drawingml/2006/main" noChangeAspect="1"/>
          </p:cNvPicPr>
          <p:nvPr/>
        </p:nvPicPr>
        <p:blipFill>
          <a:blip xmlns:r="http://schemas.openxmlformats.org/officeDocument/2006/relationships" xmlns:a="http://schemas.openxmlformats.org/drawingml/2006/main" r:embed="R6bf1c4f363094407"/>
          <a:stretch xmlns:a="http://schemas.openxmlformats.org/drawingml/2006/main"/>
        </p:blipFill>
        <p:spPr>
          <a:xfrm xmlns:a="http://schemas.openxmlformats.org/drawingml/2006/main">
            <a:off x="971685" y="1685925"/>
            <a:ext cx="1628504"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18C2D555-082C-45CC-80DA-6DE33364239B}"/>
              </a:ext>
            </a:extLst>
          </p:cNvPr>
          <p:cNvPicPr>
            <a:picLocks xmlns:a="http://schemas.openxmlformats.org/drawingml/2006/main" noChangeAspect="1"/>
          </p:cNvPicPr>
          <p:nvPr/>
        </p:nvPicPr>
        <p:blipFill>
          <a:blip xmlns:r="http://schemas.openxmlformats.org/officeDocument/2006/relationships" xmlns:a="http://schemas.openxmlformats.org/drawingml/2006/main" r:embed="R3b078bd13e9c4330"/>
          <a:stretch xmlns:a="http://schemas.openxmlformats.org/drawingml/2006/main"/>
        </p:blipFill>
        <p:spPr>
          <a:xfrm xmlns:a="http://schemas.openxmlformats.org/drawingml/2006/main">
            <a:off x="5096010" y="1685925"/>
            <a:ext cx="1628504"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C361484C-1193-492B-92A1-E9CBDD5BF63B}"/>
              </a:ext>
            </a:extLst>
          </p:cNvPr>
          <p:cNvPicPr>
            <a:picLocks xmlns:a="http://schemas.openxmlformats.org/drawingml/2006/main" noChangeAspect="1"/>
          </p:cNvPicPr>
          <p:nvPr/>
        </p:nvPicPr>
        <p:blipFill>
          <a:blip xmlns:r="http://schemas.openxmlformats.org/officeDocument/2006/relationships" xmlns:a="http://schemas.openxmlformats.org/drawingml/2006/main" r:embed="R544a1d28fbd64677"/>
          <a:stretch xmlns:a="http://schemas.openxmlformats.org/drawingml/2006/main"/>
        </p:blipFill>
        <p:spPr>
          <a:xfrm xmlns:a="http://schemas.openxmlformats.org/drawingml/2006/main">
            <a:off x="9238652" y="1685925"/>
            <a:ext cx="1591871"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6CC2243-25C5-48B5-A68F-2666423431D7}"/>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1D17FA09-C95A-4BF5-B1FB-E3102D3BA545}"/>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See the share price, compare companies, or open the blue flower for a deeper explanation.</a:t>
            </a:r>
          </a:p>
        </p:txBody>
      </p:sp>
      <p:sp>
        <p:nvSpPr>
          <p:cNvPr id="8" name="">
            <a:extLst xmlns:a="http://schemas.openxmlformats.org/drawingml/2006/main">
              <a:ext uri="{FF2B5EF4-FFF2-40B4-BE49-F238E27FC236}">
                <a16:creationId xmlns:a16="http://schemas.microsoft.com/office/drawing/2014/main" id="{DBEBE876-C89B-43B9-9B78-A3A93ADC5C77}"/>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0A206C36-33A9-4DD3-88C5-CEA5C68F7DD4}"/>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Browse funds and baskets. Open the blue flower for the fund’s appeal, risks and approach.</a:t>
            </a:r>
          </a:p>
        </p:txBody>
      </p:sp>
      <p:sp>
        <p:nvSpPr>
          <p:cNvPr id="10" name="">
            <a:extLst xmlns:a="http://schemas.openxmlformats.org/drawingml/2006/main">
              <a:ext uri="{FF2B5EF4-FFF2-40B4-BE49-F238E27FC236}">
                <a16:creationId xmlns:a16="http://schemas.microsoft.com/office/drawing/2014/main" id="{3894D845-C84F-4845-B424-23D6BC7A18EF}"/>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C17FF858-B010-4603-9DD8-3A16275EB48A}"/>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Private Wealth opens with a short, skippable welcome. The catalogue then shows all 18 PMS, AIF and SIF offerings.</a:t>
            </a:r>
          </a:p>
        </p:txBody>
      </p:sp>
    </p:spTree>
    <p:extLst>
      <p:ext uri="{BB962C8B-B14F-4D97-AF65-F5344CB8AC3E}">
        <p14:creationId xmlns:p14="http://schemas.microsoft.com/office/powerpoint/2010/main" val="50753927"/>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851105B-3F02-435F-993D-43DBE0A56E69}"/>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AI support, at the point of doubt</a:t>
            </a:r>
          </a:p>
        </p:txBody>
      </p:sp>
      <p:sp>
        <p:nvSpPr>
          <p:cNvPr id="2" name="">
            <a:extLst xmlns:a="http://schemas.openxmlformats.org/drawingml/2006/main">
              <a:ext uri="{FF2B5EF4-FFF2-40B4-BE49-F238E27FC236}">
                <a16:creationId xmlns:a16="http://schemas.microsoft.com/office/drawing/2014/main" id="{9F4E866B-AC22-413D-9DCB-64061CBD8912}"/>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Help users understand the investment.</a:t>
            </a:r>
          </a:p>
        </p:txBody>
      </p:sp>
      <p:sp>
        <p:nvSpPr>
          <p:cNvPr id="3" name="">
            <a:extLst xmlns:a="http://schemas.openxmlformats.org/drawingml/2006/main">
              <a:ext uri="{FF2B5EF4-FFF2-40B4-BE49-F238E27FC236}">
                <a16:creationId xmlns:a16="http://schemas.microsoft.com/office/drawing/2014/main" id="{26D0206C-44FD-4BE3-AAE3-4D17685B68D2}"/>
              </a:ext>
            </a:extLst>
          </p:cNvPr>
          <p:cNvSpPr>
            <a:spLocks xmlns:a="http://schemas.openxmlformats.org/drawingml/2006/main" noGrp="1"/>
          </p:cNvSpPr>
          <p:nvPr/>
        </p:nvSpPr>
        <p:spPr>
          <a:xfrm xmlns:a="http://schemas.openxmlformats.org/drawingml/2006/main">
            <a:off x="590550" y="20002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Explain the upside and downside</a:t>
            </a:r>
          </a:p>
        </p:txBody>
      </p:sp>
      <p:sp>
        <p:nvSpPr>
          <p:cNvPr id="4" name="">
            <a:extLst xmlns:a="http://schemas.openxmlformats.org/drawingml/2006/main">
              <a:ext uri="{FF2B5EF4-FFF2-40B4-BE49-F238E27FC236}">
                <a16:creationId xmlns:a16="http://schemas.microsoft.com/office/drawing/2014/main" id="{5E49EABE-27CB-478A-A853-71C8DB7A2C7A}"/>
              </a:ext>
            </a:extLst>
          </p:cNvPr>
          <p:cNvSpPr>
            <a:spLocks xmlns:a="http://schemas.openxmlformats.org/drawingml/2006/main" noGrp="1"/>
          </p:cNvSpPr>
          <p:nvPr/>
        </p:nvSpPr>
        <p:spPr>
          <a:xfrm xmlns:a="http://schemas.openxmlformats.org/drawingml/2006/main">
            <a:off x="590550" y="24098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the business, what makes it interesting and what could go wrong. Let users switch between Overview, Strengths, Risks and Vision.</a:t>
            </a:r>
          </a:p>
        </p:txBody>
      </p:sp>
      <p:sp>
        <p:nvSpPr>
          <p:cNvPr id="5" name="">
            <a:extLst xmlns:a="http://schemas.openxmlformats.org/drawingml/2006/main">
              <a:ext uri="{FF2B5EF4-FFF2-40B4-BE49-F238E27FC236}">
                <a16:creationId xmlns:a16="http://schemas.microsoft.com/office/drawing/2014/main" id="{0417C228-FEE6-4668-ACB8-AB7EB97B70AA}"/>
              </a:ext>
            </a:extLst>
          </p:cNvPr>
          <p:cNvSpPr>
            <a:spLocks xmlns:a="http://schemas.openxmlformats.org/drawingml/2006/main" noGrp="1"/>
          </p:cNvSpPr>
          <p:nvPr/>
        </p:nvSpPr>
        <p:spPr>
          <a:xfrm xmlns:a="http://schemas.openxmlformats.org/drawingml/2006/main">
            <a:off x="590550" y="35623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Make the company’s direction clear</a:t>
            </a:r>
          </a:p>
        </p:txBody>
      </p:sp>
      <p:sp>
        <p:nvSpPr>
          <p:cNvPr id="6" name="">
            <a:extLst xmlns:a="http://schemas.openxmlformats.org/drawingml/2006/main">
              <a:ext uri="{FF2B5EF4-FFF2-40B4-BE49-F238E27FC236}">
                <a16:creationId xmlns:a16="http://schemas.microsoft.com/office/drawing/2014/main" id="{EDB2968A-F67C-4DF3-91DB-F3D2A13454DB}"/>
              </a:ext>
            </a:extLst>
          </p:cNvPr>
          <p:cNvSpPr>
            <a:spLocks xmlns:a="http://schemas.openxmlformats.org/drawingml/2006/main" noGrp="1"/>
          </p:cNvSpPr>
          <p:nvPr/>
        </p:nvSpPr>
        <p:spPr>
          <a:xfrm xmlns:a="http://schemas.openxmlformats.org/drawingml/2006/main">
            <a:off x="590550" y="39719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Summarise the company’s stated direction and link to its filing. Separate those plans from any claim about the future share price.</a:t>
            </a:r>
          </a:p>
        </p:txBody>
      </p:sp>
      <p:sp>
        <p:nvSpPr>
          <p:cNvPr id="7" name="">
            <a:extLst xmlns:a="http://schemas.openxmlformats.org/drawingml/2006/main">
              <a:ext uri="{FF2B5EF4-FFF2-40B4-BE49-F238E27FC236}">
                <a16:creationId xmlns:a16="http://schemas.microsoft.com/office/drawing/2014/main" id="{0FB50FA1-E8B4-4916-88E5-7336127C1D94}"/>
              </a:ext>
            </a:extLst>
          </p:cNvPr>
          <p:cNvSpPr>
            <a:spLocks xmlns:a="http://schemas.openxmlformats.org/drawingml/2006/main" noGrp="1"/>
          </p:cNvSpPr>
          <p:nvPr/>
        </p:nvSpPr>
        <p:spPr>
          <a:xfrm xmlns:a="http://schemas.openxmlformats.org/drawingml/2006/main">
            <a:off x="590550" y="5124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Help the user decide what to check next</a:t>
            </a:r>
          </a:p>
        </p:txBody>
      </p:sp>
      <p:sp>
        <p:nvSpPr>
          <p:cNvPr id="8" name="">
            <a:extLst xmlns:a="http://schemas.openxmlformats.org/drawingml/2006/main">
              <a:ext uri="{FF2B5EF4-FFF2-40B4-BE49-F238E27FC236}">
                <a16:creationId xmlns:a16="http://schemas.microsoft.com/office/drawing/2014/main" id="{780BDDD2-7346-4765-BFAC-7F7384528329}"/>
              </a:ext>
            </a:extLst>
          </p:cNvPr>
          <p:cNvSpPr>
            <a:spLocks xmlns:a="http://schemas.openxmlformats.org/drawingml/2006/main" noGrp="1"/>
          </p:cNvSpPr>
          <p:nvPr/>
        </p:nvSpPr>
        <p:spPr>
          <a:xfrm xmlns:a="http://schemas.openxmlformats.org/drawingml/2006/main">
            <a:off x="590550" y="55340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Fund deep dives explain the mandate, exposure and costs. For US stocks, call out funding and FX needs. Link back to the product details before the next step.</a:t>
            </a:r>
          </a:p>
        </p:txBody>
      </p:sp>
      <p:pic>
        <p:nvPicPr>
          <p:cNvPr id="9" name="">
            <a:extLst xmlns:a="http://schemas.openxmlformats.org/drawingml/2006/main">
              <a:ext uri="{FF2B5EF4-FFF2-40B4-BE49-F238E27FC236}">
                <a16:creationId xmlns:a16="http://schemas.microsoft.com/office/drawing/2014/main" id="{175FDECE-1DEB-4F8B-83B5-1518E6733C6C}"/>
              </a:ext>
            </a:extLst>
          </p:cNvPr>
          <p:cNvPicPr>
            <a:picLocks xmlns:a="http://schemas.openxmlformats.org/drawingml/2006/main" noChangeAspect="1"/>
          </p:cNvPicPr>
          <p:nvPr/>
        </p:nvPicPr>
        <p:blipFill>
          <a:blip xmlns:r="http://schemas.openxmlformats.org/officeDocument/2006/relationships" xmlns:a="http://schemas.openxmlformats.org/drawingml/2006/main" r:embed="R2e2ee73f71304653"/>
          <a:stretch xmlns:a="http://schemas.openxmlformats.org/drawingml/2006/main"/>
        </p:blipFill>
        <p:spPr>
          <a:xfrm xmlns:a="http://schemas.openxmlformats.org/drawingml/2006/main">
            <a:off x="7163195" y="1876425"/>
            <a:ext cx="1808960" cy="39147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1F7F3C5-11AD-4741-94FE-5CF87F436C8E}"/>
              </a:ext>
            </a:extLst>
          </p:cNvPr>
          <p:cNvPicPr>
            <a:picLocks xmlns:a="http://schemas.openxmlformats.org/drawingml/2006/main" noChangeAspect="1"/>
          </p:cNvPicPr>
          <p:nvPr/>
        </p:nvPicPr>
        <p:blipFill>
          <a:blip xmlns:r="http://schemas.openxmlformats.org/officeDocument/2006/relationships" xmlns:a="http://schemas.openxmlformats.org/drawingml/2006/main" r:embed="R3033347cc16d4fca"/>
          <a:stretch xmlns:a="http://schemas.openxmlformats.org/drawingml/2006/main"/>
        </p:blipFill>
        <p:spPr>
          <a:xfrm xmlns:a="http://schemas.openxmlformats.org/drawingml/2006/main">
            <a:off x="9525395" y="1876425"/>
            <a:ext cx="1808960" cy="3914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F343894-5BBC-4E16-8ED0-E3CA4FF5A25A}"/>
              </a:ext>
            </a:extLst>
          </p:cNvPr>
          <p:cNvSpPr>
            <a:spLocks xmlns:a="http://schemas.openxmlformats.org/drawingml/2006/main" noGrp="1"/>
          </p:cNvSpPr>
          <p:nvPr/>
        </p:nvSpPr>
        <p:spPr>
          <a:xfrm xmlns:a="http://schemas.openxmlformats.org/drawingml/2006/main">
            <a:off x="71628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Stock deep dive</a:t>
            </a:r>
          </a:p>
        </p:txBody>
      </p:sp>
      <p:sp>
        <p:nvSpPr>
          <p:cNvPr id="12" name="">
            <a:extLst xmlns:a="http://schemas.openxmlformats.org/drawingml/2006/main">
              <a:ext uri="{FF2B5EF4-FFF2-40B4-BE49-F238E27FC236}">
                <a16:creationId xmlns:a16="http://schemas.microsoft.com/office/drawing/2014/main" id="{B8A0FD78-9153-4821-8001-B239EABB5171}"/>
              </a:ext>
            </a:extLst>
          </p:cNvPr>
          <p:cNvSpPr>
            <a:spLocks xmlns:a="http://schemas.openxmlformats.org/drawingml/2006/main" noGrp="1"/>
          </p:cNvSpPr>
          <p:nvPr/>
        </p:nvSpPr>
        <p:spPr>
          <a:xfrm xmlns:a="http://schemas.openxmlformats.org/drawingml/2006/main">
            <a:off x="95250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Mutual fund deep dive</a:t>
            </a:r>
          </a:p>
        </p:txBody>
      </p:sp>
      <p:sp>
        <p:nvSpPr>
          <p:cNvPr id="13" name="">
            <a:extLst xmlns:a="http://schemas.openxmlformats.org/drawingml/2006/main">
              <a:ext uri="{FF2B5EF4-FFF2-40B4-BE49-F238E27FC236}">
                <a16:creationId xmlns:a16="http://schemas.microsoft.com/office/drawing/2014/main" id="{D85C4245-FDB3-4ABA-A5AE-A9D7854B967F}"/>
              </a:ext>
            </a:extLst>
          </p:cNvPr>
          <p:cNvSpPr>
            <a:spLocks xmlns:a="http://schemas.openxmlformats.org/drawingml/2006/main" noGrp="1"/>
          </p:cNvSpPr>
          <p:nvPr/>
        </p:nvSpPr>
        <p:spPr>
          <a:xfrm xmlns:a="http://schemas.openxmlformats.org/drawingml/2006/main">
            <a:off x="590550" y="6600825"/>
            <a:ext cx="1095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25" b="0">
                <a:solidFill>
                  <a:srgbClr val="58677E"/>
                </a:solidFill>
                <a:latin typeface="Arial"/>
                <a:ea typeface="Arial"/>
                <a:cs typeface="Arial"/>
              </a:defRPr>
            </a:defPPr>
            <a:lvl1pPr>
              <a:defRPr sz="825" b="0">
                <a:solidFill>
                  <a:srgbClr val="58677E"/>
                </a:solidFill>
                <a:latin typeface="Arial"/>
                <a:ea typeface="Arial"/>
                <a:cs typeface="Arial"/>
              </a:defRPr>
            </a:lvl1pPr>
            <a:lvl2pPr>
              <a:defRPr sz="825" b="0">
                <a:solidFill>
                  <a:srgbClr val="58677E"/>
                </a:solidFill>
                <a:latin typeface="Arial"/>
                <a:ea typeface="Arial"/>
                <a:cs typeface="Arial"/>
              </a:defRPr>
            </a:lvl2pPr>
            <a:lvl3pPr>
              <a:defRPr sz="825" b="0">
                <a:solidFill>
                  <a:srgbClr val="58677E"/>
                </a:solidFill>
                <a:latin typeface="Arial"/>
                <a:ea typeface="Arial"/>
                <a:cs typeface="Arial"/>
              </a:defRPr>
            </a:lvl3pPr>
            <a:lvl4pPr>
              <a:defRPr sz="825" b="0">
                <a:solidFill>
                  <a:srgbClr val="58677E"/>
                </a:solidFill>
                <a:latin typeface="Arial"/>
                <a:ea typeface="Arial"/>
                <a:cs typeface="Arial"/>
              </a:defRPr>
            </a:lvl4pPr>
            <a:lvl5pPr>
              <a:defRPr sz="825" b="0">
                <a:solidFill>
                  <a:srgbClr val="58677E"/>
                </a:solidFill>
                <a:latin typeface="Arial"/>
                <a:ea typeface="Arial"/>
                <a:cs typeface="Arial"/>
              </a:defRPr>
            </a:lvl5pPr>
            <a:lvl6pPr>
              <a:defRPr sz="825" b="0">
                <a:solidFill>
                  <a:srgbClr val="58677E"/>
                </a:solidFill>
                <a:latin typeface="Arial"/>
                <a:ea typeface="Arial"/>
                <a:cs typeface="Arial"/>
              </a:defRPr>
            </a:lvl6pPr>
            <a:lvl7pPr>
              <a:defRPr sz="825" b="0">
                <a:solidFill>
                  <a:srgbClr val="58677E"/>
                </a:solidFill>
                <a:latin typeface="Arial"/>
                <a:ea typeface="Arial"/>
                <a:cs typeface="Arial"/>
              </a:defRPr>
            </a:lvl7pPr>
            <a:lvl8pPr>
              <a:defRPr sz="825" b="0">
                <a:solidFill>
                  <a:srgbClr val="58677E"/>
                </a:solidFill>
                <a:latin typeface="Arial"/>
                <a:ea typeface="Arial"/>
                <a:cs typeface="Arial"/>
              </a:defRPr>
            </a:lvl8pPr>
            <a:lvl9pPr>
              <a:defRPr sz="825" b="0">
                <a:solidFill>
                  <a:srgbClr val="58677E"/>
                </a:solidFill>
                <a:latin typeface="Arial"/>
                <a:ea typeface="Arial"/>
                <a:cs typeface="Arial"/>
              </a:defRPr>
            </a:lvl9pPr>
          </a:lstStyle>
          <a:p xmlns:a="http://schemas.openxmlformats.org/drawingml/2006/main">
            <a:pPr>
              <a:defRPr sz="825" b="0">
                <a:solidFill>
                  <a:srgbClr val="58677E"/>
                </a:solidFill>
                <a:latin typeface="Arial"/>
                <a:ea typeface="Arial"/>
                <a:cs typeface="Arial"/>
              </a:defRPr>
            </a:pPr>
            <a:r>
              <a:rPr sz="825" b="0">
                <a:solidFill>
                  <a:srgbClr val="58677E"/>
                </a:solidFill>
                <a:latin typeface="Arial"/>
                <a:ea typeface="Arial"/>
                <a:cs typeface="Arial"/>
              </a:rPr>
              <a:t>Prototype: prepared explanations with linked sources. Live AI generation and portfolio analysis are not connected.</a:t>
            </a:r>
          </a:p>
        </p:txBody>
      </p:sp>
    </p:spTree>
    <p:extLst>
      <p:ext uri="{BB962C8B-B14F-4D97-AF65-F5344CB8AC3E}">
        <p14:creationId xmlns:p14="http://schemas.microsoft.com/office/powerpoint/2010/main" val="504698080"/>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C0D66E1-2894-4163-A2CF-07D7481DE4A1}"/>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Appendix / The hypothesis and its limits</a:t>
            </a:r>
          </a:p>
        </p:txBody>
      </p:sp>
      <p:sp>
        <p:nvSpPr>
          <p:cNvPr id="2" name="">
            <a:extLst xmlns:a="http://schemas.openxmlformats.org/drawingml/2006/main">
              <a:ext uri="{FF2B5EF4-FFF2-40B4-BE49-F238E27FC236}">
                <a16:creationId xmlns:a16="http://schemas.microsoft.com/office/drawing/2014/main" id="{903560ED-3898-4CD6-B97A-0AB0B165ACE9}"/>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Why this is worth testing</a:t>
            </a:r>
          </a:p>
        </p:txBody>
      </p:sp>
      <p:sp>
        <p:nvSpPr>
          <p:cNvPr id="3" name="">
            <a:extLst xmlns:a="http://schemas.openxmlformats.org/drawingml/2006/main">
              <a:ext uri="{FF2B5EF4-FFF2-40B4-BE49-F238E27FC236}">
                <a16:creationId xmlns:a16="http://schemas.microsoft.com/office/drawing/2014/main" id="{954B3CC2-6E2A-4117-A03F-3E121467B388}"/>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EB1AE06C-95BD-4DDE-A836-027426BC65E7}"/>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8971008B-31B6-404E-B52E-57A351C126E7}"/>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20E1E8FB-E915-4D73-B146-15AC10F1BD40}"/>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09398D95-6266-44AB-8F62-477CF2573020}"/>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E778822A-400B-481D-BD0F-7DE0A0FD98EF}"/>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3D24B493-D1E9-43DB-BFB6-C79E7D23DEBB}"/>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BD770A91-9C86-4091-98D1-852EAC147F63}"/>
              </a:ext>
            </a:extLst>
          </p:cNvPr>
          <p:cNvSpPr>
            <a:spLocks xmlns:a="http://schemas.openxmlformats.org/drawingml/2006/main" noGrp="1"/>
          </p:cNvSpPr>
          <p:nvPr/>
        </p:nvSpPr>
        <p:spPr>
          <a:xfrm xmlns:a="http://schemas.openxmlformats.org/drawingml/2006/main">
            <a:off x="590550" y="54768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C93C81E8-0E2A-4BFB-8089-C899F5B84420}"/>
              </a:ext>
            </a:extLst>
          </p:cNvPr>
          <p:cNvSpPr>
            <a:spLocks xmlns:a="http://schemas.openxmlformats.org/drawingml/2006/main" noGrp="1"/>
          </p:cNvSpPr>
          <p:nvPr/>
        </p:nvSpPr>
        <p:spPr>
          <a:xfrm xmlns:a="http://schemas.openxmlformats.org/drawingml/2006/main">
            <a:off x="590550" y="5867400"/>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7263E"/>
                </a:solidFill>
                <a:latin typeface="Arial"/>
                <a:ea typeface="Arial"/>
                <a:cs typeface="Arial"/>
              </a:defRPr>
            </a:defPPr>
            <a:lvl1pPr>
              <a:defRPr sz="1500" b="0">
                <a:solidFill>
                  <a:srgbClr val="17263E"/>
                </a:solidFill>
                <a:latin typeface="Arial"/>
                <a:ea typeface="Arial"/>
                <a:cs typeface="Arial"/>
              </a:defRPr>
            </a:lvl1pPr>
            <a:lvl2pPr>
              <a:defRPr sz="1500" b="0">
                <a:solidFill>
                  <a:srgbClr val="17263E"/>
                </a:solidFill>
                <a:latin typeface="Arial"/>
                <a:ea typeface="Arial"/>
                <a:cs typeface="Arial"/>
              </a:defRPr>
            </a:lvl2pPr>
            <a:lvl3pPr>
              <a:defRPr sz="1500" b="0">
                <a:solidFill>
                  <a:srgbClr val="17263E"/>
                </a:solidFill>
                <a:latin typeface="Arial"/>
                <a:ea typeface="Arial"/>
                <a:cs typeface="Arial"/>
              </a:defRPr>
            </a:lvl3pPr>
            <a:lvl4pPr>
              <a:defRPr sz="1500" b="0">
                <a:solidFill>
                  <a:srgbClr val="17263E"/>
                </a:solidFill>
                <a:latin typeface="Arial"/>
                <a:ea typeface="Arial"/>
                <a:cs typeface="Arial"/>
              </a:defRPr>
            </a:lvl4pPr>
            <a:lvl5pPr>
              <a:defRPr sz="1500" b="0">
                <a:solidFill>
                  <a:srgbClr val="17263E"/>
                </a:solidFill>
                <a:latin typeface="Arial"/>
                <a:ea typeface="Arial"/>
                <a:cs typeface="Arial"/>
              </a:defRPr>
            </a:lvl5pPr>
            <a:lvl6pPr>
              <a:defRPr sz="1500" b="0">
                <a:solidFill>
                  <a:srgbClr val="17263E"/>
                </a:solidFill>
                <a:latin typeface="Arial"/>
                <a:ea typeface="Arial"/>
                <a:cs typeface="Arial"/>
              </a:defRPr>
            </a:lvl6pPr>
            <a:lvl7pPr>
              <a:defRPr sz="1500" b="0">
                <a:solidFill>
                  <a:srgbClr val="17263E"/>
                </a:solidFill>
                <a:latin typeface="Arial"/>
                <a:ea typeface="Arial"/>
                <a:cs typeface="Arial"/>
              </a:defRPr>
            </a:lvl7pPr>
            <a:lvl8pPr>
              <a:defRPr sz="1500" b="0">
                <a:solidFill>
                  <a:srgbClr val="17263E"/>
                </a:solidFill>
                <a:latin typeface="Arial"/>
                <a:ea typeface="Arial"/>
                <a:cs typeface="Arial"/>
              </a:defRPr>
            </a:lvl8pPr>
            <a:lvl9pPr>
              <a:defRPr sz="1500" b="0">
                <a:solidFill>
                  <a:srgbClr val="17263E"/>
                </a:solidFill>
                <a:latin typeface="Arial"/>
                <a:ea typeface="Arial"/>
                <a:cs typeface="Arial"/>
              </a:defRPr>
            </a:lvl9pPr>
          </a:lstStyle>
          <a:p xmlns:a="http://schemas.openxmlformats.org/drawingml/2006/main">
            <a:pPr>
              <a:defRPr sz="1500" b="0">
                <a:solidFill>
                  <a:srgbClr val="17263E"/>
                </a:solidFill>
                <a:latin typeface="Arial"/>
                <a:ea typeface="Arial"/>
                <a:cs typeface="Arial"/>
              </a:defRPr>
            </a:pPr>
            <a:r>
              <a:rPr sz="1500" b="0">
                <a:solidFill>
                  <a:srgbClr val="17263E"/>
                </a:solidFill>
                <a:latin typeface="Arial"/>
                <a:ea typeface="Arial"/>
                <a:cs typeface="Arial"/>
              </a:rPr>
              <a:t>Track first funded investments without assistance and check fee and risk understanding. Establish a baseline, split by Android and iOS, and test AI explanations separately from layout and motion.</a:t>
            </a:r>
          </a:p>
        </p:txBody>
      </p:sp>
      <p:sp>
        <p:nvSpPr>
          <p:cNvPr id="12" name="">
            <a:extLst xmlns:a="http://schemas.openxmlformats.org/drawingml/2006/main">
              <a:ext uri="{FF2B5EF4-FFF2-40B4-BE49-F238E27FC236}">
                <a16:creationId xmlns:a16="http://schemas.microsoft.com/office/drawing/2014/main" id="{C12F5217-13E9-4FDF-8C77-353288EA0BD5}"/>
              </a:ext>
            </a:extLst>
          </p:cNvPr>
          <p:cNvSpPr>
            <a:spLocks xmlns:a="http://schemas.openxmlformats.org/drawingml/2006/main" noGrp="1"/>
          </p:cNvSpPr>
          <p:nvPr/>
        </p:nvSpPr>
        <p:spPr>
          <a:xfrm xmlns:a="http://schemas.openxmlformats.org/drawingml/2006/main">
            <a:off x="5905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d1404d81be3042db"/>
              </a:rPr>
              <a:t>Android study: Haverkamp et al.</a:t>
            </a:r>
          </a:p>
        </p:txBody>
      </p:sp>
      <p:sp>
        <p:nvSpPr>
          <p:cNvPr id="13" name="">
            <a:extLst xmlns:a="http://schemas.openxmlformats.org/drawingml/2006/main">
              <a:ext uri="{FF2B5EF4-FFF2-40B4-BE49-F238E27FC236}">
                <a16:creationId xmlns:a16="http://schemas.microsoft.com/office/drawing/2014/main" id="{8A27ADA4-D8C7-4AE9-B4FC-9AB56B9FA123}"/>
              </a:ext>
            </a:extLst>
          </p:cNvPr>
          <p:cNvSpPr>
            <a:spLocks xmlns:a="http://schemas.openxmlformats.org/drawingml/2006/main" noGrp="1"/>
          </p:cNvSpPr>
          <p:nvPr/>
        </p:nvSpPr>
        <p:spPr>
          <a:xfrm xmlns:a="http://schemas.openxmlformats.org/drawingml/2006/main">
            <a:off x="430530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6a443726235e4512"/>
              </a:rPr>
              <a:t>Choice study: Iyengar &amp; Kamenica</a:t>
            </a:r>
          </a:p>
        </p:txBody>
      </p:sp>
      <p:sp>
        <p:nvSpPr>
          <p:cNvPr id="14" name="">
            <a:extLst xmlns:a="http://schemas.openxmlformats.org/drawingml/2006/main">
              <a:ext uri="{FF2B5EF4-FFF2-40B4-BE49-F238E27FC236}">
                <a16:creationId xmlns:a16="http://schemas.microsoft.com/office/drawing/2014/main" id="{49DB28A7-BA35-4EEE-A861-4A2D7B55F88F}"/>
              </a:ext>
            </a:extLst>
          </p:cNvPr>
          <p:cNvSpPr>
            <a:spLocks xmlns:a="http://schemas.openxmlformats.org/drawingml/2006/main" noGrp="1"/>
          </p:cNvSpPr>
          <p:nvPr/>
        </p:nvSpPr>
        <p:spPr>
          <a:xfrm xmlns:a="http://schemas.openxmlformats.org/drawingml/2006/main">
            <a:off x="80200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9abb59e398e94d12"/>
              </a:rPr>
              <a:t>Motion controls: W3C guidance</a:t>
            </a:r>
          </a:p>
        </p:txBody>
      </p:sp>
    </p:spTree>
    <p:extLst>
      <p:ext uri="{BB962C8B-B14F-4D97-AF65-F5344CB8AC3E}">
        <p14:creationId xmlns:p14="http://schemas.microsoft.com/office/powerpoint/2010/main" val="18749027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2026-10-18T09:52:27.7830000Z</dcterms:created>
  <dcterms:modified xsi:type="dcterms:W3CDTF">2026-10-18T09:52:27.7830000Z</dcterms:modified>
</coreProperties>
</file>